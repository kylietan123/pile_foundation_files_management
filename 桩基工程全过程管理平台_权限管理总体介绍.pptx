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364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开场：这份材料介绍平台的总体权限管理。核心不是罗列角色，而是说明权限如何从工程责任矩阵推导出来，并在项目、阶段和具体动作三个层面落地。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先给结论：权限管理系统要同时解决四个问题——看得见、管得住、追得清、可扩展。平台的答案是用工程责任矩阵作为唯一权限源。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模型分四层：账号是身份，任职关系说明用户属于哪个单位，项目成员把单位身份带入某个项目，责任矩阵再决定这个单位在该阶段能做什么。最终判定是项目范围、阶段范围和责任动作的交集。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这张矩阵是整套权限的核心。每个阶段只有明确列出的单位能够进入；每个单位的责任等级决定它是主办、相关、参与还是专项审查。权限随责任矩阵自动变化，不需要为七个阶段重复维护七套角色。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责任等级只有四种，但每种等级对应一组确定的动作。主办单位能编辑、提交、发布；相关单位能复核签认；参与单位只读；审查单位在专项场景中提意见。这样权限配置不需要逐项勾选。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对一次请求来说，要依次通过身份、项目、阶段、动作和数据过滤五个关口。尤其要强调：前端隐藏按钮只是体验优化，不能作为安全措施；后端必须在每个接口重新校验，列表查询也必须先过滤权限再取数。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施工阶段为例：总包是主办单位，可以编辑、提交、发布；分包和监理是相关单位，可以查看、下载、复核签认和提意见；建设单位是参与单位，只能查看和下载。大家在同一个项目、同一个阶段看到同一份底稿，但操作权限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权限不仅控制增删改查，也控制流程。平台采用两级签认：主办单位先确认，相关单位再复核，最后由主办单位发布。政府审查单位按专项任务提意见，不替代主办单位的签发责任。发布后的版本不可覆盖，只能新建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管理系统不是只有一个超级管理员。平台管理员负责账号与平台配置；建设单位管理员负责项目审核和参与单位配置；阶段负责人只能管理本单位、自己负责的阶段；普通成员在业务范围内操作。权限按作用域逐层收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绝大多数项目应直接走矩阵，不需要额外配置。只有在项目责任划分确实与标准矩阵不同的时候，才在项目成员上做阶段范围或责任等级覆盖。覆盖只作用于当前项目，不污染全局，也可以失效或撤销。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安全控制分四层：身份、访问、版本和审计。尤其要说明两点：第一，权限校验在后端重复执行；第二，文件内容用 SHA-256 寻址，修改必须产生新版本；第三，关键业务动作会记录操作人、单位、阶段和对象，形成证据链。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收尾回到一句话：权限管理最终要保证每一份工程文件都能找到责任单位、责任阶段和责任人。平台用一个矩阵作为唯一权限源，用一条链路完成判定，用一套留痕完成追溯。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5B6AB"/>
          </a:solidFill>
          <a:ln w="12700">
            <a:solidFill>
              <a:srgbClr val="25B6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55448" y="0"/>
            <a:ext cx="54864" cy="6858000"/>
          </a:xfrm>
          <a:prstGeom prst="rect">
            <a:avLst/>
          </a:prstGeom>
          <a:solidFill>
            <a:srgbClr val="0E8F8B"/>
          </a:solidFill>
          <a:ln w="12700">
            <a:solidFill>
              <a:srgbClr val="0E8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18120" y="1051560"/>
            <a:ext cx="384048" cy="384048"/>
          </a:xfrm>
          <a:prstGeom prst="rect">
            <a:avLst/>
          </a:prstGeom>
          <a:solidFill>
            <a:srgbClr val="123D4B">
              <a:alpha val="6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75320" y="1051560"/>
            <a:ext cx="384048" cy="384048"/>
          </a:xfrm>
          <a:prstGeom prst="rect">
            <a:avLst/>
          </a:prstGeom>
          <a:solidFill>
            <a:srgbClr val="123D4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32520" y="1051560"/>
            <a:ext cx="384048" cy="384048"/>
          </a:xfrm>
          <a:prstGeom prst="rect">
            <a:avLst/>
          </a:prstGeom>
          <a:solidFill>
            <a:srgbClr val="0E8F8B">
              <a:alpha val="6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89720" y="1051560"/>
            <a:ext cx="384048" cy="384048"/>
          </a:xfrm>
          <a:prstGeom prst="rect">
            <a:avLst/>
          </a:prstGeom>
          <a:solidFill>
            <a:srgbClr val="3E7FC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46920" y="1051560"/>
            <a:ext cx="384048" cy="384048"/>
          </a:xfrm>
          <a:prstGeom prst="rect">
            <a:avLst/>
          </a:prstGeom>
          <a:solidFill>
            <a:srgbClr val="25B6A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104120" y="1051560"/>
            <a:ext cx="384048" cy="384048"/>
          </a:xfrm>
          <a:prstGeom prst="rect">
            <a:avLst/>
          </a:prstGeom>
          <a:solidFill>
            <a:srgbClr val="123D4B">
              <a:alpha val="6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561320" y="1051560"/>
            <a:ext cx="384048" cy="384048"/>
          </a:xfrm>
          <a:prstGeom prst="rect">
            <a:avLst/>
          </a:prstGeom>
          <a:solidFill>
            <a:srgbClr val="123D4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18520" y="1051560"/>
            <a:ext cx="384048" cy="384048"/>
          </a:xfrm>
          <a:prstGeom prst="rect">
            <a:avLst/>
          </a:prstGeom>
          <a:solidFill>
            <a:srgbClr val="123D4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475720" y="1051560"/>
            <a:ext cx="384048" cy="384048"/>
          </a:xfrm>
          <a:prstGeom prst="rect">
            <a:avLst/>
          </a:prstGeom>
          <a:solidFill>
            <a:srgbClr val="123D4B">
              <a:alpha val="6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818120" y="1508760"/>
            <a:ext cx="384048" cy="384048"/>
          </a:xfrm>
          <a:prstGeom prst="rect">
            <a:avLst/>
          </a:prstGeom>
          <a:solidFill>
            <a:srgbClr val="123D4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75320" y="1508760"/>
            <a:ext cx="384048" cy="384048"/>
          </a:xfrm>
          <a:prstGeom prst="rect">
            <a:avLst/>
          </a:prstGeom>
          <a:solidFill>
            <a:srgbClr val="123D4B">
              <a:alpha val="6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732520" y="1508760"/>
            <a:ext cx="384048" cy="384048"/>
          </a:xfrm>
          <a:prstGeom prst="rect">
            <a:avLst/>
          </a:prstGeom>
          <a:solidFill>
            <a:srgbClr val="123D4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89720" y="1508760"/>
            <a:ext cx="384048" cy="384048"/>
          </a:xfrm>
          <a:prstGeom prst="rect">
            <a:avLst/>
          </a:prstGeom>
          <a:solidFill>
            <a:srgbClr val="0E8F8B">
              <a:alpha val="6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646920" y="1508760"/>
            <a:ext cx="384048" cy="384048"/>
          </a:xfrm>
          <a:prstGeom prst="rect">
            <a:avLst/>
          </a:prstGeom>
          <a:solidFill>
            <a:srgbClr val="3E7FC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104120" y="1508760"/>
            <a:ext cx="384048" cy="384048"/>
          </a:xfrm>
          <a:prstGeom prst="rect">
            <a:avLst/>
          </a:prstGeom>
          <a:solidFill>
            <a:srgbClr val="25B6A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561320" y="1508760"/>
            <a:ext cx="384048" cy="384048"/>
          </a:xfrm>
          <a:prstGeom prst="rect">
            <a:avLst/>
          </a:prstGeom>
          <a:solidFill>
            <a:srgbClr val="123D4B">
              <a:alpha val="6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018520" y="1508760"/>
            <a:ext cx="384048" cy="384048"/>
          </a:xfrm>
          <a:prstGeom prst="rect">
            <a:avLst/>
          </a:prstGeom>
          <a:solidFill>
            <a:srgbClr val="123D4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475720" y="1508760"/>
            <a:ext cx="384048" cy="384048"/>
          </a:xfrm>
          <a:prstGeom prst="rect">
            <a:avLst/>
          </a:prstGeom>
          <a:solidFill>
            <a:srgbClr val="123D4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818120" y="1965960"/>
            <a:ext cx="384048" cy="384048"/>
          </a:xfrm>
          <a:prstGeom prst="rect">
            <a:avLst/>
          </a:prstGeom>
          <a:solidFill>
            <a:srgbClr val="123D4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275320" y="1965960"/>
            <a:ext cx="384048" cy="384048"/>
          </a:xfrm>
          <a:prstGeom prst="rect">
            <a:avLst/>
          </a:prstGeom>
          <a:solidFill>
            <a:srgbClr val="123D4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732520" y="1965960"/>
            <a:ext cx="384048" cy="384048"/>
          </a:xfrm>
          <a:prstGeom prst="rect">
            <a:avLst/>
          </a:prstGeom>
          <a:solidFill>
            <a:srgbClr val="123D4B">
              <a:alpha val="6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189720" y="1965960"/>
            <a:ext cx="384048" cy="384048"/>
          </a:xfrm>
          <a:prstGeom prst="rect">
            <a:avLst/>
          </a:prstGeom>
          <a:solidFill>
            <a:srgbClr val="123D4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646920" y="1965960"/>
            <a:ext cx="384048" cy="384048"/>
          </a:xfrm>
          <a:prstGeom prst="rect">
            <a:avLst/>
          </a:prstGeom>
          <a:solidFill>
            <a:srgbClr val="0E8F8B">
              <a:alpha val="6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104120" y="1965960"/>
            <a:ext cx="384048" cy="384048"/>
          </a:xfrm>
          <a:prstGeom prst="rect">
            <a:avLst/>
          </a:prstGeom>
          <a:solidFill>
            <a:srgbClr val="3E7FC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561320" y="1965960"/>
            <a:ext cx="384048" cy="384048"/>
          </a:xfrm>
          <a:prstGeom prst="rect">
            <a:avLst/>
          </a:prstGeom>
          <a:solidFill>
            <a:srgbClr val="25B6A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1018520" y="1965960"/>
            <a:ext cx="384048" cy="384048"/>
          </a:xfrm>
          <a:prstGeom prst="rect">
            <a:avLst/>
          </a:prstGeom>
          <a:solidFill>
            <a:srgbClr val="123D4B">
              <a:alpha val="6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1475720" y="1965960"/>
            <a:ext cx="384048" cy="384048"/>
          </a:xfrm>
          <a:prstGeom prst="rect">
            <a:avLst/>
          </a:prstGeom>
          <a:solidFill>
            <a:srgbClr val="123D4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818120" y="2423160"/>
            <a:ext cx="384048" cy="384048"/>
          </a:xfrm>
          <a:prstGeom prst="rect">
            <a:avLst/>
          </a:prstGeom>
          <a:solidFill>
            <a:srgbClr val="123D4B">
              <a:alpha val="6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275320" y="2423160"/>
            <a:ext cx="384048" cy="384048"/>
          </a:xfrm>
          <a:prstGeom prst="rect">
            <a:avLst/>
          </a:prstGeom>
          <a:solidFill>
            <a:srgbClr val="123D4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732520" y="2423160"/>
            <a:ext cx="384048" cy="384048"/>
          </a:xfrm>
          <a:prstGeom prst="rect">
            <a:avLst/>
          </a:prstGeom>
          <a:solidFill>
            <a:srgbClr val="123D4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189720" y="2423160"/>
            <a:ext cx="384048" cy="384048"/>
          </a:xfrm>
          <a:prstGeom prst="rect">
            <a:avLst/>
          </a:prstGeom>
          <a:solidFill>
            <a:srgbClr val="123D4B">
              <a:alpha val="6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646920" y="2423160"/>
            <a:ext cx="384048" cy="384048"/>
          </a:xfrm>
          <a:prstGeom prst="rect">
            <a:avLst/>
          </a:prstGeom>
          <a:solidFill>
            <a:srgbClr val="123D4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104120" y="2423160"/>
            <a:ext cx="384048" cy="384048"/>
          </a:xfrm>
          <a:prstGeom prst="rect">
            <a:avLst/>
          </a:prstGeom>
          <a:solidFill>
            <a:srgbClr val="0E8F8B">
              <a:alpha val="6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0561320" y="2423160"/>
            <a:ext cx="384048" cy="384048"/>
          </a:xfrm>
          <a:prstGeom prst="rect">
            <a:avLst/>
          </a:prstGeom>
          <a:solidFill>
            <a:srgbClr val="3E7FC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1018520" y="2423160"/>
            <a:ext cx="384048" cy="384048"/>
          </a:xfrm>
          <a:prstGeom prst="rect">
            <a:avLst/>
          </a:prstGeom>
          <a:solidFill>
            <a:srgbClr val="25B6A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1475720" y="2423160"/>
            <a:ext cx="384048" cy="384048"/>
          </a:xfrm>
          <a:prstGeom prst="rect">
            <a:avLst/>
          </a:prstGeom>
          <a:solidFill>
            <a:srgbClr val="123D4B">
              <a:alpha val="6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818120" y="2880360"/>
            <a:ext cx="384048" cy="384048"/>
          </a:xfrm>
          <a:prstGeom prst="rect">
            <a:avLst/>
          </a:prstGeom>
          <a:solidFill>
            <a:srgbClr val="25B6A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275320" y="2880360"/>
            <a:ext cx="384048" cy="384048"/>
          </a:xfrm>
          <a:prstGeom prst="rect">
            <a:avLst/>
          </a:prstGeom>
          <a:solidFill>
            <a:srgbClr val="123D4B">
              <a:alpha val="6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732520" y="2880360"/>
            <a:ext cx="384048" cy="384048"/>
          </a:xfrm>
          <a:prstGeom prst="rect">
            <a:avLst/>
          </a:prstGeom>
          <a:solidFill>
            <a:srgbClr val="123D4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189720" y="2880360"/>
            <a:ext cx="384048" cy="384048"/>
          </a:xfrm>
          <a:prstGeom prst="rect">
            <a:avLst/>
          </a:prstGeom>
          <a:solidFill>
            <a:srgbClr val="123D4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646920" y="2880360"/>
            <a:ext cx="384048" cy="384048"/>
          </a:xfrm>
          <a:prstGeom prst="rect">
            <a:avLst/>
          </a:prstGeom>
          <a:solidFill>
            <a:srgbClr val="123D4B">
              <a:alpha val="6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0104120" y="2880360"/>
            <a:ext cx="384048" cy="384048"/>
          </a:xfrm>
          <a:prstGeom prst="rect">
            <a:avLst/>
          </a:prstGeom>
          <a:solidFill>
            <a:srgbClr val="123D4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0561320" y="2880360"/>
            <a:ext cx="384048" cy="384048"/>
          </a:xfrm>
          <a:prstGeom prst="rect">
            <a:avLst/>
          </a:prstGeom>
          <a:solidFill>
            <a:srgbClr val="0E8F8B">
              <a:alpha val="6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1018520" y="2880360"/>
            <a:ext cx="384048" cy="384048"/>
          </a:xfrm>
          <a:prstGeom prst="rect">
            <a:avLst/>
          </a:prstGeom>
          <a:solidFill>
            <a:srgbClr val="3E7FC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1475720" y="2880360"/>
            <a:ext cx="384048" cy="384048"/>
          </a:xfrm>
          <a:prstGeom prst="rect">
            <a:avLst/>
          </a:prstGeom>
          <a:solidFill>
            <a:srgbClr val="25B6A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818120" y="3337560"/>
            <a:ext cx="384048" cy="384048"/>
          </a:xfrm>
          <a:prstGeom prst="rect">
            <a:avLst/>
          </a:prstGeom>
          <a:solidFill>
            <a:srgbClr val="3E7FC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275320" y="3337560"/>
            <a:ext cx="384048" cy="384048"/>
          </a:xfrm>
          <a:prstGeom prst="rect">
            <a:avLst/>
          </a:prstGeom>
          <a:solidFill>
            <a:srgbClr val="25B6A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732520" y="3337560"/>
            <a:ext cx="384048" cy="384048"/>
          </a:xfrm>
          <a:prstGeom prst="rect">
            <a:avLst/>
          </a:prstGeom>
          <a:solidFill>
            <a:srgbClr val="123D4B">
              <a:alpha val="6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9189720" y="3337560"/>
            <a:ext cx="384048" cy="384048"/>
          </a:xfrm>
          <a:prstGeom prst="rect">
            <a:avLst/>
          </a:prstGeom>
          <a:solidFill>
            <a:srgbClr val="123D4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9646920" y="3337560"/>
            <a:ext cx="384048" cy="384048"/>
          </a:xfrm>
          <a:prstGeom prst="rect">
            <a:avLst/>
          </a:prstGeom>
          <a:solidFill>
            <a:srgbClr val="123D4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0104120" y="3337560"/>
            <a:ext cx="384048" cy="384048"/>
          </a:xfrm>
          <a:prstGeom prst="rect">
            <a:avLst/>
          </a:prstGeom>
          <a:solidFill>
            <a:srgbClr val="123D4B">
              <a:alpha val="6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0561320" y="3337560"/>
            <a:ext cx="384048" cy="384048"/>
          </a:xfrm>
          <a:prstGeom prst="rect">
            <a:avLst/>
          </a:prstGeom>
          <a:solidFill>
            <a:srgbClr val="123D4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1018520" y="3337560"/>
            <a:ext cx="384048" cy="384048"/>
          </a:xfrm>
          <a:prstGeom prst="rect">
            <a:avLst/>
          </a:prstGeom>
          <a:solidFill>
            <a:srgbClr val="0E8F8B">
              <a:alpha val="6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1475720" y="3337560"/>
            <a:ext cx="384048" cy="384048"/>
          </a:xfrm>
          <a:prstGeom prst="rect">
            <a:avLst/>
          </a:prstGeom>
          <a:solidFill>
            <a:srgbClr val="3E7FC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818120" y="3794760"/>
            <a:ext cx="384048" cy="384048"/>
          </a:xfrm>
          <a:prstGeom prst="rect">
            <a:avLst/>
          </a:prstGeom>
          <a:solidFill>
            <a:srgbClr val="0E8F8B">
              <a:alpha val="6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275320" y="3794760"/>
            <a:ext cx="384048" cy="384048"/>
          </a:xfrm>
          <a:prstGeom prst="rect">
            <a:avLst/>
          </a:prstGeom>
          <a:solidFill>
            <a:srgbClr val="3E7FC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732520" y="3794760"/>
            <a:ext cx="384048" cy="384048"/>
          </a:xfrm>
          <a:prstGeom prst="rect">
            <a:avLst/>
          </a:prstGeom>
          <a:solidFill>
            <a:srgbClr val="25B6A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9189720" y="3794760"/>
            <a:ext cx="384048" cy="384048"/>
          </a:xfrm>
          <a:prstGeom prst="rect">
            <a:avLst/>
          </a:prstGeom>
          <a:solidFill>
            <a:srgbClr val="123D4B">
              <a:alpha val="6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9646920" y="3794760"/>
            <a:ext cx="384048" cy="384048"/>
          </a:xfrm>
          <a:prstGeom prst="rect">
            <a:avLst/>
          </a:prstGeom>
          <a:solidFill>
            <a:srgbClr val="123D4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0104120" y="3794760"/>
            <a:ext cx="384048" cy="384048"/>
          </a:xfrm>
          <a:prstGeom prst="rect">
            <a:avLst/>
          </a:prstGeom>
          <a:solidFill>
            <a:srgbClr val="123D4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0561320" y="3794760"/>
            <a:ext cx="384048" cy="384048"/>
          </a:xfrm>
          <a:prstGeom prst="rect">
            <a:avLst/>
          </a:prstGeom>
          <a:solidFill>
            <a:srgbClr val="123D4B">
              <a:alpha val="6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1018520" y="3794760"/>
            <a:ext cx="384048" cy="384048"/>
          </a:xfrm>
          <a:prstGeom prst="rect">
            <a:avLst/>
          </a:prstGeom>
          <a:solidFill>
            <a:srgbClr val="123D4B"/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1475720" y="3794760"/>
            <a:ext cx="384048" cy="384048"/>
          </a:xfrm>
          <a:prstGeom prst="rect">
            <a:avLst/>
          </a:prstGeom>
          <a:solidFill>
            <a:srgbClr val="0E8F8B">
              <a:alpha val="6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8321040" y="4160520"/>
            <a:ext cx="3063240" cy="822960"/>
          </a:xfrm>
          <a:prstGeom prst="roundRect">
            <a:avLst/>
          </a:prstGeom>
          <a:solidFill>
            <a:srgbClr val="123D4B"/>
          </a:solidFill>
          <a:ln w="12700">
            <a:solidFill>
              <a:srgbClr val="32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558784" y="43159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8F1E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7 阶段  ×  10 类单位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558784" y="45902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C9E1E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责任驱动权限 · 项目内闭环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804672" y="960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kern="0" spc="120" dirty="0">
                <a:solidFill>
                  <a:srgbClr val="B9D8D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桩基工程全过程管理平台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777240" y="148132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权限管理</a:t>
            </a:r>
            <a:endParaRPr lang="en-US" sz="4600" dirty="0"/>
          </a:p>
        </p:txBody>
      </p:sp>
      <p:sp>
        <p:nvSpPr>
          <p:cNvPr id="72" name="Text 70"/>
          <p:cNvSpPr/>
          <p:nvPr/>
        </p:nvSpPr>
        <p:spPr>
          <a:xfrm>
            <a:off x="777240" y="221284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25B6A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总体方案</a:t>
            </a:r>
            <a:endParaRPr lang="en-US" sz="4600" dirty="0"/>
          </a:p>
        </p:txBody>
      </p:sp>
      <p:sp>
        <p:nvSpPr>
          <p:cNvPr id="73" name="Shape 71"/>
          <p:cNvSpPr/>
          <p:nvPr/>
        </p:nvSpPr>
        <p:spPr>
          <a:xfrm>
            <a:off x="813816" y="3246120"/>
            <a:ext cx="1005840" cy="50292"/>
          </a:xfrm>
          <a:prstGeom prst="rect">
            <a:avLst/>
          </a:prstGeom>
          <a:solidFill>
            <a:srgbClr val="25B6AB"/>
          </a:solidFill>
          <a:ln w="12700">
            <a:solidFill>
              <a:srgbClr val="25B6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04672" y="35661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DE9E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以“参与单位 × 阶段 × 责任等级”为核心的工程协同权限体系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822960" y="4133088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AFC8C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权限不是一张静态菜单，而是《管理流程》责任矩阵在系统中的实时映射。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822960" y="5084064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2400" dirty="0"/>
          </a:p>
        </p:txBody>
      </p:sp>
      <p:sp>
        <p:nvSpPr>
          <p:cNvPr id="77" name="Text 75"/>
          <p:cNvSpPr/>
          <p:nvPr/>
        </p:nvSpPr>
        <p:spPr>
          <a:xfrm>
            <a:off x="1426464" y="5148072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AFC8C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项目阶段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313432" y="5084064"/>
            <a:ext cx="0" cy="420624"/>
          </a:xfrm>
          <a:prstGeom prst="line">
            <a:avLst/>
          </a:prstGeom>
          <a:noFill/>
          <a:ln w="12700">
            <a:solidFill>
              <a:srgbClr val="4B65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2523744" y="5084064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2400" dirty="0"/>
          </a:p>
        </p:txBody>
      </p:sp>
      <p:sp>
        <p:nvSpPr>
          <p:cNvPr id="80" name="Text 78"/>
          <p:cNvSpPr/>
          <p:nvPr/>
        </p:nvSpPr>
        <p:spPr>
          <a:xfrm>
            <a:off x="3127248" y="5148072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AFC8C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参建单位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014216" y="5084064"/>
            <a:ext cx="0" cy="420624"/>
          </a:xfrm>
          <a:prstGeom prst="line">
            <a:avLst/>
          </a:prstGeom>
          <a:noFill/>
          <a:ln w="12700">
            <a:solidFill>
              <a:srgbClr val="4B65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4224528" y="5084064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400" dirty="0"/>
          </a:p>
        </p:txBody>
      </p:sp>
      <p:sp>
        <p:nvSpPr>
          <p:cNvPr id="83" name="Text 81"/>
          <p:cNvSpPr/>
          <p:nvPr/>
        </p:nvSpPr>
        <p:spPr>
          <a:xfrm>
            <a:off x="4828032" y="5148072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AFC8C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责任等级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5715000" y="5084064"/>
            <a:ext cx="0" cy="420624"/>
          </a:xfrm>
          <a:prstGeom prst="line">
            <a:avLst/>
          </a:prstGeom>
          <a:noFill/>
          <a:ln w="12700">
            <a:solidFill>
              <a:srgbClr val="4B65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5925312" y="5084064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2400" dirty="0"/>
          </a:p>
        </p:txBody>
      </p:sp>
      <p:sp>
        <p:nvSpPr>
          <p:cNvPr id="86" name="Text 84"/>
          <p:cNvSpPr/>
          <p:nvPr/>
        </p:nvSpPr>
        <p:spPr>
          <a:xfrm>
            <a:off x="6528816" y="5148072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AFC8C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权限动作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822960" y="6062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spc="80" dirty="0">
                <a:solidFill>
                  <a:srgbClr val="8EABB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2026.10  ·  系统方案汇报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2E3A"/>
          </a:solidFill>
          <a:ln w="12700">
            <a:solidFill>
              <a:srgbClr val="0D2E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" y="566928"/>
            <a:ext cx="54864" cy="548640"/>
          </a:xfrm>
          <a:prstGeom prst="rect">
            <a:avLst/>
          </a:prstGeom>
          <a:solidFill>
            <a:srgbClr val="0E8F8B"/>
          </a:solidFill>
          <a:ln w="12700">
            <a:solidFill>
              <a:srgbClr val="0E8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40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EXECUTIVE SUMMARY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94944" y="694944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一页看懂权限管理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04088" y="11247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用一套责任规则，统一“谁能看、谁能做、谁负责、如何追溯”。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082528" y="4389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71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04088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桩基工程全过程管理平台  /  权限管理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16768" y="6473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71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94944" y="1572768"/>
            <a:ext cx="10808208" cy="786384"/>
          </a:xfrm>
          <a:prstGeom prst="roundRect">
            <a:avLst/>
          </a:prstGeom>
          <a:solidFill>
            <a:srgbClr val="0D2E3A"/>
          </a:solidFill>
          <a:ln w="12700">
            <a:solidFill>
              <a:srgbClr val="0D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2688" y="17647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B6A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核心命题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47088" y="1700784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权限必须跟着工程责任走，而不是跟着组织架构或前端菜单走。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58952" y="2788920"/>
            <a:ext cx="493776" cy="493776"/>
          </a:xfrm>
          <a:prstGeom prst="ellipse">
            <a:avLst/>
          </a:prstGeom>
          <a:solidFill>
            <a:srgbClr val="0E8F8B"/>
          </a:solidFill>
          <a:ln w="12700">
            <a:solidFill>
              <a:srgbClr val="0E8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8952" y="27889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44752" y="2743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看得见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88336" y="271576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项目成员、阶段范围与敏感等级共同决定数据可见性。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58952" y="3593592"/>
            <a:ext cx="493776" cy="493776"/>
          </a:xfrm>
          <a:prstGeom prst="ellipse">
            <a:avLst/>
          </a:prstGeom>
          <a:solidFill>
            <a:srgbClr val="3E7FCB"/>
          </a:solidFill>
          <a:ln w="12700">
            <a:solidFill>
              <a:srgbClr val="3E7F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58952" y="35935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44752" y="354787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管得住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88336" y="352044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主办、相关、参与、审查四级责任，直接映射到允许动作。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58952" y="4398264"/>
            <a:ext cx="493776" cy="49377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8952" y="43982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44752" y="435254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追得清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88336" y="432511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操作人、单位、阶段、对象和结果形成可审计的证据链。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58952" y="5202936"/>
            <a:ext cx="493776" cy="493776"/>
          </a:xfrm>
          <a:prstGeom prst="ellipse">
            <a:avLst/>
          </a:prstGeom>
          <a:solidFill>
            <a:srgbClr val="C75B5B"/>
          </a:solidFill>
          <a:ln w="12700">
            <a:solidFill>
              <a:srgbClr val="C7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8952" y="52029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44752" y="515721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可扩展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88336" y="512978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责任划分只改矩阵一处，权限随阶段自动更新。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635240" y="2633472"/>
            <a:ext cx="16916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635240" y="2633472"/>
            <a:ext cx="73152" cy="1353312"/>
          </a:xfrm>
          <a:prstGeom prst="rect">
            <a:avLst/>
          </a:prstGeom>
          <a:solidFill>
            <a:srgbClr val="0E8F8B"/>
          </a:solidFill>
          <a:ln w="12700">
            <a:solidFill>
              <a:srgbClr val="0E8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836408" y="278892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E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348472" y="28072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阶段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818120" y="32918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2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前期调研到运维监测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9509760" y="2633472"/>
            <a:ext cx="16916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509760" y="2633472"/>
            <a:ext cx="73152" cy="1353312"/>
          </a:xfrm>
          <a:prstGeom prst="rect">
            <a:avLst/>
          </a:prstGeom>
          <a:solidFill>
            <a:srgbClr val="3E7FCB"/>
          </a:solidFill>
          <a:ln w="12700">
            <a:solidFill>
              <a:srgbClr val="3E7FC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710928" y="278892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E7F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0222992" y="28072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类参建单位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692640" y="32918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2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建设、勘察、设计、施工、监理…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7635240" y="4215384"/>
            <a:ext cx="16916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635240" y="4215384"/>
            <a:ext cx="73152" cy="1353312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836408" y="437083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D99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8348472" y="43891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级责任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818120" y="487375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2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主办 / 相关 / 参与 / 审查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9509760" y="4215384"/>
            <a:ext cx="16916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509760" y="4215384"/>
            <a:ext cx="73152" cy="1353312"/>
          </a:xfrm>
          <a:prstGeom prst="rect">
            <a:avLst/>
          </a:prstGeom>
          <a:solidFill>
            <a:srgbClr val="C75B5B"/>
          </a:solidFill>
          <a:ln w="12700">
            <a:solidFill>
              <a:srgbClr val="C75B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710928" y="437083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75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10222992" y="43891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项动作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9692640" y="487375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2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查看、下载、编辑、提交、发布、签认、提意见、导出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722376" y="59710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结论：权限模型既是业务控制手段，也是工程责任的可视化表达。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2E3A"/>
          </a:solidFill>
          <a:ln w="12700">
            <a:solidFill>
              <a:srgbClr val="0D2E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" y="566928"/>
            <a:ext cx="54864" cy="548640"/>
          </a:xfrm>
          <a:prstGeom prst="rect">
            <a:avLst/>
          </a:prstGeom>
          <a:solidFill>
            <a:srgbClr val="0E8F8B"/>
          </a:solidFill>
          <a:ln w="12700">
            <a:solidFill>
              <a:srgbClr val="0E8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40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PERMISSION MODEL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94944" y="694944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总体权限模型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04088" y="11247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主体是参与单位；载体是项目成员；规则来自阶段责任矩阵。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082528" y="4389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71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04088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桩基工程全过程管理平台  /  权限管理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16768" y="6473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71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1700784"/>
            <a:ext cx="2487168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" y="1700784"/>
            <a:ext cx="2487168" cy="82296"/>
          </a:xfrm>
          <a:prstGeom prst="rect">
            <a:avLst/>
          </a:prstGeom>
          <a:solidFill>
            <a:srgbClr val="3E7FCB"/>
          </a:solidFill>
          <a:ln w="12700">
            <a:solidFill>
              <a:srgbClr val="3E7FC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9536" y="1947672"/>
            <a:ext cx="475488" cy="475488"/>
          </a:xfrm>
          <a:prstGeom prst="ellipse">
            <a:avLst/>
          </a:prstGeom>
          <a:solidFill>
            <a:srgbClr val="3E7FCB"/>
          </a:solidFill>
          <a:ln w="12700">
            <a:solidFill>
              <a:srgbClr val="3E7F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9536" y="1947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481328" y="195681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账号身份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81328" y="22402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3E7F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AppUser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05256" y="2761488"/>
            <a:ext cx="64008" cy="64008"/>
          </a:xfrm>
          <a:prstGeom prst="ellipse">
            <a:avLst/>
          </a:prstGeom>
          <a:solidFill>
            <a:srgbClr val="3E7FCB"/>
          </a:solidFill>
          <a:ln w="12700">
            <a:solidFill>
              <a:srgbClr val="3E7F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78992" y="2615184"/>
            <a:ext cx="1847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平台内唯一账号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5256" y="3264408"/>
            <a:ext cx="64008" cy="64008"/>
          </a:xfrm>
          <a:prstGeom prst="ellipse">
            <a:avLst/>
          </a:prstGeom>
          <a:solidFill>
            <a:srgbClr val="3E7FCB"/>
          </a:solidFill>
          <a:ln w="12700">
            <a:solidFill>
              <a:srgbClr val="3E7F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78992" y="3118104"/>
            <a:ext cx="1847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账号状态可启用 / 禁用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5256" y="3767328"/>
            <a:ext cx="64008" cy="64008"/>
          </a:xfrm>
          <a:prstGeom prst="ellipse">
            <a:avLst/>
          </a:prstGeom>
          <a:solidFill>
            <a:srgbClr val="3E7FCB"/>
          </a:solidFill>
          <a:ln w="12700">
            <a:solidFill>
              <a:srgbClr val="3E7F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78992" y="3621024"/>
            <a:ext cx="1847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认证与业务信息分离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 rot="5400000">
            <a:off x="3209544" y="2944368"/>
            <a:ext cx="192024" cy="246888"/>
          </a:xfrm>
          <a:prstGeom prst="triangle">
            <a:avLst/>
          </a:prstGeom>
          <a:solidFill>
            <a:srgbClr val="B8C9CD"/>
          </a:solidFill>
          <a:ln w="12700">
            <a:solidFill>
              <a:srgbClr val="B8C9C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529584" y="1700784"/>
            <a:ext cx="2487168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529584" y="1700784"/>
            <a:ext cx="2487168" cy="82296"/>
          </a:xfrm>
          <a:prstGeom prst="rect">
            <a:avLst/>
          </a:prstGeom>
          <a:solidFill>
            <a:srgbClr val="0E8F8B"/>
          </a:solidFill>
          <a:ln w="12700">
            <a:solidFill>
              <a:srgbClr val="0E8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730752" y="1947672"/>
            <a:ext cx="475488" cy="475488"/>
          </a:xfrm>
          <a:prstGeom prst="ellipse">
            <a:avLst/>
          </a:prstGeom>
          <a:solidFill>
            <a:srgbClr val="0E8F8B"/>
          </a:solidFill>
          <a:ln w="12700">
            <a:solidFill>
              <a:srgbClr val="0E8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730752" y="1947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352544" y="195681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单位任职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352544" y="22402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E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UserOrg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776472" y="2761488"/>
            <a:ext cx="64008" cy="64008"/>
          </a:xfrm>
          <a:prstGeom prst="ellipse">
            <a:avLst/>
          </a:prstGeom>
          <a:solidFill>
            <a:srgbClr val="0E8F8B"/>
          </a:solidFill>
          <a:ln w="12700">
            <a:solidFill>
              <a:srgbClr val="0E8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950208" y="2615184"/>
            <a:ext cx="1847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一个人可任职多个单位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76472" y="3264408"/>
            <a:ext cx="64008" cy="64008"/>
          </a:xfrm>
          <a:prstGeom prst="ellipse">
            <a:avLst/>
          </a:prstGeom>
          <a:solidFill>
            <a:srgbClr val="0E8F8B"/>
          </a:solidFill>
          <a:ln w="12700">
            <a:solidFill>
              <a:srgbClr val="0E8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950208" y="3118104"/>
            <a:ext cx="1847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标记主单位与本单位管理员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76472" y="3767328"/>
            <a:ext cx="64008" cy="64008"/>
          </a:xfrm>
          <a:prstGeom prst="ellipse">
            <a:avLst/>
          </a:prstGeom>
          <a:solidFill>
            <a:srgbClr val="0E8F8B"/>
          </a:solidFill>
          <a:ln w="12700">
            <a:solidFill>
              <a:srgbClr val="0E8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950208" y="3621024"/>
            <a:ext cx="1847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单位是责任与审计主体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 rot="5400000">
            <a:off x="6080760" y="2944368"/>
            <a:ext cx="192024" cy="246888"/>
          </a:xfrm>
          <a:prstGeom prst="triangle">
            <a:avLst/>
          </a:prstGeom>
          <a:solidFill>
            <a:srgbClr val="B8C9CD"/>
          </a:solidFill>
          <a:ln w="12700">
            <a:solidFill>
              <a:srgbClr val="B8C9C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00800" y="1700784"/>
            <a:ext cx="2487168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00800" y="1700784"/>
            <a:ext cx="2487168" cy="82296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601968" y="1947672"/>
            <a:ext cx="475488" cy="475488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601968" y="1947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223760" y="195681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项目成员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223760" y="22402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D99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ProjectMember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47688" y="2761488"/>
            <a:ext cx="64008" cy="64008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821424" y="2615184"/>
            <a:ext cx="1847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以某单位身份加入项目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647688" y="3264408"/>
            <a:ext cx="64008" cy="64008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821424" y="3118104"/>
            <a:ext cx="1847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项目级数据范围与有效期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647688" y="3767328"/>
            <a:ext cx="64008" cy="64008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821424" y="3621024"/>
            <a:ext cx="1847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可覆盖阶段范围与责任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 rot="5400000">
            <a:off x="8951976" y="2944368"/>
            <a:ext cx="192024" cy="246888"/>
          </a:xfrm>
          <a:prstGeom prst="triangle">
            <a:avLst/>
          </a:prstGeom>
          <a:solidFill>
            <a:srgbClr val="B8C9CD"/>
          </a:solidFill>
          <a:ln w="12700">
            <a:solidFill>
              <a:srgbClr val="B8C9C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272016" y="1700784"/>
            <a:ext cx="2487168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9272016" y="1700784"/>
            <a:ext cx="2487168" cy="82296"/>
          </a:xfrm>
          <a:prstGeom prst="rect">
            <a:avLst/>
          </a:prstGeom>
          <a:solidFill>
            <a:srgbClr val="C75B5B"/>
          </a:solidFill>
          <a:ln w="12700">
            <a:solidFill>
              <a:srgbClr val="C75B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473184" y="1947672"/>
            <a:ext cx="475488" cy="475488"/>
          </a:xfrm>
          <a:prstGeom prst="ellipse">
            <a:avLst/>
          </a:prstGeom>
          <a:solidFill>
            <a:srgbClr val="C75B5B"/>
          </a:solidFill>
          <a:ln w="12700">
            <a:solidFill>
              <a:srgbClr val="C7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473184" y="1947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0094976" y="195681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阶段责任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10094976" y="22402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75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Responsibility Matrix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518904" y="2761488"/>
            <a:ext cx="64008" cy="64008"/>
          </a:xfrm>
          <a:prstGeom prst="ellipse">
            <a:avLst/>
          </a:prstGeom>
          <a:solidFill>
            <a:srgbClr val="C75B5B"/>
          </a:solidFill>
          <a:ln w="12700">
            <a:solidFill>
              <a:srgbClr val="C7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692640" y="2615184"/>
            <a:ext cx="1847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7 阶段 × 10 类单位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518904" y="3264408"/>
            <a:ext cx="64008" cy="64008"/>
          </a:xfrm>
          <a:prstGeom prst="ellipse">
            <a:avLst/>
          </a:prstGeom>
          <a:solidFill>
            <a:srgbClr val="C75B5B"/>
          </a:solidFill>
          <a:ln w="12700">
            <a:solidFill>
              <a:srgbClr val="C7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692640" y="3118104"/>
            <a:ext cx="1847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阶段内无责任即无权限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518904" y="3767328"/>
            <a:ext cx="64008" cy="64008"/>
          </a:xfrm>
          <a:prstGeom prst="ellipse">
            <a:avLst/>
          </a:prstGeom>
          <a:solidFill>
            <a:srgbClr val="C75B5B"/>
          </a:solidFill>
          <a:ln w="12700">
            <a:solidFill>
              <a:srgbClr val="C7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692640" y="3621024"/>
            <a:ext cx="1847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责任等级推导动作集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94944" y="4892040"/>
            <a:ext cx="10808208" cy="1124712"/>
          </a:xfrm>
          <a:prstGeom prst="roundRect">
            <a:avLst/>
          </a:prstGeom>
          <a:solidFill>
            <a:srgbClr val="0D2E3A"/>
          </a:solidFill>
          <a:ln w="12700">
            <a:solidFill>
              <a:srgbClr val="0D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14400" y="509320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B6A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一次权限判定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2048256" y="50200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项目范围</a:t>
            </a:r>
            <a:endParaRPr lang="en-US" sz="1700" dirty="0"/>
          </a:p>
        </p:txBody>
      </p:sp>
      <p:sp>
        <p:nvSpPr>
          <p:cNvPr id="64" name="Text 62"/>
          <p:cNvSpPr/>
          <p:nvPr/>
        </p:nvSpPr>
        <p:spPr>
          <a:xfrm>
            <a:off x="3200400" y="499262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5B6A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×</a:t>
            </a:r>
            <a:endParaRPr lang="en-US" sz="2000" dirty="0"/>
          </a:p>
        </p:txBody>
      </p:sp>
      <p:sp>
        <p:nvSpPr>
          <p:cNvPr id="65" name="Text 63"/>
          <p:cNvSpPr/>
          <p:nvPr/>
        </p:nvSpPr>
        <p:spPr>
          <a:xfrm>
            <a:off x="3593592" y="50200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阶段范围</a:t>
            </a:r>
            <a:endParaRPr lang="en-US" sz="1700" dirty="0"/>
          </a:p>
        </p:txBody>
      </p:sp>
      <p:sp>
        <p:nvSpPr>
          <p:cNvPr id="66" name="Text 64"/>
          <p:cNvSpPr/>
          <p:nvPr/>
        </p:nvSpPr>
        <p:spPr>
          <a:xfrm>
            <a:off x="4754880" y="499262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5B6A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×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5157216" y="50200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责任动作</a:t>
            </a:r>
            <a:endParaRPr lang="en-US" sz="1700" dirty="0"/>
          </a:p>
        </p:txBody>
      </p:sp>
      <p:sp>
        <p:nvSpPr>
          <p:cNvPr id="68" name="Text 66"/>
          <p:cNvSpPr/>
          <p:nvPr/>
        </p:nvSpPr>
        <p:spPr>
          <a:xfrm>
            <a:off x="6784848" y="50749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C6D9D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任一维度不满足，请求即被拒绝。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2E3A"/>
          </a:solidFill>
          <a:ln w="12700">
            <a:solidFill>
              <a:srgbClr val="0D2E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" y="566928"/>
            <a:ext cx="54864" cy="548640"/>
          </a:xfrm>
          <a:prstGeom prst="rect">
            <a:avLst/>
          </a:prstGeom>
          <a:solidFill>
            <a:srgbClr val="0E8F8B"/>
          </a:solidFill>
          <a:ln w="12700">
            <a:solidFill>
              <a:srgbClr val="0E8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40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RESPONSIBILITY MATRIX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94944" y="694944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7 个阶段 × 10 类参建单位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04088" y="11247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矩阵中有等级，系统中才有角色；没有列出的单位，在该阶段不可见。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082528" y="4389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71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04088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桩基工程全过程管理平台  /  权限管理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16768" y="6473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71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66928" y="1609344"/>
            <a:ext cx="10177272" cy="35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6928" y="1609344"/>
            <a:ext cx="1353312" cy="566928"/>
          </a:xfrm>
          <a:prstGeom prst="rect">
            <a:avLst/>
          </a:prstGeom>
          <a:solidFill>
            <a:srgbClr val="0D2E3A"/>
          </a:solidFill>
          <a:ln w="12700">
            <a:solidFill>
              <a:srgbClr val="0D2E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1609344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阶段 / 单位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1920240" y="1609344"/>
            <a:ext cx="882396" cy="566928"/>
          </a:xfrm>
          <a:prstGeom prst="rect">
            <a:avLst/>
          </a:prstGeom>
          <a:solidFill>
            <a:srgbClr val="123D4B"/>
          </a:solidFill>
          <a:ln w="12700">
            <a:solidFill>
              <a:srgbClr val="123D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38528" y="1636776"/>
            <a:ext cx="8458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建设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2802636" y="1609344"/>
            <a:ext cx="882396" cy="566928"/>
          </a:xfrm>
          <a:prstGeom prst="rect">
            <a:avLst/>
          </a:prstGeom>
          <a:solidFill>
            <a:srgbClr val="123D4B"/>
          </a:solidFill>
          <a:ln w="12700">
            <a:solidFill>
              <a:srgbClr val="123D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820924" y="1636776"/>
            <a:ext cx="8458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勘察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3685032" y="1609344"/>
            <a:ext cx="882396" cy="566928"/>
          </a:xfrm>
          <a:prstGeom prst="rect">
            <a:avLst/>
          </a:prstGeom>
          <a:solidFill>
            <a:srgbClr val="123D4B"/>
          </a:solidFill>
          <a:ln w="12700">
            <a:solidFill>
              <a:srgbClr val="123D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03320" y="1636776"/>
            <a:ext cx="8458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设计试桩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4567428" y="1609344"/>
            <a:ext cx="882396" cy="566928"/>
          </a:xfrm>
          <a:prstGeom prst="rect">
            <a:avLst/>
          </a:prstGeom>
          <a:solidFill>
            <a:srgbClr val="123D4B"/>
          </a:solidFill>
          <a:ln w="12700">
            <a:solidFill>
              <a:srgbClr val="123D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85716" y="1636776"/>
            <a:ext cx="8458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设计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5449824" y="1609344"/>
            <a:ext cx="882396" cy="566928"/>
          </a:xfrm>
          <a:prstGeom prst="rect">
            <a:avLst/>
          </a:prstGeom>
          <a:solidFill>
            <a:srgbClr val="123D4B"/>
          </a:solidFill>
          <a:ln w="12700">
            <a:solidFill>
              <a:srgbClr val="123D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68112" y="1636776"/>
            <a:ext cx="8458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总包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6332220" y="1609344"/>
            <a:ext cx="882396" cy="566928"/>
          </a:xfrm>
          <a:prstGeom prst="rect">
            <a:avLst/>
          </a:prstGeom>
          <a:solidFill>
            <a:srgbClr val="123D4B"/>
          </a:solidFill>
          <a:ln w="12700">
            <a:solidFill>
              <a:srgbClr val="123D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50508" y="1636776"/>
            <a:ext cx="8458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分包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7214616" y="1609344"/>
            <a:ext cx="882396" cy="566928"/>
          </a:xfrm>
          <a:prstGeom prst="rect">
            <a:avLst/>
          </a:prstGeom>
          <a:solidFill>
            <a:srgbClr val="123D4B"/>
          </a:solidFill>
          <a:ln w="12700">
            <a:solidFill>
              <a:srgbClr val="123D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232904" y="1636776"/>
            <a:ext cx="8458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监理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097012" y="1609344"/>
            <a:ext cx="882396" cy="566928"/>
          </a:xfrm>
          <a:prstGeom prst="rect">
            <a:avLst/>
          </a:prstGeom>
          <a:solidFill>
            <a:srgbClr val="123D4B"/>
          </a:solidFill>
          <a:ln w="12700">
            <a:solidFill>
              <a:srgbClr val="123D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115300" y="1636776"/>
            <a:ext cx="8458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验收试桩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8979408" y="1609344"/>
            <a:ext cx="882396" cy="566928"/>
          </a:xfrm>
          <a:prstGeom prst="rect">
            <a:avLst/>
          </a:prstGeom>
          <a:solidFill>
            <a:srgbClr val="123D4B"/>
          </a:solidFill>
          <a:ln w="12700">
            <a:solidFill>
              <a:srgbClr val="123D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997696" y="1636776"/>
            <a:ext cx="8458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检测监测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9861804" y="1609344"/>
            <a:ext cx="882396" cy="566928"/>
          </a:xfrm>
          <a:prstGeom prst="rect">
            <a:avLst/>
          </a:prstGeom>
          <a:solidFill>
            <a:srgbClr val="123D4B"/>
          </a:solidFill>
          <a:ln w="12700">
            <a:solidFill>
              <a:srgbClr val="123D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880092" y="1636776"/>
            <a:ext cx="8458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政府审查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566928" y="2176272"/>
            <a:ext cx="1353312" cy="429768"/>
          </a:xfrm>
          <a:prstGeom prst="rect">
            <a:avLst/>
          </a:prstGeom>
          <a:solidFill>
            <a:srgbClr val="F1F5F5"/>
          </a:solidFill>
          <a:ln w="8890">
            <a:solidFill>
              <a:srgbClr val="E8E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6656" y="2176272"/>
            <a:ext cx="11704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前期调研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1920240" y="2176272"/>
            <a:ext cx="882396" cy="429768"/>
          </a:xfrm>
          <a:prstGeom prst="rect">
            <a:avLst/>
          </a:prstGeom>
          <a:solidFill>
            <a:srgbClr val="0B807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920240" y="2176272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主办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2802636" y="2176272"/>
            <a:ext cx="882396" cy="429768"/>
          </a:xfrm>
          <a:prstGeom prst="rect">
            <a:avLst/>
          </a:prstGeom>
          <a:solidFill>
            <a:srgbClr val="F8FA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802636" y="2176272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4C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—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85032" y="2176272"/>
            <a:ext cx="882396" cy="429768"/>
          </a:xfrm>
          <a:prstGeom prst="rect">
            <a:avLst/>
          </a:prstGeom>
          <a:solidFill>
            <a:srgbClr val="F8FA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85032" y="2176272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4C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—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67428" y="2176272"/>
            <a:ext cx="882396" cy="429768"/>
          </a:xfrm>
          <a:prstGeom prst="rect">
            <a:avLst/>
          </a:prstGeom>
          <a:solidFill>
            <a:srgbClr val="F8FA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67428" y="2176272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4C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—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49824" y="2176272"/>
            <a:ext cx="882396" cy="429768"/>
          </a:xfrm>
          <a:prstGeom prst="rect">
            <a:avLst/>
          </a:prstGeom>
          <a:solidFill>
            <a:srgbClr val="F8FA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449824" y="2176272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4C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—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332220" y="2176272"/>
            <a:ext cx="882396" cy="429768"/>
          </a:xfrm>
          <a:prstGeom prst="rect">
            <a:avLst/>
          </a:prstGeom>
          <a:solidFill>
            <a:srgbClr val="F8FA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332220" y="2176272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4C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—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214616" y="2176272"/>
            <a:ext cx="882396" cy="429768"/>
          </a:xfrm>
          <a:prstGeom prst="rect">
            <a:avLst/>
          </a:prstGeom>
          <a:solidFill>
            <a:srgbClr val="F8FA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214616" y="2176272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4C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—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097012" y="2176272"/>
            <a:ext cx="882396" cy="429768"/>
          </a:xfrm>
          <a:prstGeom prst="rect">
            <a:avLst/>
          </a:prstGeom>
          <a:solidFill>
            <a:srgbClr val="F8FA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097012" y="2176272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4C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—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979408" y="2176272"/>
            <a:ext cx="882396" cy="429768"/>
          </a:xfrm>
          <a:prstGeom prst="rect">
            <a:avLst/>
          </a:prstGeom>
          <a:solidFill>
            <a:srgbClr val="F8FA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979408" y="2176272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4C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—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861804" y="2176272"/>
            <a:ext cx="882396" cy="429768"/>
          </a:xfrm>
          <a:prstGeom prst="rect">
            <a:avLst/>
          </a:prstGeom>
          <a:solidFill>
            <a:srgbClr val="D7E7F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861804" y="2176272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244E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相关</a:t>
            </a:r>
            <a:endParaRPr lang="en-US" sz="830" dirty="0"/>
          </a:p>
        </p:txBody>
      </p:sp>
      <p:sp>
        <p:nvSpPr>
          <p:cNvPr id="55" name="Shape 53"/>
          <p:cNvSpPr/>
          <p:nvPr/>
        </p:nvSpPr>
        <p:spPr>
          <a:xfrm>
            <a:off x="566928" y="2606040"/>
            <a:ext cx="1353312" cy="429768"/>
          </a:xfrm>
          <a:prstGeom prst="rect">
            <a:avLst/>
          </a:prstGeom>
          <a:solidFill>
            <a:srgbClr val="FFFFFF"/>
          </a:solidFill>
          <a:ln w="8890">
            <a:solidFill>
              <a:srgbClr val="E8E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76656" y="2606040"/>
            <a:ext cx="11704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勘察</a:t>
            </a:r>
            <a:endParaRPr lang="en-US" sz="920" dirty="0"/>
          </a:p>
        </p:txBody>
      </p:sp>
      <p:sp>
        <p:nvSpPr>
          <p:cNvPr id="57" name="Shape 55"/>
          <p:cNvSpPr/>
          <p:nvPr/>
        </p:nvSpPr>
        <p:spPr>
          <a:xfrm>
            <a:off x="1920240" y="2606040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920240" y="2606040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59" name="Shape 57"/>
          <p:cNvSpPr/>
          <p:nvPr/>
        </p:nvSpPr>
        <p:spPr>
          <a:xfrm>
            <a:off x="2802636" y="2606040"/>
            <a:ext cx="882396" cy="429768"/>
          </a:xfrm>
          <a:prstGeom prst="rect">
            <a:avLst/>
          </a:prstGeom>
          <a:solidFill>
            <a:srgbClr val="0B807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802636" y="2606040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主办</a:t>
            </a:r>
            <a:endParaRPr lang="en-US" sz="830" dirty="0"/>
          </a:p>
        </p:txBody>
      </p:sp>
      <p:sp>
        <p:nvSpPr>
          <p:cNvPr id="61" name="Shape 59"/>
          <p:cNvSpPr/>
          <p:nvPr/>
        </p:nvSpPr>
        <p:spPr>
          <a:xfrm>
            <a:off x="3685032" y="2606040"/>
            <a:ext cx="882396" cy="429768"/>
          </a:xfrm>
          <a:prstGeom prst="rect">
            <a:avLst/>
          </a:prstGeom>
          <a:solidFill>
            <a:srgbClr val="F8FA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685032" y="2606040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4C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—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567428" y="2606040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567428" y="2606040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65" name="Shape 63"/>
          <p:cNvSpPr/>
          <p:nvPr/>
        </p:nvSpPr>
        <p:spPr>
          <a:xfrm>
            <a:off x="5449824" y="2606040"/>
            <a:ext cx="882396" cy="429768"/>
          </a:xfrm>
          <a:prstGeom prst="rect">
            <a:avLst/>
          </a:prstGeom>
          <a:solidFill>
            <a:srgbClr val="F8FA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449824" y="2606040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4C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—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332220" y="2606040"/>
            <a:ext cx="882396" cy="429768"/>
          </a:xfrm>
          <a:prstGeom prst="rect">
            <a:avLst/>
          </a:prstGeom>
          <a:solidFill>
            <a:srgbClr val="F8FA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332220" y="2606040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4C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—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214616" y="2606040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214616" y="2606040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71" name="Shape 69"/>
          <p:cNvSpPr/>
          <p:nvPr/>
        </p:nvSpPr>
        <p:spPr>
          <a:xfrm>
            <a:off x="8097012" y="2606040"/>
            <a:ext cx="882396" cy="429768"/>
          </a:xfrm>
          <a:prstGeom prst="rect">
            <a:avLst/>
          </a:prstGeom>
          <a:solidFill>
            <a:srgbClr val="F8FA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8097012" y="2606040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4C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—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979408" y="2606040"/>
            <a:ext cx="882396" cy="429768"/>
          </a:xfrm>
          <a:prstGeom prst="rect">
            <a:avLst/>
          </a:prstGeom>
          <a:solidFill>
            <a:srgbClr val="F8FA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979408" y="2606040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4C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—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9861804" y="2606040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9861804" y="2606040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77" name="Shape 75"/>
          <p:cNvSpPr/>
          <p:nvPr/>
        </p:nvSpPr>
        <p:spPr>
          <a:xfrm>
            <a:off x="566928" y="3035808"/>
            <a:ext cx="1353312" cy="429768"/>
          </a:xfrm>
          <a:prstGeom prst="rect">
            <a:avLst/>
          </a:prstGeom>
          <a:solidFill>
            <a:srgbClr val="F1F5F5"/>
          </a:solidFill>
          <a:ln w="8890">
            <a:solidFill>
              <a:srgbClr val="E8E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76656" y="3035808"/>
            <a:ext cx="11704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设计试桩</a:t>
            </a:r>
            <a:endParaRPr lang="en-US" sz="920" dirty="0"/>
          </a:p>
        </p:txBody>
      </p:sp>
      <p:sp>
        <p:nvSpPr>
          <p:cNvPr id="79" name="Shape 77"/>
          <p:cNvSpPr/>
          <p:nvPr/>
        </p:nvSpPr>
        <p:spPr>
          <a:xfrm>
            <a:off x="1920240" y="3035808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1920240" y="3035808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81" name="Shape 79"/>
          <p:cNvSpPr/>
          <p:nvPr/>
        </p:nvSpPr>
        <p:spPr>
          <a:xfrm>
            <a:off x="2802636" y="3035808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2802636" y="3035808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83" name="Shape 81"/>
          <p:cNvSpPr/>
          <p:nvPr/>
        </p:nvSpPr>
        <p:spPr>
          <a:xfrm>
            <a:off x="3685032" y="3035808"/>
            <a:ext cx="882396" cy="429768"/>
          </a:xfrm>
          <a:prstGeom prst="rect">
            <a:avLst/>
          </a:prstGeom>
          <a:solidFill>
            <a:srgbClr val="0B807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3685032" y="3035808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主办</a:t>
            </a:r>
            <a:endParaRPr lang="en-US" sz="830" dirty="0"/>
          </a:p>
        </p:txBody>
      </p:sp>
      <p:sp>
        <p:nvSpPr>
          <p:cNvPr id="85" name="Shape 83"/>
          <p:cNvSpPr/>
          <p:nvPr/>
        </p:nvSpPr>
        <p:spPr>
          <a:xfrm>
            <a:off x="4567428" y="3035808"/>
            <a:ext cx="882396" cy="429768"/>
          </a:xfrm>
          <a:prstGeom prst="rect">
            <a:avLst/>
          </a:prstGeom>
          <a:solidFill>
            <a:srgbClr val="D7E7F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4567428" y="3035808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244E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相关</a:t>
            </a:r>
            <a:endParaRPr lang="en-US" sz="830" dirty="0"/>
          </a:p>
        </p:txBody>
      </p:sp>
      <p:sp>
        <p:nvSpPr>
          <p:cNvPr id="87" name="Shape 85"/>
          <p:cNvSpPr/>
          <p:nvPr/>
        </p:nvSpPr>
        <p:spPr>
          <a:xfrm>
            <a:off x="5449824" y="3035808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5449824" y="3035808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89" name="Shape 87"/>
          <p:cNvSpPr/>
          <p:nvPr/>
        </p:nvSpPr>
        <p:spPr>
          <a:xfrm>
            <a:off x="6332220" y="3035808"/>
            <a:ext cx="882396" cy="429768"/>
          </a:xfrm>
          <a:prstGeom prst="rect">
            <a:avLst/>
          </a:prstGeom>
          <a:solidFill>
            <a:srgbClr val="F8FA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6332220" y="3035808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4C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—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7214616" y="3035808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7214616" y="3035808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93" name="Shape 91"/>
          <p:cNvSpPr/>
          <p:nvPr/>
        </p:nvSpPr>
        <p:spPr>
          <a:xfrm>
            <a:off x="8097012" y="3035808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8097012" y="3035808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95" name="Shape 93"/>
          <p:cNvSpPr/>
          <p:nvPr/>
        </p:nvSpPr>
        <p:spPr>
          <a:xfrm>
            <a:off x="8979408" y="3035808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8979408" y="3035808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97" name="Shape 95"/>
          <p:cNvSpPr/>
          <p:nvPr/>
        </p:nvSpPr>
        <p:spPr>
          <a:xfrm>
            <a:off x="9861804" y="3035808"/>
            <a:ext cx="882396" cy="429768"/>
          </a:xfrm>
          <a:prstGeom prst="rect">
            <a:avLst/>
          </a:prstGeom>
          <a:solidFill>
            <a:srgbClr val="D7E7F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9861804" y="3035808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244E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相关</a:t>
            </a:r>
            <a:endParaRPr lang="en-US" sz="830" dirty="0"/>
          </a:p>
        </p:txBody>
      </p:sp>
      <p:sp>
        <p:nvSpPr>
          <p:cNvPr id="99" name="Shape 97"/>
          <p:cNvSpPr/>
          <p:nvPr/>
        </p:nvSpPr>
        <p:spPr>
          <a:xfrm>
            <a:off x="566928" y="3465576"/>
            <a:ext cx="1353312" cy="429768"/>
          </a:xfrm>
          <a:prstGeom prst="rect">
            <a:avLst/>
          </a:prstGeom>
          <a:solidFill>
            <a:srgbClr val="FFFFFF"/>
          </a:solidFill>
          <a:ln w="8890">
            <a:solidFill>
              <a:srgbClr val="E8E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676656" y="3465576"/>
            <a:ext cx="11704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设计</a:t>
            </a:r>
            <a:endParaRPr lang="en-US" sz="920" dirty="0"/>
          </a:p>
        </p:txBody>
      </p:sp>
      <p:sp>
        <p:nvSpPr>
          <p:cNvPr id="101" name="Shape 99"/>
          <p:cNvSpPr/>
          <p:nvPr/>
        </p:nvSpPr>
        <p:spPr>
          <a:xfrm>
            <a:off x="1920240" y="3465576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1920240" y="3465576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103" name="Shape 101"/>
          <p:cNvSpPr/>
          <p:nvPr/>
        </p:nvSpPr>
        <p:spPr>
          <a:xfrm>
            <a:off x="2802636" y="3465576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2802636" y="3465576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105" name="Shape 103"/>
          <p:cNvSpPr/>
          <p:nvPr/>
        </p:nvSpPr>
        <p:spPr>
          <a:xfrm>
            <a:off x="3685032" y="3465576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3685032" y="3465576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107" name="Shape 105"/>
          <p:cNvSpPr/>
          <p:nvPr/>
        </p:nvSpPr>
        <p:spPr>
          <a:xfrm>
            <a:off x="4567428" y="3465576"/>
            <a:ext cx="882396" cy="429768"/>
          </a:xfrm>
          <a:prstGeom prst="rect">
            <a:avLst/>
          </a:prstGeom>
          <a:solidFill>
            <a:srgbClr val="0B807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4567428" y="3465576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主办</a:t>
            </a:r>
            <a:endParaRPr lang="en-US" sz="830" dirty="0"/>
          </a:p>
        </p:txBody>
      </p:sp>
      <p:sp>
        <p:nvSpPr>
          <p:cNvPr id="109" name="Shape 107"/>
          <p:cNvSpPr/>
          <p:nvPr/>
        </p:nvSpPr>
        <p:spPr>
          <a:xfrm>
            <a:off x="5449824" y="3465576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5449824" y="3465576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111" name="Shape 109"/>
          <p:cNvSpPr/>
          <p:nvPr/>
        </p:nvSpPr>
        <p:spPr>
          <a:xfrm>
            <a:off x="6332220" y="3465576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6332220" y="3465576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113" name="Shape 111"/>
          <p:cNvSpPr/>
          <p:nvPr/>
        </p:nvSpPr>
        <p:spPr>
          <a:xfrm>
            <a:off x="7214616" y="3465576"/>
            <a:ext cx="882396" cy="429768"/>
          </a:xfrm>
          <a:prstGeom prst="rect">
            <a:avLst/>
          </a:prstGeom>
          <a:solidFill>
            <a:srgbClr val="D7E7F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7214616" y="3465576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244E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相关</a:t>
            </a:r>
            <a:endParaRPr lang="en-US" sz="830" dirty="0"/>
          </a:p>
        </p:txBody>
      </p:sp>
      <p:sp>
        <p:nvSpPr>
          <p:cNvPr id="115" name="Shape 113"/>
          <p:cNvSpPr/>
          <p:nvPr/>
        </p:nvSpPr>
        <p:spPr>
          <a:xfrm>
            <a:off x="8097012" y="3465576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8097012" y="3465576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117" name="Shape 115"/>
          <p:cNvSpPr/>
          <p:nvPr/>
        </p:nvSpPr>
        <p:spPr>
          <a:xfrm>
            <a:off x="8979408" y="3465576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8979408" y="3465576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119" name="Shape 117"/>
          <p:cNvSpPr/>
          <p:nvPr/>
        </p:nvSpPr>
        <p:spPr>
          <a:xfrm>
            <a:off x="9861804" y="3465576"/>
            <a:ext cx="882396" cy="429768"/>
          </a:xfrm>
          <a:prstGeom prst="rect">
            <a:avLst/>
          </a:prstGeom>
          <a:solidFill>
            <a:srgbClr val="D7E7F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9861804" y="3465576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244E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相关</a:t>
            </a:r>
            <a:endParaRPr lang="en-US" sz="830" dirty="0"/>
          </a:p>
        </p:txBody>
      </p:sp>
      <p:sp>
        <p:nvSpPr>
          <p:cNvPr id="121" name="Shape 119"/>
          <p:cNvSpPr/>
          <p:nvPr/>
        </p:nvSpPr>
        <p:spPr>
          <a:xfrm>
            <a:off x="566928" y="3895344"/>
            <a:ext cx="1353312" cy="429768"/>
          </a:xfrm>
          <a:prstGeom prst="rect">
            <a:avLst/>
          </a:prstGeom>
          <a:solidFill>
            <a:srgbClr val="F1F5F5"/>
          </a:solidFill>
          <a:ln w="8890">
            <a:solidFill>
              <a:srgbClr val="E8E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676656" y="3895344"/>
            <a:ext cx="11704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施工</a:t>
            </a:r>
            <a:endParaRPr lang="en-US" sz="920" dirty="0"/>
          </a:p>
        </p:txBody>
      </p:sp>
      <p:sp>
        <p:nvSpPr>
          <p:cNvPr id="123" name="Shape 121"/>
          <p:cNvSpPr/>
          <p:nvPr/>
        </p:nvSpPr>
        <p:spPr>
          <a:xfrm>
            <a:off x="1920240" y="3895344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1920240" y="3895344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125" name="Shape 123"/>
          <p:cNvSpPr/>
          <p:nvPr/>
        </p:nvSpPr>
        <p:spPr>
          <a:xfrm>
            <a:off x="2802636" y="3895344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2802636" y="3895344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127" name="Shape 125"/>
          <p:cNvSpPr/>
          <p:nvPr/>
        </p:nvSpPr>
        <p:spPr>
          <a:xfrm>
            <a:off x="3685032" y="3895344"/>
            <a:ext cx="882396" cy="429768"/>
          </a:xfrm>
          <a:prstGeom prst="rect">
            <a:avLst/>
          </a:prstGeom>
          <a:solidFill>
            <a:srgbClr val="F8FA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3685032" y="3895344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4C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—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4567428" y="3895344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4567428" y="3895344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131" name="Shape 129"/>
          <p:cNvSpPr/>
          <p:nvPr/>
        </p:nvSpPr>
        <p:spPr>
          <a:xfrm>
            <a:off x="5449824" y="3895344"/>
            <a:ext cx="882396" cy="429768"/>
          </a:xfrm>
          <a:prstGeom prst="rect">
            <a:avLst/>
          </a:prstGeom>
          <a:solidFill>
            <a:srgbClr val="0B807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5449824" y="3895344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主办</a:t>
            </a:r>
            <a:endParaRPr lang="en-US" sz="830" dirty="0"/>
          </a:p>
        </p:txBody>
      </p:sp>
      <p:sp>
        <p:nvSpPr>
          <p:cNvPr id="133" name="Shape 131"/>
          <p:cNvSpPr/>
          <p:nvPr/>
        </p:nvSpPr>
        <p:spPr>
          <a:xfrm>
            <a:off x="6332220" y="3895344"/>
            <a:ext cx="882396" cy="429768"/>
          </a:xfrm>
          <a:prstGeom prst="rect">
            <a:avLst/>
          </a:prstGeom>
          <a:solidFill>
            <a:srgbClr val="D7E7F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6332220" y="3895344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244E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相关</a:t>
            </a:r>
            <a:endParaRPr lang="en-US" sz="830" dirty="0"/>
          </a:p>
        </p:txBody>
      </p:sp>
      <p:sp>
        <p:nvSpPr>
          <p:cNvPr id="135" name="Shape 133"/>
          <p:cNvSpPr/>
          <p:nvPr/>
        </p:nvSpPr>
        <p:spPr>
          <a:xfrm>
            <a:off x="7214616" y="3895344"/>
            <a:ext cx="882396" cy="429768"/>
          </a:xfrm>
          <a:prstGeom prst="rect">
            <a:avLst/>
          </a:prstGeom>
          <a:solidFill>
            <a:srgbClr val="D7E7F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7214616" y="3895344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244E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相关</a:t>
            </a:r>
            <a:endParaRPr lang="en-US" sz="830" dirty="0"/>
          </a:p>
        </p:txBody>
      </p:sp>
      <p:sp>
        <p:nvSpPr>
          <p:cNvPr id="137" name="Shape 135"/>
          <p:cNvSpPr/>
          <p:nvPr/>
        </p:nvSpPr>
        <p:spPr>
          <a:xfrm>
            <a:off x="8097012" y="3895344"/>
            <a:ext cx="882396" cy="429768"/>
          </a:xfrm>
          <a:prstGeom prst="rect">
            <a:avLst/>
          </a:prstGeom>
          <a:solidFill>
            <a:srgbClr val="F8FA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136"/>
          <p:cNvSpPr/>
          <p:nvPr/>
        </p:nvSpPr>
        <p:spPr>
          <a:xfrm>
            <a:off x="8097012" y="3895344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4C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—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8979408" y="3895344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/>
          <p:nvPr/>
        </p:nvSpPr>
        <p:spPr>
          <a:xfrm>
            <a:off x="8979408" y="3895344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141" name="Shape 139"/>
          <p:cNvSpPr/>
          <p:nvPr/>
        </p:nvSpPr>
        <p:spPr>
          <a:xfrm>
            <a:off x="9861804" y="3895344"/>
            <a:ext cx="882396" cy="429768"/>
          </a:xfrm>
          <a:prstGeom prst="rect">
            <a:avLst/>
          </a:prstGeom>
          <a:solidFill>
            <a:srgbClr val="D7E7F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9861804" y="3895344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244E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相关</a:t>
            </a:r>
            <a:endParaRPr lang="en-US" sz="830" dirty="0"/>
          </a:p>
        </p:txBody>
      </p:sp>
      <p:sp>
        <p:nvSpPr>
          <p:cNvPr id="143" name="Shape 141"/>
          <p:cNvSpPr/>
          <p:nvPr/>
        </p:nvSpPr>
        <p:spPr>
          <a:xfrm>
            <a:off x="566928" y="4325112"/>
            <a:ext cx="1353312" cy="429768"/>
          </a:xfrm>
          <a:prstGeom prst="rect">
            <a:avLst/>
          </a:prstGeom>
          <a:solidFill>
            <a:srgbClr val="FFFFFF"/>
          </a:solidFill>
          <a:ln w="8890">
            <a:solidFill>
              <a:srgbClr val="E8E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/>
          <p:nvPr/>
        </p:nvSpPr>
        <p:spPr>
          <a:xfrm>
            <a:off x="676656" y="4325112"/>
            <a:ext cx="11704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验收试桩</a:t>
            </a:r>
            <a:endParaRPr lang="en-US" sz="920" dirty="0"/>
          </a:p>
        </p:txBody>
      </p:sp>
      <p:sp>
        <p:nvSpPr>
          <p:cNvPr id="145" name="Shape 143"/>
          <p:cNvSpPr/>
          <p:nvPr/>
        </p:nvSpPr>
        <p:spPr>
          <a:xfrm>
            <a:off x="1920240" y="4325112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1920240" y="4325112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147" name="Shape 145"/>
          <p:cNvSpPr/>
          <p:nvPr/>
        </p:nvSpPr>
        <p:spPr>
          <a:xfrm>
            <a:off x="2802636" y="4325112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2802636" y="4325112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149" name="Shape 147"/>
          <p:cNvSpPr/>
          <p:nvPr/>
        </p:nvSpPr>
        <p:spPr>
          <a:xfrm>
            <a:off x="3685032" y="4325112"/>
            <a:ext cx="882396" cy="429768"/>
          </a:xfrm>
          <a:prstGeom prst="rect">
            <a:avLst/>
          </a:prstGeom>
          <a:solidFill>
            <a:srgbClr val="F8FA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148"/>
          <p:cNvSpPr/>
          <p:nvPr/>
        </p:nvSpPr>
        <p:spPr>
          <a:xfrm>
            <a:off x="3685032" y="4325112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4C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—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4567428" y="4325112"/>
            <a:ext cx="882396" cy="429768"/>
          </a:xfrm>
          <a:prstGeom prst="rect">
            <a:avLst/>
          </a:prstGeom>
          <a:solidFill>
            <a:srgbClr val="D7E7F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150"/>
          <p:cNvSpPr/>
          <p:nvPr/>
        </p:nvSpPr>
        <p:spPr>
          <a:xfrm>
            <a:off x="4567428" y="4325112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244E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相关</a:t>
            </a:r>
            <a:endParaRPr lang="en-US" sz="830" dirty="0"/>
          </a:p>
        </p:txBody>
      </p:sp>
      <p:sp>
        <p:nvSpPr>
          <p:cNvPr id="153" name="Shape 151"/>
          <p:cNvSpPr/>
          <p:nvPr/>
        </p:nvSpPr>
        <p:spPr>
          <a:xfrm>
            <a:off x="5449824" y="4325112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152"/>
          <p:cNvSpPr/>
          <p:nvPr/>
        </p:nvSpPr>
        <p:spPr>
          <a:xfrm>
            <a:off x="5449824" y="4325112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155" name="Shape 153"/>
          <p:cNvSpPr/>
          <p:nvPr/>
        </p:nvSpPr>
        <p:spPr>
          <a:xfrm>
            <a:off x="6332220" y="4325112"/>
            <a:ext cx="882396" cy="429768"/>
          </a:xfrm>
          <a:prstGeom prst="rect">
            <a:avLst/>
          </a:prstGeom>
          <a:solidFill>
            <a:srgbClr val="D7E7F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/>
          <p:nvPr/>
        </p:nvSpPr>
        <p:spPr>
          <a:xfrm>
            <a:off x="6332220" y="4325112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244E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相关</a:t>
            </a:r>
            <a:endParaRPr lang="en-US" sz="830" dirty="0"/>
          </a:p>
        </p:txBody>
      </p:sp>
      <p:sp>
        <p:nvSpPr>
          <p:cNvPr id="157" name="Shape 155"/>
          <p:cNvSpPr/>
          <p:nvPr/>
        </p:nvSpPr>
        <p:spPr>
          <a:xfrm>
            <a:off x="7214616" y="4325112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Text 156"/>
          <p:cNvSpPr/>
          <p:nvPr/>
        </p:nvSpPr>
        <p:spPr>
          <a:xfrm>
            <a:off x="7214616" y="4325112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159" name="Shape 157"/>
          <p:cNvSpPr/>
          <p:nvPr/>
        </p:nvSpPr>
        <p:spPr>
          <a:xfrm>
            <a:off x="8097012" y="4325112"/>
            <a:ext cx="882396" cy="429768"/>
          </a:xfrm>
          <a:prstGeom prst="rect">
            <a:avLst/>
          </a:prstGeom>
          <a:solidFill>
            <a:srgbClr val="0B807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158"/>
          <p:cNvSpPr/>
          <p:nvPr/>
        </p:nvSpPr>
        <p:spPr>
          <a:xfrm>
            <a:off x="8097012" y="4325112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主办</a:t>
            </a:r>
            <a:endParaRPr lang="en-US" sz="830" dirty="0"/>
          </a:p>
        </p:txBody>
      </p:sp>
      <p:sp>
        <p:nvSpPr>
          <p:cNvPr id="161" name="Shape 159"/>
          <p:cNvSpPr/>
          <p:nvPr/>
        </p:nvSpPr>
        <p:spPr>
          <a:xfrm>
            <a:off x="8979408" y="4325112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160"/>
          <p:cNvSpPr/>
          <p:nvPr/>
        </p:nvSpPr>
        <p:spPr>
          <a:xfrm>
            <a:off x="8979408" y="4325112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163" name="Shape 161"/>
          <p:cNvSpPr/>
          <p:nvPr/>
        </p:nvSpPr>
        <p:spPr>
          <a:xfrm>
            <a:off x="9861804" y="4325112"/>
            <a:ext cx="882396" cy="429768"/>
          </a:xfrm>
          <a:prstGeom prst="rect">
            <a:avLst/>
          </a:prstGeom>
          <a:solidFill>
            <a:srgbClr val="F8FA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Text 162"/>
          <p:cNvSpPr/>
          <p:nvPr/>
        </p:nvSpPr>
        <p:spPr>
          <a:xfrm>
            <a:off x="9861804" y="4325112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4C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—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566928" y="4754880"/>
            <a:ext cx="1353312" cy="429768"/>
          </a:xfrm>
          <a:prstGeom prst="rect">
            <a:avLst/>
          </a:prstGeom>
          <a:solidFill>
            <a:srgbClr val="F1F5F5"/>
          </a:solidFill>
          <a:ln w="8890">
            <a:solidFill>
              <a:srgbClr val="E8E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Text 164"/>
          <p:cNvSpPr/>
          <p:nvPr/>
        </p:nvSpPr>
        <p:spPr>
          <a:xfrm>
            <a:off x="676656" y="4754880"/>
            <a:ext cx="11704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运维监测</a:t>
            </a:r>
            <a:endParaRPr lang="en-US" sz="920" dirty="0"/>
          </a:p>
        </p:txBody>
      </p:sp>
      <p:sp>
        <p:nvSpPr>
          <p:cNvPr id="167" name="Shape 165"/>
          <p:cNvSpPr/>
          <p:nvPr/>
        </p:nvSpPr>
        <p:spPr>
          <a:xfrm>
            <a:off x="1920240" y="4754880"/>
            <a:ext cx="882396" cy="429768"/>
          </a:xfrm>
          <a:prstGeom prst="rect">
            <a:avLst/>
          </a:prstGeom>
          <a:solidFill>
            <a:srgbClr val="D7E7F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 166"/>
          <p:cNvSpPr/>
          <p:nvPr/>
        </p:nvSpPr>
        <p:spPr>
          <a:xfrm>
            <a:off x="1920240" y="4754880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244E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相关</a:t>
            </a:r>
            <a:endParaRPr lang="en-US" sz="830" dirty="0"/>
          </a:p>
        </p:txBody>
      </p:sp>
      <p:sp>
        <p:nvSpPr>
          <p:cNvPr id="169" name="Shape 167"/>
          <p:cNvSpPr/>
          <p:nvPr/>
        </p:nvSpPr>
        <p:spPr>
          <a:xfrm>
            <a:off x="2802636" y="4754880"/>
            <a:ext cx="882396" cy="429768"/>
          </a:xfrm>
          <a:prstGeom prst="rect">
            <a:avLst/>
          </a:prstGeom>
          <a:solidFill>
            <a:srgbClr val="F8FA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Text 168"/>
          <p:cNvSpPr/>
          <p:nvPr/>
        </p:nvSpPr>
        <p:spPr>
          <a:xfrm>
            <a:off x="2802636" y="4754880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4C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—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>
            <a:off x="3685032" y="4754880"/>
            <a:ext cx="882396" cy="429768"/>
          </a:xfrm>
          <a:prstGeom prst="rect">
            <a:avLst/>
          </a:prstGeom>
          <a:solidFill>
            <a:srgbClr val="F8FA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Text 170"/>
          <p:cNvSpPr/>
          <p:nvPr/>
        </p:nvSpPr>
        <p:spPr>
          <a:xfrm>
            <a:off x="3685032" y="4754880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4C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—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4567428" y="4754880"/>
            <a:ext cx="882396" cy="429768"/>
          </a:xfrm>
          <a:prstGeom prst="rect">
            <a:avLst/>
          </a:prstGeom>
          <a:solidFill>
            <a:srgbClr val="E6ED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Text 172"/>
          <p:cNvSpPr/>
          <p:nvPr/>
        </p:nvSpPr>
        <p:spPr>
          <a:xfrm>
            <a:off x="4567428" y="4754880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30" dirty="0"/>
          </a:p>
        </p:txBody>
      </p:sp>
      <p:sp>
        <p:nvSpPr>
          <p:cNvPr id="175" name="Shape 173"/>
          <p:cNvSpPr/>
          <p:nvPr/>
        </p:nvSpPr>
        <p:spPr>
          <a:xfrm>
            <a:off x="5449824" y="4754880"/>
            <a:ext cx="882396" cy="429768"/>
          </a:xfrm>
          <a:prstGeom prst="rect">
            <a:avLst/>
          </a:prstGeom>
          <a:solidFill>
            <a:srgbClr val="F8FA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Text 174"/>
          <p:cNvSpPr/>
          <p:nvPr/>
        </p:nvSpPr>
        <p:spPr>
          <a:xfrm>
            <a:off x="5449824" y="4754880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4C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—</a:t>
            </a:r>
            <a:endParaRPr lang="en-US" sz="900" dirty="0"/>
          </a:p>
        </p:txBody>
      </p:sp>
      <p:sp>
        <p:nvSpPr>
          <p:cNvPr id="177" name="Shape 175"/>
          <p:cNvSpPr/>
          <p:nvPr/>
        </p:nvSpPr>
        <p:spPr>
          <a:xfrm>
            <a:off x="6332220" y="4754880"/>
            <a:ext cx="882396" cy="429768"/>
          </a:xfrm>
          <a:prstGeom prst="rect">
            <a:avLst/>
          </a:prstGeom>
          <a:solidFill>
            <a:srgbClr val="F8FA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Text 176"/>
          <p:cNvSpPr/>
          <p:nvPr/>
        </p:nvSpPr>
        <p:spPr>
          <a:xfrm>
            <a:off x="6332220" y="4754880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4C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—</a:t>
            </a:r>
            <a:endParaRPr lang="en-US" sz="900" dirty="0"/>
          </a:p>
        </p:txBody>
      </p:sp>
      <p:sp>
        <p:nvSpPr>
          <p:cNvPr id="179" name="Shape 177"/>
          <p:cNvSpPr/>
          <p:nvPr/>
        </p:nvSpPr>
        <p:spPr>
          <a:xfrm>
            <a:off x="7214616" y="4754880"/>
            <a:ext cx="882396" cy="429768"/>
          </a:xfrm>
          <a:prstGeom prst="rect">
            <a:avLst/>
          </a:prstGeom>
          <a:solidFill>
            <a:srgbClr val="F8FA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Text 178"/>
          <p:cNvSpPr/>
          <p:nvPr/>
        </p:nvSpPr>
        <p:spPr>
          <a:xfrm>
            <a:off x="7214616" y="4754880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4C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—</a:t>
            </a:r>
            <a:endParaRPr lang="en-US" sz="900" dirty="0"/>
          </a:p>
        </p:txBody>
      </p:sp>
      <p:sp>
        <p:nvSpPr>
          <p:cNvPr id="181" name="Shape 179"/>
          <p:cNvSpPr/>
          <p:nvPr/>
        </p:nvSpPr>
        <p:spPr>
          <a:xfrm>
            <a:off x="8097012" y="4754880"/>
            <a:ext cx="882396" cy="429768"/>
          </a:xfrm>
          <a:prstGeom prst="rect">
            <a:avLst/>
          </a:prstGeom>
          <a:solidFill>
            <a:srgbClr val="F8FA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Text 180"/>
          <p:cNvSpPr/>
          <p:nvPr/>
        </p:nvSpPr>
        <p:spPr>
          <a:xfrm>
            <a:off x="8097012" y="4754880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4C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—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8979408" y="4754880"/>
            <a:ext cx="882396" cy="429768"/>
          </a:xfrm>
          <a:prstGeom prst="rect">
            <a:avLst/>
          </a:prstGeom>
          <a:solidFill>
            <a:srgbClr val="0B807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Text 182"/>
          <p:cNvSpPr/>
          <p:nvPr/>
        </p:nvSpPr>
        <p:spPr>
          <a:xfrm>
            <a:off x="8979408" y="4754880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主办</a:t>
            </a:r>
            <a:endParaRPr lang="en-US" sz="830" dirty="0"/>
          </a:p>
        </p:txBody>
      </p:sp>
      <p:sp>
        <p:nvSpPr>
          <p:cNvPr id="185" name="Shape 183"/>
          <p:cNvSpPr/>
          <p:nvPr/>
        </p:nvSpPr>
        <p:spPr>
          <a:xfrm>
            <a:off x="9861804" y="4754880"/>
            <a:ext cx="882396" cy="429768"/>
          </a:xfrm>
          <a:prstGeom prst="rect">
            <a:avLst/>
          </a:prstGeom>
          <a:solidFill>
            <a:srgbClr val="F8FA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Text 184"/>
          <p:cNvSpPr/>
          <p:nvPr/>
        </p:nvSpPr>
        <p:spPr>
          <a:xfrm>
            <a:off x="9861804" y="4754880"/>
            <a:ext cx="8823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4C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—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640080" y="5532120"/>
            <a:ext cx="457200" cy="246888"/>
          </a:xfrm>
          <a:prstGeom prst="roundRect">
            <a:avLst/>
          </a:prstGeom>
          <a:solidFill>
            <a:srgbClr val="0B807B"/>
          </a:solidFill>
          <a:ln w="12700">
            <a:solidFill>
              <a:srgbClr val="0B80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Text 186"/>
          <p:cNvSpPr/>
          <p:nvPr/>
        </p:nvSpPr>
        <p:spPr>
          <a:xfrm>
            <a:off x="640080" y="553212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主办</a:t>
            </a:r>
            <a:endParaRPr lang="en-US" sz="750" dirty="0"/>
          </a:p>
        </p:txBody>
      </p:sp>
      <p:sp>
        <p:nvSpPr>
          <p:cNvPr id="189" name="Text 187"/>
          <p:cNvSpPr/>
          <p:nvPr/>
        </p:nvSpPr>
        <p:spPr>
          <a:xfrm>
            <a:off x="1197864" y="5522976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3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可编辑、提交、发布、签认</a:t>
            </a:r>
            <a:endParaRPr lang="en-US" sz="830" dirty="0"/>
          </a:p>
        </p:txBody>
      </p:sp>
      <p:sp>
        <p:nvSpPr>
          <p:cNvPr id="190" name="Shape 188"/>
          <p:cNvSpPr/>
          <p:nvPr/>
        </p:nvSpPr>
        <p:spPr>
          <a:xfrm>
            <a:off x="3401568" y="5532120"/>
            <a:ext cx="457200" cy="246888"/>
          </a:xfrm>
          <a:prstGeom prst="roundRect">
            <a:avLst/>
          </a:prstGeom>
          <a:solidFill>
            <a:srgbClr val="D7E7F7"/>
          </a:solidFill>
          <a:ln w="12700">
            <a:solidFill>
              <a:srgbClr val="D7E7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Text 189"/>
          <p:cNvSpPr/>
          <p:nvPr/>
        </p:nvSpPr>
        <p:spPr>
          <a:xfrm>
            <a:off x="3401568" y="553212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244E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相关</a:t>
            </a:r>
            <a:endParaRPr lang="en-US" sz="750" dirty="0"/>
          </a:p>
        </p:txBody>
      </p:sp>
      <p:sp>
        <p:nvSpPr>
          <p:cNvPr id="192" name="Text 190"/>
          <p:cNvSpPr/>
          <p:nvPr/>
        </p:nvSpPr>
        <p:spPr>
          <a:xfrm>
            <a:off x="3959352" y="5522976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3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可签认、提意见</a:t>
            </a:r>
            <a:endParaRPr lang="en-US" sz="830" dirty="0"/>
          </a:p>
        </p:txBody>
      </p:sp>
      <p:sp>
        <p:nvSpPr>
          <p:cNvPr id="193" name="Shape 191"/>
          <p:cNvSpPr/>
          <p:nvPr/>
        </p:nvSpPr>
        <p:spPr>
          <a:xfrm>
            <a:off x="6163056" y="5532120"/>
            <a:ext cx="457200" cy="246888"/>
          </a:xfrm>
          <a:prstGeom prst="roundRect">
            <a:avLst/>
          </a:prstGeom>
          <a:solidFill>
            <a:srgbClr val="E6EDEF"/>
          </a:solidFill>
          <a:ln w="12700">
            <a:solidFill>
              <a:srgbClr val="E6E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Text 192"/>
          <p:cNvSpPr/>
          <p:nvPr/>
        </p:nvSpPr>
        <p:spPr>
          <a:xfrm>
            <a:off x="6163056" y="553212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750" dirty="0"/>
          </a:p>
        </p:txBody>
      </p:sp>
      <p:sp>
        <p:nvSpPr>
          <p:cNvPr id="195" name="Text 193"/>
          <p:cNvSpPr/>
          <p:nvPr/>
        </p:nvSpPr>
        <p:spPr>
          <a:xfrm>
            <a:off x="6720840" y="5522976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3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只读、可下载</a:t>
            </a:r>
            <a:endParaRPr lang="en-US" sz="830" dirty="0"/>
          </a:p>
        </p:txBody>
      </p:sp>
      <p:sp>
        <p:nvSpPr>
          <p:cNvPr id="196" name="Shape 194"/>
          <p:cNvSpPr/>
          <p:nvPr/>
        </p:nvSpPr>
        <p:spPr>
          <a:xfrm>
            <a:off x="8924544" y="5532120"/>
            <a:ext cx="457200" cy="246888"/>
          </a:xfrm>
          <a:prstGeom prst="roundRect">
            <a:avLst/>
          </a:prstGeom>
          <a:solidFill>
            <a:srgbClr val="F8EBCB"/>
          </a:solidFill>
          <a:ln w="12700">
            <a:solidFill>
              <a:srgbClr val="F8EB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Text 195"/>
          <p:cNvSpPr/>
          <p:nvPr/>
        </p:nvSpPr>
        <p:spPr>
          <a:xfrm>
            <a:off x="8924544" y="553212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8B621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审查</a:t>
            </a:r>
            <a:endParaRPr lang="en-US" sz="750" dirty="0"/>
          </a:p>
        </p:txBody>
      </p:sp>
      <p:sp>
        <p:nvSpPr>
          <p:cNvPr id="198" name="Text 196"/>
          <p:cNvSpPr/>
          <p:nvPr/>
        </p:nvSpPr>
        <p:spPr>
          <a:xfrm>
            <a:off x="9482328" y="5522976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3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专项场景下可提意见</a:t>
            </a:r>
            <a:endParaRPr lang="en-US" sz="830" dirty="0"/>
          </a:p>
        </p:txBody>
      </p:sp>
      <p:sp>
        <p:nvSpPr>
          <p:cNvPr id="199" name="Text 197"/>
          <p:cNvSpPr/>
          <p:nvPr/>
        </p:nvSpPr>
        <p:spPr>
          <a:xfrm>
            <a:off x="658368" y="5961888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读法：先定位阶段，再定位单位；责任等级决定该阶段内的动作边界。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2E3A"/>
          </a:solidFill>
          <a:ln w="12700">
            <a:solidFill>
              <a:srgbClr val="0D2E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" y="566928"/>
            <a:ext cx="54864" cy="548640"/>
          </a:xfrm>
          <a:prstGeom prst="rect">
            <a:avLst/>
          </a:prstGeom>
          <a:solidFill>
            <a:srgbClr val="0E8F8B"/>
          </a:solidFill>
          <a:ln w="12700">
            <a:solidFill>
              <a:srgbClr val="0E8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40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ACTION DERIVATION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94944" y="694944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责任等级决定动作权限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04088" y="11247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权限动作由责任等级自动推导，避免“矩阵一套、代码另一套”。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082528" y="4389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71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04088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桩基工程全过程管理平台  /  权限管理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16768" y="6473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71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76656" y="1627632"/>
            <a:ext cx="7543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76656" y="1627632"/>
            <a:ext cx="82296" cy="749808"/>
          </a:xfrm>
          <a:prstGeom prst="rect">
            <a:avLst/>
          </a:prstGeom>
          <a:solidFill>
            <a:srgbClr val="0E8F8B"/>
          </a:solidFill>
          <a:ln w="12700">
            <a:solidFill>
              <a:srgbClr val="0E8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05256" y="17647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主办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5256" y="206654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0E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1764792" y="182880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1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对本阶段成果负主要责任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3410712" y="1842516"/>
            <a:ext cx="530352" cy="283464"/>
          </a:xfrm>
          <a:prstGeom prst="roundRect">
            <a:avLst/>
          </a:prstGeom>
          <a:solidFill>
            <a:srgbClr val="0E8F8B"/>
          </a:solidFill>
          <a:ln w="12700">
            <a:solidFill>
              <a:srgbClr val="0E8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47288" y="1842516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查看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4014216" y="1842516"/>
            <a:ext cx="530352" cy="283464"/>
          </a:xfrm>
          <a:prstGeom prst="roundRect">
            <a:avLst/>
          </a:prstGeom>
          <a:solidFill>
            <a:srgbClr val="0E8F8B"/>
          </a:solidFill>
          <a:ln w="12700">
            <a:solidFill>
              <a:srgbClr val="0E8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50792" y="1842516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下载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4617720" y="1842516"/>
            <a:ext cx="530352" cy="283464"/>
          </a:xfrm>
          <a:prstGeom prst="roundRect">
            <a:avLst/>
          </a:prstGeom>
          <a:solidFill>
            <a:srgbClr val="0E8F8B"/>
          </a:solidFill>
          <a:ln w="12700">
            <a:solidFill>
              <a:srgbClr val="0E8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54296" y="1842516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编辑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5221224" y="1842516"/>
            <a:ext cx="530352" cy="283464"/>
          </a:xfrm>
          <a:prstGeom prst="roundRect">
            <a:avLst/>
          </a:prstGeom>
          <a:solidFill>
            <a:srgbClr val="0E8F8B"/>
          </a:solidFill>
          <a:ln w="12700">
            <a:solidFill>
              <a:srgbClr val="0E8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57800" y="1842516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提交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5824728" y="1842516"/>
            <a:ext cx="530352" cy="283464"/>
          </a:xfrm>
          <a:prstGeom prst="roundRect">
            <a:avLst/>
          </a:prstGeom>
          <a:solidFill>
            <a:srgbClr val="0E8F8B"/>
          </a:solidFill>
          <a:ln w="12700">
            <a:solidFill>
              <a:srgbClr val="0E8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61304" y="1842516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发布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6428232" y="1842516"/>
            <a:ext cx="530352" cy="283464"/>
          </a:xfrm>
          <a:prstGeom prst="roundRect">
            <a:avLst/>
          </a:prstGeom>
          <a:solidFill>
            <a:srgbClr val="0E8F8B"/>
          </a:solidFill>
          <a:ln w="12700">
            <a:solidFill>
              <a:srgbClr val="0E8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64808" y="1842516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签认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676656" y="2542032"/>
            <a:ext cx="7543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76656" y="2542032"/>
            <a:ext cx="82296" cy="749808"/>
          </a:xfrm>
          <a:prstGeom prst="rect">
            <a:avLst/>
          </a:prstGeom>
          <a:solidFill>
            <a:srgbClr val="3E7FCB"/>
          </a:solidFill>
          <a:ln w="12700">
            <a:solidFill>
              <a:srgbClr val="3E7FC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05256" y="26791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相关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05256" y="298094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3E7F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RELATED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1764792" y="274320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1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参与复核与协同确认</a:t>
            </a:r>
            <a:endParaRPr lang="en-US" sz="910" dirty="0"/>
          </a:p>
        </p:txBody>
      </p:sp>
      <p:sp>
        <p:nvSpPr>
          <p:cNvPr id="32" name="Shape 30"/>
          <p:cNvSpPr/>
          <p:nvPr/>
        </p:nvSpPr>
        <p:spPr>
          <a:xfrm>
            <a:off x="3410712" y="2756916"/>
            <a:ext cx="530352" cy="283464"/>
          </a:xfrm>
          <a:prstGeom prst="roundRect">
            <a:avLst/>
          </a:prstGeom>
          <a:solidFill>
            <a:srgbClr val="3E7FCB"/>
          </a:solidFill>
          <a:ln w="12700">
            <a:solidFill>
              <a:srgbClr val="3E7F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47288" y="2756916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查看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4014216" y="2756916"/>
            <a:ext cx="530352" cy="283464"/>
          </a:xfrm>
          <a:prstGeom prst="roundRect">
            <a:avLst/>
          </a:prstGeom>
          <a:solidFill>
            <a:srgbClr val="3E7FCB"/>
          </a:solidFill>
          <a:ln w="12700">
            <a:solidFill>
              <a:srgbClr val="3E7F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050792" y="2756916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下载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4617720" y="2756916"/>
            <a:ext cx="530352" cy="283464"/>
          </a:xfrm>
          <a:prstGeom prst="roundRect">
            <a:avLst/>
          </a:prstGeom>
          <a:solidFill>
            <a:srgbClr val="3E7FCB"/>
          </a:solidFill>
          <a:ln w="12700">
            <a:solidFill>
              <a:srgbClr val="3E7F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54296" y="2756916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签认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5221224" y="2756916"/>
            <a:ext cx="676656" cy="283464"/>
          </a:xfrm>
          <a:prstGeom prst="roundRect">
            <a:avLst/>
          </a:prstGeom>
          <a:solidFill>
            <a:srgbClr val="3E7FCB"/>
          </a:solidFill>
          <a:ln w="12700">
            <a:solidFill>
              <a:srgbClr val="3E7F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257800" y="2756916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提意见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676656" y="3456432"/>
            <a:ext cx="7543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76656" y="3456432"/>
            <a:ext cx="82296" cy="749808"/>
          </a:xfrm>
          <a:prstGeom prst="rect">
            <a:avLst/>
          </a:prstGeom>
          <a:solidFill>
            <a:srgbClr val="5F737B"/>
          </a:solidFill>
          <a:ln w="12700">
            <a:solidFill>
              <a:srgbClr val="5F737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05256" y="35935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05256" y="389534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5F7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1764792" y="365760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1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知情、查阅与下载</a:t>
            </a:r>
            <a:endParaRPr lang="en-US" sz="910" dirty="0"/>
          </a:p>
        </p:txBody>
      </p:sp>
      <p:sp>
        <p:nvSpPr>
          <p:cNvPr id="45" name="Shape 43"/>
          <p:cNvSpPr/>
          <p:nvPr/>
        </p:nvSpPr>
        <p:spPr>
          <a:xfrm>
            <a:off x="3410712" y="3671316"/>
            <a:ext cx="530352" cy="283464"/>
          </a:xfrm>
          <a:prstGeom prst="roundRect">
            <a:avLst/>
          </a:prstGeom>
          <a:solidFill>
            <a:srgbClr val="5F737B"/>
          </a:solidFill>
          <a:ln w="12700">
            <a:solidFill>
              <a:srgbClr val="5F73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447288" y="3671316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查看</a:t>
            </a:r>
            <a:endParaRPr lang="en-US" sz="870" dirty="0"/>
          </a:p>
        </p:txBody>
      </p:sp>
      <p:sp>
        <p:nvSpPr>
          <p:cNvPr id="47" name="Shape 45"/>
          <p:cNvSpPr/>
          <p:nvPr/>
        </p:nvSpPr>
        <p:spPr>
          <a:xfrm>
            <a:off x="4014216" y="3671316"/>
            <a:ext cx="530352" cy="283464"/>
          </a:xfrm>
          <a:prstGeom prst="roundRect">
            <a:avLst/>
          </a:prstGeom>
          <a:solidFill>
            <a:srgbClr val="5F737B"/>
          </a:solidFill>
          <a:ln w="12700">
            <a:solidFill>
              <a:srgbClr val="5F73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050792" y="3671316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下载</a:t>
            </a:r>
            <a:endParaRPr lang="en-US" sz="870" dirty="0"/>
          </a:p>
        </p:txBody>
      </p:sp>
      <p:sp>
        <p:nvSpPr>
          <p:cNvPr id="49" name="Shape 47"/>
          <p:cNvSpPr/>
          <p:nvPr/>
        </p:nvSpPr>
        <p:spPr>
          <a:xfrm>
            <a:off x="676656" y="4370832"/>
            <a:ext cx="7543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76656" y="4370832"/>
            <a:ext cx="82296" cy="749808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05256" y="45079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审查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905256" y="480974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D99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VERIFIER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1764792" y="457200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1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专项审查场景下提出意见</a:t>
            </a:r>
            <a:endParaRPr lang="en-US" sz="910" dirty="0"/>
          </a:p>
        </p:txBody>
      </p:sp>
      <p:sp>
        <p:nvSpPr>
          <p:cNvPr id="54" name="Shape 52"/>
          <p:cNvSpPr/>
          <p:nvPr/>
        </p:nvSpPr>
        <p:spPr>
          <a:xfrm>
            <a:off x="3410712" y="4585716"/>
            <a:ext cx="530352" cy="283464"/>
          </a:xfrm>
          <a:prstGeom prst="round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447288" y="4585716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查看</a:t>
            </a:r>
            <a:endParaRPr lang="en-US" sz="870" dirty="0"/>
          </a:p>
        </p:txBody>
      </p:sp>
      <p:sp>
        <p:nvSpPr>
          <p:cNvPr id="56" name="Shape 54"/>
          <p:cNvSpPr/>
          <p:nvPr/>
        </p:nvSpPr>
        <p:spPr>
          <a:xfrm>
            <a:off x="4014216" y="4585716"/>
            <a:ext cx="530352" cy="283464"/>
          </a:xfrm>
          <a:prstGeom prst="round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050792" y="4585716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下载</a:t>
            </a:r>
            <a:endParaRPr lang="en-US" sz="870" dirty="0"/>
          </a:p>
        </p:txBody>
      </p:sp>
      <p:sp>
        <p:nvSpPr>
          <p:cNvPr id="58" name="Shape 56"/>
          <p:cNvSpPr/>
          <p:nvPr/>
        </p:nvSpPr>
        <p:spPr>
          <a:xfrm>
            <a:off x="4617720" y="4585716"/>
            <a:ext cx="676656" cy="283464"/>
          </a:xfrm>
          <a:prstGeom prst="round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654296" y="4585716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提意见</a:t>
            </a:r>
            <a:endParaRPr lang="en-US" sz="870" dirty="0"/>
          </a:p>
        </p:txBody>
      </p:sp>
      <p:sp>
        <p:nvSpPr>
          <p:cNvPr id="60" name="Shape 58"/>
          <p:cNvSpPr/>
          <p:nvPr/>
        </p:nvSpPr>
        <p:spPr>
          <a:xfrm>
            <a:off x="8549640" y="1627632"/>
            <a:ext cx="2926080" cy="4233672"/>
          </a:xfrm>
          <a:prstGeom prst="roundRect">
            <a:avLst/>
          </a:prstGeom>
          <a:solidFill>
            <a:srgbClr val="0D2E3A"/>
          </a:solidFill>
          <a:ln w="12700">
            <a:solidFill>
              <a:srgbClr val="0D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833104" y="18288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5B6A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权限推导链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833104" y="2331720"/>
            <a:ext cx="2340864" cy="658368"/>
          </a:xfrm>
          <a:prstGeom prst="roundRect">
            <a:avLst/>
          </a:prstGeom>
          <a:solidFill>
            <a:srgbClr val="143D49"/>
          </a:solidFill>
          <a:ln w="12700">
            <a:solidFill>
              <a:srgbClr val="315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9006840" y="243230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阶段 × 单位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9006840" y="2688336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70" dirty="0">
                <a:solidFill>
                  <a:srgbClr val="AFC8C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查《管理流程》矩阵</a:t>
            </a:r>
            <a:endParaRPr lang="en-US" sz="770" dirty="0"/>
          </a:p>
        </p:txBody>
      </p:sp>
      <p:sp>
        <p:nvSpPr>
          <p:cNvPr id="65" name="Shape 63"/>
          <p:cNvSpPr/>
          <p:nvPr/>
        </p:nvSpPr>
        <p:spPr>
          <a:xfrm rot="10800000">
            <a:off x="9848088" y="3026664"/>
            <a:ext cx="310896" cy="164592"/>
          </a:xfrm>
          <a:prstGeom prst="triangle">
            <a:avLst/>
          </a:prstGeom>
          <a:solidFill>
            <a:srgbClr val="25B6AB"/>
          </a:solidFill>
          <a:ln w="12700">
            <a:solidFill>
              <a:srgbClr val="25B6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833104" y="3264408"/>
            <a:ext cx="2340864" cy="658368"/>
          </a:xfrm>
          <a:prstGeom prst="roundRect">
            <a:avLst/>
          </a:prstGeom>
          <a:solidFill>
            <a:srgbClr val="174B57"/>
          </a:solidFill>
          <a:ln w="12700">
            <a:solidFill>
              <a:srgbClr val="315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9006840" y="336499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责任等级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9006840" y="3621024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70" dirty="0">
                <a:solidFill>
                  <a:srgbClr val="AFC8C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主办 / 相关 / 参与 / 审查</a:t>
            </a:r>
            <a:endParaRPr lang="en-US" sz="770" dirty="0"/>
          </a:p>
        </p:txBody>
      </p:sp>
      <p:sp>
        <p:nvSpPr>
          <p:cNvPr id="69" name="Shape 67"/>
          <p:cNvSpPr/>
          <p:nvPr/>
        </p:nvSpPr>
        <p:spPr>
          <a:xfrm rot="10800000">
            <a:off x="9848088" y="3959352"/>
            <a:ext cx="310896" cy="164592"/>
          </a:xfrm>
          <a:prstGeom prst="triangle">
            <a:avLst/>
          </a:prstGeom>
          <a:solidFill>
            <a:srgbClr val="25B6AB"/>
          </a:solidFill>
          <a:ln w="12700">
            <a:solidFill>
              <a:srgbClr val="25B6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8833104" y="4197096"/>
            <a:ext cx="2340864" cy="658368"/>
          </a:xfrm>
          <a:prstGeom prst="roundRect">
            <a:avLst/>
          </a:prstGeom>
          <a:solidFill>
            <a:srgbClr val="143D49"/>
          </a:solidFill>
          <a:ln w="12700">
            <a:solidFill>
              <a:srgbClr val="315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9006840" y="429768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动作集合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9006840" y="4553712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70" dirty="0">
                <a:solidFill>
                  <a:srgbClr val="AFC8C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由等级自动展开</a:t>
            </a:r>
            <a:endParaRPr lang="en-US" sz="770" dirty="0"/>
          </a:p>
        </p:txBody>
      </p:sp>
      <p:sp>
        <p:nvSpPr>
          <p:cNvPr id="73" name="Shape 71"/>
          <p:cNvSpPr/>
          <p:nvPr/>
        </p:nvSpPr>
        <p:spPr>
          <a:xfrm>
            <a:off x="8833104" y="5239512"/>
            <a:ext cx="2340864" cy="393192"/>
          </a:xfrm>
          <a:prstGeom prst="roundRect">
            <a:avLst/>
          </a:prstGeom>
          <a:solidFill>
            <a:srgbClr val="1A3F48"/>
          </a:solidFill>
          <a:ln w="12700">
            <a:solidFill>
              <a:srgbClr val="315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961120" y="5239512"/>
            <a:ext cx="2084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C9E1E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唯一例外：系统管理员可跨项目维护</a:t>
            </a:r>
            <a:endParaRPr lang="en-US" sz="720" dirty="0"/>
          </a:p>
        </p:txBody>
      </p:sp>
      <p:sp>
        <p:nvSpPr>
          <p:cNvPr id="75" name="Text 73"/>
          <p:cNvSpPr/>
          <p:nvPr/>
        </p:nvSpPr>
        <p:spPr>
          <a:xfrm>
            <a:off x="704088" y="5971032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设计原则：不单独给“角色”勾选 70+ 个阶段/单位组合，避免出现权限配置与工程责任不一致。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2E3A"/>
          </a:solidFill>
          <a:ln w="12700">
            <a:solidFill>
              <a:srgbClr val="0D2E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" y="566928"/>
            <a:ext cx="54864" cy="548640"/>
          </a:xfrm>
          <a:prstGeom prst="rect">
            <a:avLst/>
          </a:prstGeom>
          <a:solidFill>
            <a:srgbClr val="0E8F8B"/>
          </a:solidFill>
          <a:ln w="12700">
            <a:solidFill>
              <a:srgbClr val="0E8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40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ENFORCEMENT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94944" y="694944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一次请求如何完成判权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04088" y="11247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从身份到数据，五个关口依次校验；前端只优化体验，后端才是安全边界。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082528" y="4389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71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04088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桩基工程全过程管理平台  /  权限管理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16768" y="6473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71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1755648"/>
            <a:ext cx="1938528" cy="2121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32104" y="1947672"/>
            <a:ext cx="448056" cy="448056"/>
          </a:xfrm>
          <a:prstGeom prst="ellipse">
            <a:avLst/>
          </a:prstGeom>
          <a:solidFill>
            <a:srgbClr val="3E7FCB"/>
          </a:solidFill>
          <a:ln w="12700">
            <a:solidFill>
              <a:srgbClr val="3E7F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2104" y="194767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1380744" y="19751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身份认证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2615184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1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有效账号</a:t>
            </a:r>
            <a:endParaRPr lang="en-US" sz="91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1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JWT 未过期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 rot="5400000">
            <a:off x="2624328" y="2724912"/>
            <a:ext cx="182880" cy="219456"/>
          </a:xfrm>
          <a:prstGeom prst="triangle">
            <a:avLst/>
          </a:prstGeom>
          <a:solidFill>
            <a:srgbClr val="A9BEC2"/>
          </a:solidFill>
          <a:ln w="12700">
            <a:solidFill>
              <a:srgbClr val="A9BE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898648" y="1755648"/>
            <a:ext cx="1938528" cy="2121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072384" y="1947672"/>
            <a:ext cx="448056" cy="448056"/>
          </a:xfrm>
          <a:prstGeom prst="ellipse">
            <a:avLst/>
          </a:prstGeom>
          <a:solidFill>
            <a:srgbClr val="0E8F8B"/>
          </a:solidFill>
          <a:ln w="12700">
            <a:solidFill>
              <a:srgbClr val="0E8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072384" y="194767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621024" y="19751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项目准入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108960" y="2615184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1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存在有效</a:t>
            </a:r>
            <a:endParaRPr lang="en-US" sz="91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1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项目成员关系</a:t>
            </a:r>
            <a:endParaRPr lang="en-US" sz="910" dirty="0"/>
          </a:p>
        </p:txBody>
      </p:sp>
      <p:sp>
        <p:nvSpPr>
          <p:cNvPr id="21" name="Shape 19"/>
          <p:cNvSpPr/>
          <p:nvPr/>
        </p:nvSpPr>
        <p:spPr>
          <a:xfrm rot="5400000">
            <a:off x="4864608" y="2724912"/>
            <a:ext cx="182880" cy="219456"/>
          </a:xfrm>
          <a:prstGeom prst="triangle">
            <a:avLst/>
          </a:prstGeom>
          <a:solidFill>
            <a:srgbClr val="A9BEC2"/>
          </a:solidFill>
          <a:ln w="12700">
            <a:solidFill>
              <a:srgbClr val="A9BE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138928" y="1755648"/>
            <a:ext cx="1938528" cy="2121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312664" y="1947672"/>
            <a:ext cx="448056" cy="448056"/>
          </a:xfrm>
          <a:prstGeom prst="ellipse">
            <a:avLst/>
          </a:prstGeom>
          <a:solidFill>
            <a:srgbClr val="25B6AB"/>
          </a:solidFill>
          <a:ln w="12700">
            <a:solidFill>
              <a:srgbClr val="25B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12664" y="194767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5861304" y="19751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阶段准入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349240" y="2615184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1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阶段在可见</a:t>
            </a:r>
            <a:endParaRPr lang="en-US" sz="91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1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范围内</a:t>
            </a:r>
            <a:endParaRPr lang="en-US" sz="910" dirty="0"/>
          </a:p>
        </p:txBody>
      </p:sp>
      <p:sp>
        <p:nvSpPr>
          <p:cNvPr id="27" name="Shape 25"/>
          <p:cNvSpPr/>
          <p:nvPr/>
        </p:nvSpPr>
        <p:spPr>
          <a:xfrm rot="5400000">
            <a:off x="7104888" y="2724912"/>
            <a:ext cx="182880" cy="219456"/>
          </a:xfrm>
          <a:prstGeom prst="triangle">
            <a:avLst/>
          </a:prstGeom>
          <a:solidFill>
            <a:srgbClr val="A9BEC2"/>
          </a:solidFill>
          <a:ln w="12700">
            <a:solidFill>
              <a:srgbClr val="A9BE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79208" y="1755648"/>
            <a:ext cx="1938528" cy="2121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552944" y="1947672"/>
            <a:ext cx="448056" cy="44805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52944" y="194767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8101584" y="19751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动作判定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589520" y="2615184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1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责任等级允许</a:t>
            </a:r>
            <a:endParaRPr lang="en-US" sz="91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1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该动作</a:t>
            </a:r>
            <a:endParaRPr lang="en-US" sz="910" dirty="0"/>
          </a:p>
        </p:txBody>
      </p:sp>
      <p:sp>
        <p:nvSpPr>
          <p:cNvPr id="33" name="Shape 31"/>
          <p:cNvSpPr/>
          <p:nvPr/>
        </p:nvSpPr>
        <p:spPr>
          <a:xfrm rot="5400000">
            <a:off x="9345168" y="2724912"/>
            <a:ext cx="182880" cy="219456"/>
          </a:xfrm>
          <a:prstGeom prst="triangle">
            <a:avLst/>
          </a:prstGeom>
          <a:solidFill>
            <a:srgbClr val="A9BEC2"/>
          </a:solidFill>
          <a:ln w="12700">
            <a:solidFill>
              <a:srgbClr val="A9BE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619488" y="1755648"/>
            <a:ext cx="1938528" cy="2121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793224" y="1947672"/>
            <a:ext cx="448056" cy="448056"/>
          </a:xfrm>
          <a:prstGeom prst="ellipse">
            <a:avLst/>
          </a:prstGeom>
          <a:solidFill>
            <a:srgbClr val="C75B5B"/>
          </a:solidFill>
          <a:ln w="12700">
            <a:solidFill>
              <a:srgbClr val="C7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793224" y="194767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10341864" y="19751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数据过滤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829800" y="2615184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1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查询条件先行</a:t>
            </a:r>
            <a:endParaRPr lang="en-US" sz="91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1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只返回可见数据</a:t>
            </a:r>
            <a:endParaRPr lang="en-US" sz="910" dirty="0"/>
          </a:p>
        </p:txBody>
      </p:sp>
      <p:sp>
        <p:nvSpPr>
          <p:cNvPr id="39" name="Shape 37"/>
          <p:cNvSpPr/>
          <p:nvPr/>
        </p:nvSpPr>
        <p:spPr>
          <a:xfrm>
            <a:off x="676656" y="4169664"/>
            <a:ext cx="5230368" cy="1417320"/>
          </a:xfrm>
          <a:prstGeom prst="roundRect">
            <a:avLst/>
          </a:prstGeom>
          <a:solidFill>
            <a:srgbClr val="F8EBCB"/>
          </a:solidFill>
          <a:ln w="12700">
            <a:solidFill>
              <a:srgbClr val="F0D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32688" y="442569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7A581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前端体验层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32688" y="4718304"/>
            <a:ext cx="4526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6B54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隐藏无权按钮、灰化无权限阶段、提示“为什么不能操作”。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32688" y="517550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8A713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目的：减少误操作，不承担安全职责。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08192" y="4169664"/>
            <a:ext cx="5394960" cy="1417320"/>
          </a:xfrm>
          <a:prstGeom prst="roundRect">
            <a:avLst/>
          </a:prstGeom>
          <a:solidFill>
            <a:srgbClr val="0D2E3A"/>
          </a:solidFill>
          <a:ln w="12700">
            <a:solidFill>
              <a:srgbClr val="0D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82512" y="442569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5B6A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后端安全层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82512" y="4718304"/>
            <a:ext cx="4663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每个接口重新构建 Principal，重新校验；项目与阶段过滤进入 SQL。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555480" y="5138928"/>
            <a:ext cx="1664208" cy="274320"/>
          </a:xfrm>
          <a:prstGeom prst="roundRect">
            <a:avLst/>
          </a:prstGeom>
          <a:solidFill>
            <a:srgbClr val="C75B5B"/>
          </a:solidFill>
          <a:ln w="12700">
            <a:solidFill>
              <a:srgbClr val="C7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592056" y="513892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未通过 → 403 / 空列表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713232" y="5925312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统一入口：can(action, project, stage)  ·  列表场景：scoped query 先行过滤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2E3A"/>
          </a:solidFill>
          <a:ln w="12700">
            <a:solidFill>
              <a:srgbClr val="0D2E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" y="566928"/>
            <a:ext cx="54864" cy="548640"/>
          </a:xfrm>
          <a:prstGeom prst="rect">
            <a:avLst/>
          </a:prstGeom>
          <a:solidFill>
            <a:srgbClr val="0E8F8B"/>
          </a:solidFill>
          <a:ln w="12700">
            <a:solidFill>
              <a:srgbClr val="0E8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40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SCENARIO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94944" y="694944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同一施工阶段，不同单位看到不同动作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04088" y="11247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项目、阶段、数据底稿相同；差异全部来自责任等级。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082528" y="4389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71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04088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桩基工程全过程管理平台  /  权限管理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16768" y="6473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71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1719072"/>
            <a:ext cx="25146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" y="1719072"/>
            <a:ext cx="2514600" cy="91440"/>
          </a:xfrm>
          <a:prstGeom prst="rect">
            <a:avLst/>
          </a:prstGeom>
          <a:solidFill>
            <a:srgbClr val="0E8F8B"/>
          </a:solidFill>
          <a:ln w="12700">
            <a:solidFill>
              <a:srgbClr val="0E8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77824" y="198424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总包单位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68296" y="1956816"/>
            <a:ext cx="576072" cy="274320"/>
          </a:xfrm>
          <a:prstGeom prst="roundRect">
            <a:avLst/>
          </a:prstGeom>
          <a:solidFill>
            <a:srgbClr val="D8F1ED"/>
          </a:solidFill>
          <a:ln w="12700">
            <a:solidFill>
              <a:srgbClr val="D8F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04872" y="19568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主办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877824" y="2542032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E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1426464" y="26883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项允许动作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77824" y="322783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本阶段成果的主要责任单位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7824" y="3858768"/>
            <a:ext cx="896112" cy="274320"/>
          </a:xfrm>
          <a:prstGeom prst="roundRect">
            <a:avLst/>
          </a:prstGeom>
          <a:solidFill>
            <a:srgbClr val="D8F1ED"/>
          </a:solidFill>
          <a:ln w="12700">
            <a:solidFill>
              <a:srgbClr val="D8F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3858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查看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901952" y="3858768"/>
            <a:ext cx="896112" cy="274320"/>
          </a:xfrm>
          <a:prstGeom prst="roundRect">
            <a:avLst/>
          </a:prstGeom>
          <a:solidFill>
            <a:srgbClr val="D8F1ED"/>
          </a:solidFill>
          <a:ln w="12700">
            <a:solidFill>
              <a:srgbClr val="D8F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938528" y="3858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下载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77824" y="4242816"/>
            <a:ext cx="896112" cy="274320"/>
          </a:xfrm>
          <a:prstGeom prst="roundRect">
            <a:avLst/>
          </a:prstGeom>
          <a:solidFill>
            <a:srgbClr val="D8F1ED"/>
          </a:solidFill>
          <a:ln w="12700">
            <a:solidFill>
              <a:srgbClr val="D8F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4242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编辑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901952" y="4242816"/>
            <a:ext cx="896112" cy="274320"/>
          </a:xfrm>
          <a:prstGeom prst="roundRect">
            <a:avLst/>
          </a:prstGeom>
          <a:solidFill>
            <a:srgbClr val="D8F1ED"/>
          </a:solidFill>
          <a:ln w="12700">
            <a:solidFill>
              <a:srgbClr val="D8F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938528" y="4242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提交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77824" y="4626864"/>
            <a:ext cx="896112" cy="274320"/>
          </a:xfrm>
          <a:prstGeom prst="roundRect">
            <a:avLst/>
          </a:prstGeom>
          <a:solidFill>
            <a:srgbClr val="D8F1ED"/>
          </a:solidFill>
          <a:ln w="12700">
            <a:solidFill>
              <a:srgbClr val="D8F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6268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发布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901952" y="4626864"/>
            <a:ext cx="896112" cy="274320"/>
          </a:xfrm>
          <a:prstGeom prst="roundRect">
            <a:avLst/>
          </a:prstGeom>
          <a:solidFill>
            <a:srgbClr val="D8F1ED"/>
          </a:solidFill>
          <a:ln w="12700">
            <a:solidFill>
              <a:srgbClr val="D8F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938528" y="46268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签认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511296" y="1719072"/>
            <a:ext cx="25146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511296" y="1719072"/>
            <a:ext cx="2514600" cy="91440"/>
          </a:xfrm>
          <a:prstGeom prst="rect">
            <a:avLst/>
          </a:prstGeom>
          <a:solidFill>
            <a:srgbClr val="3E7FCB"/>
          </a:solidFill>
          <a:ln w="12700">
            <a:solidFill>
              <a:srgbClr val="3E7FC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730752" y="198424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分包单位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221224" y="1956816"/>
            <a:ext cx="576072" cy="274320"/>
          </a:xfrm>
          <a:prstGeom prst="round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257800" y="19568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3E7FC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相关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3730752" y="2542032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3E7F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900" dirty="0"/>
          </a:p>
        </p:txBody>
      </p:sp>
      <p:sp>
        <p:nvSpPr>
          <p:cNvPr id="36" name="Text 34"/>
          <p:cNvSpPr/>
          <p:nvPr/>
        </p:nvSpPr>
        <p:spPr>
          <a:xfrm>
            <a:off x="4279392" y="26883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项允许动作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730752" y="322783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参与协同并完成复核确认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730752" y="3858768"/>
            <a:ext cx="896112" cy="274320"/>
          </a:xfrm>
          <a:prstGeom prst="round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767328" y="3858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3E7FC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查看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54880" y="3858768"/>
            <a:ext cx="896112" cy="274320"/>
          </a:xfrm>
          <a:prstGeom prst="round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91456" y="3858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3E7FC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下载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730752" y="4242816"/>
            <a:ext cx="896112" cy="274320"/>
          </a:xfrm>
          <a:prstGeom prst="round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767328" y="4242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3E7FC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签认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54880" y="4242816"/>
            <a:ext cx="896112" cy="274320"/>
          </a:xfrm>
          <a:prstGeom prst="round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91456" y="4242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3E7FC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提意见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364224" y="1719072"/>
            <a:ext cx="25146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364224" y="1719072"/>
            <a:ext cx="2514600" cy="91440"/>
          </a:xfrm>
          <a:prstGeom prst="rect">
            <a:avLst/>
          </a:prstGeom>
          <a:solidFill>
            <a:srgbClr val="3E7FCB"/>
          </a:solidFill>
          <a:ln w="12700">
            <a:solidFill>
              <a:srgbClr val="3E7FC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583680" y="198424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监理单位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074152" y="1956816"/>
            <a:ext cx="576072" cy="274320"/>
          </a:xfrm>
          <a:prstGeom prst="round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110728" y="19568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3E7FC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相关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6583680" y="2542032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3E7F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900" dirty="0"/>
          </a:p>
        </p:txBody>
      </p:sp>
      <p:sp>
        <p:nvSpPr>
          <p:cNvPr id="52" name="Text 50"/>
          <p:cNvSpPr/>
          <p:nvPr/>
        </p:nvSpPr>
        <p:spPr>
          <a:xfrm>
            <a:off x="7132320" y="26883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项允许动作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583680" y="322783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参与复核并提出监理意见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583680" y="3858768"/>
            <a:ext cx="896112" cy="274320"/>
          </a:xfrm>
          <a:prstGeom prst="round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620256" y="3858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3E7FC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查看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607808" y="3858768"/>
            <a:ext cx="896112" cy="274320"/>
          </a:xfrm>
          <a:prstGeom prst="round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644384" y="3858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3E7FC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下载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583680" y="4242816"/>
            <a:ext cx="896112" cy="274320"/>
          </a:xfrm>
          <a:prstGeom prst="round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620256" y="4242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3E7FC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签认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607808" y="4242816"/>
            <a:ext cx="896112" cy="274320"/>
          </a:xfrm>
          <a:prstGeom prst="round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644384" y="4242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3E7FC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提意见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9217152" y="1719072"/>
            <a:ext cx="25146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9217152" y="1719072"/>
            <a:ext cx="2514600" cy="91440"/>
          </a:xfrm>
          <a:prstGeom prst="rect">
            <a:avLst/>
          </a:prstGeom>
          <a:solidFill>
            <a:srgbClr val="5F737B"/>
          </a:solidFill>
          <a:ln w="12700">
            <a:solidFill>
              <a:srgbClr val="5F737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9436608" y="198424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建设单位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10927080" y="1956816"/>
            <a:ext cx="576072" cy="274320"/>
          </a:xfrm>
          <a:prstGeom prst="roundRect">
            <a:avLst/>
          </a:prstGeom>
          <a:solidFill>
            <a:srgbClr val="EAF0F1"/>
          </a:solidFill>
          <a:ln w="12700">
            <a:solidFill>
              <a:srgbClr val="EA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0963656" y="19568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5F737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参与</a:t>
            </a:r>
            <a:endParaRPr lang="en-US" sz="820" dirty="0"/>
          </a:p>
        </p:txBody>
      </p:sp>
      <p:sp>
        <p:nvSpPr>
          <p:cNvPr id="67" name="Text 65"/>
          <p:cNvSpPr/>
          <p:nvPr/>
        </p:nvSpPr>
        <p:spPr>
          <a:xfrm>
            <a:off x="9436608" y="2542032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5F7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900" dirty="0"/>
          </a:p>
        </p:txBody>
      </p:sp>
      <p:sp>
        <p:nvSpPr>
          <p:cNvPr id="68" name="Text 66"/>
          <p:cNvSpPr/>
          <p:nvPr/>
        </p:nvSpPr>
        <p:spPr>
          <a:xfrm>
            <a:off x="9985248" y="26883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项允许动作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9436608" y="322783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知情、查阅与下载留档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9436608" y="3858768"/>
            <a:ext cx="896112" cy="274320"/>
          </a:xfrm>
          <a:prstGeom prst="roundRect">
            <a:avLst/>
          </a:prstGeom>
          <a:solidFill>
            <a:srgbClr val="EAF0F1"/>
          </a:solidFill>
          <a:ln w="12700">
            <a:solidFill>
              <a:srgbClr val="EA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9473184" y="3858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F737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查看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0460736" y="3858768"/>
            <a:ext cx="896112" cy="274320"/>
          </a:xfrm>
          <a:prstGeom prst="roundRect">
            <a:avLst/>
          </a:prstGeom>
          <a:solidFill>
            <a:srgbClr val="EAF0F1"/>
          </a:solidFill>
          <a:ln w="12700">
            <a:solidFill>
              <a:srgbClr val="EA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10497312" y="3858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F737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下载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85800" y="5532120"/>
            <a:ext cx="10808208" cy="566928"/>
          </a:xfrm>
          <a:prstGeom prst="roundRect">
            <a:avLst/>
          </a:prstGeom>
          <a:solidFill>
            <a:srgbClr val="0D2E3A"/>
          </a:solidFill>
          <a:ln w="12700">
            <a:solidFill>
              <a:srgbClr val="0D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914400" y="568756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AFC8C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同一份施工资料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2148840" y="563270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总包可发起与发布  →  分包、监理可复核签认  →  建设方可查阅留档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2E3A"/>
          </a:solidFill>
          <a:ln w="12700">
            <a:solidFill>
              <a:srgbClr val="0D2E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" y="566928"/>
            <a:ext cx="54864" cy="548640"/>
          </a:xfrm>
          <a:prstGeom prst="rect">
            <a:avLst/>
          </a:prstGeom>
          <a:solidFill>
            <a:srgbClr val="0E8F8B"/>
          </a:solidFill>
          <a:ln w="12700">
            <a:solidFill>
              <a:srgbClr val="0E8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40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WORKFLOW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94944" y="694944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两级签认，把流程责任落到单位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04088" y="11247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主办单位确认 + 相关单位复核；发布责任始终由主办单位承担。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082528" y="4389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71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04088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桩基工程全过程管理平台  /  权限管理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16768" y="6473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71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64792" y="1627632"/>
            <a:ext cx="1883664" cy="457200"/>
          </a:xfrm>
          <a:prstGeom prst="roundRect">
            <a:avLst/>
          </a:prstGeom>
          <a:solidFill>
            <a:srgbClr val="0D2E3A"/>
          </a:solidFill>
          <a:ln w="12700">
            <a:solidFill>
              <a:srgbClr val="0D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64792" y="1627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上传草稿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3721608" y="1627632"/>
            <a:ext cx="1883664" cy="457200"/>
          </a:xfrm>
          <a:prstGeom prst="roundRect">
            <a:avLst/>
          </a:prstGeom>
          <a:solidFill>
            <a:srgbClr val="0D2E3A"/>
          </a:solidFill>
          <a:ln w="12700">
            <a:solidFill>
              <a:srgbClr val="0D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21608" y="1627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主办确认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5678424" y="1627632"/>
            <a:ext cx="1883664" cy="457200"/>
          </a:xfrm>
          <a:prstGeom prst="roundRect">
            <a:avLst/>
          </a:prstGeom>
          <a:solidFill>
            <a:srgbClr val="0D2E3A"/>
          </a:solidFill>
          <a:ln w="12700">
            <a:solidFill>
              <a:srgbClr val="0D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78424" y="1627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相关复核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7635240" y="1627632"/>
            <a:ext cx="1883664" cy="457200"/>
          </a:xfrm>
          <a:prstGeom prst="roundRect">
            <a:avLst/>
          </a:prstGeom>
          <a:solidFill>
            <a:srgbClr val="0D2E3A"/>
          </a:solidFill>
          <a:ln w="12700">
            <a:solidFill>
              <a:srgbClr val="0D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35240" y="1627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主办发布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9592056" y="1627632"/>
            <a:ext cx="1883664" cy="457200"/>
          </a:xfrm>
          <a:prstGeom prst="roundRect">
            <a:avLst/>
          </a:prstGeom>
          <a:solidFill>
            <a:srgbClr val="0D2E3A"/>
          </a:solidFill>
          <a:ln w="12700">
            <a:solidFill>
              <a:srgbClr val="0D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592056" y="1627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后续修订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658368" y="2304288"/>
            <a:ext cx="969264" cy="658368"/>
          </a:xfrm>
          <a:prstGeom prst="roundRect">
            <a:avLst/>
          </a:prstGeom>
          <a:solidFill>
            <a:srgbClr val="D8F1ED"/>
          </a:solidFill>
          <a:ln w="12700">
            <a:solidFill>
              <a:srgbClr val="D8F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" y="2304288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主办单位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1764792" y="2304288"/>
            <a:ext cx="1883664" cy="658368"/>
          </a:xfrm>
          <a:prstGeom prst="rect">
            <a:avLst/>
          </a:prstGeom>
          <a:solidFill>
            <a:srgbClr val="F3F6F6"/>
          </a:solidFill>
          <a:ln w="8890">
            <a:solidFill>
              <a:srgbClr val="E3EA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721608" y="2304288"/>
            <a:ext cx="1883664" cy="658368"/>
          </a:xfrm>
          <a:prstGeom prst="rect">
            <a:avLst/>
          </a:prstGeom>
          <a:solidFill>
            <a:srgbClr val="EDF2F3"/>
          </a:solidFill>
          <a:ln w="8890">
            <a:solidFill>
              <a:srgbClr val="E3EA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678424" y="2304288"/>
            <a:ext cx="1883664" cy="658368"/>
          </a:xfrm>
          <a:prstGeom prst="rect">
            <a:avLst/>
          </a:prstGeom>
          <a:solidFill>
            <a:srgbClr val="F3F6F6"/>
          </a:solidFill>
          <a:ln w="8890">
            <a:solidFill>
              <a:srgbClr val="E3EA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635240" y="2304288"/>
            <a:ext cx="1883664" cy="658368"/>
          </a:xfrm>
          <a:prstGeom prst="rect">
            <a:avLst/>
          </a:prstGeom>
          <a:solidFill>
            <a:srgbClr val="EDF2F3"/>
          </a:solidFill>
          <a:ln w="8890">
            <a:solidFill>
              <a:srgbClr val="E3EA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592056" y="2304288"/>
            <a:ext cx="1883664" cy="658368"/>
          </a:xfrm>
          <a:prstGeom prst="rect">
            <a:avLst/>
          </a:prstGeom>
          <a:solidFill>
            <a:srgbClr val="F3F6F6"/>
          </a:solidFill>
          <a:ln w="8890">
            <a:solidFill>
              <a:srgbClr val="E3EA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58368" y="3264408"/>
            <a:ext cx="969264" cy="658368"/>
          </a:xfrm>
          <a:prstGeom prst="round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8368" y="3264408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E7FC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相关单位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1764792" y="3264408"/>
            <a:ext cx="1883664" cy="658368"/>
          </a:xfrm>
          <a:prstGeom prst="rect">
            <a:avLst/>
          </a:prstGeom>
          <a:solidFill>
            <a:srgbClr val="F3F6F6"/>
          </a:solidFill>
          <a:ln w="8890">
            <a:solidFill>
              <a:srgbClr val="E3EA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721608" y="3264408"/>
            <a:ext cx="1883664" cy="658368"/>
          </a:xfrm>
          <a:prstGeom prst="rect">
            <a:avLst/>
          </a:prstGeom>
          <a:solidFill>
            <a:srgbClr val="EDF2F3"/>
          </a:solidFill>
          <a:ln w="8890">
            <a:solidFill>
              <a:srgbClr val="E3EA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678424" y="3264408"/>
            <a:ext cx="1883664" cy="658368"/>
          </a:xfrm>
          <a:prstGeom prst="rect">
            <a:avLst/>
          </a:prstGeom>
          <a:solidFill>
            <a:srgbClr val="F3F6F6"/>
          </a:solidFill>
          <a:ln w="8890">
            <a:solidFill>
              <a:srgbClr val="E3EA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635240" y="3264408"/>
            <a:ext cx="1883664" cy="658368"/>
          </a:xfrm>
          <a:prstGeom prst="rect">
            <a:avLst/>
          </a:prstGeom>
          <a:solidFill>
            <a:srgbClr val="EDF2F3"/>
          </a:solidFill>
          <a:ln w="8890">
            <a:solidFill>
              <a:srgbClr val="E3EA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592056" y="3264408"/>
            <a:ext cx="1883664" cy="658368"/>
          </a:xfrm>
          <a:prstGeom prst="rect">
            <a:avLst/>
          </a:prstGeom>
          <a:solidFill>
            <a:srgbClr val="F3F6F6"/>
          </a:solidFill>
          <a:ln w="8890">
            <a:solidFill>
              <a:srgbClr val="E3EA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58368" y="4224528"/>
            <a:ext cx="969264" cy="658368"/>
          </a:xfrm>
          <a:prstGeom prst="roundRect">
            <a:avLst/>
          </a:prstGeom>
          <a:solidFill>
            <a:srgbClr val="F8EBCB"/>
          </a:solidFill>
          <a:ln w="12700">
            <a:solidFill>
              <a:srgbClr val="F8EB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8368" y="4224528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D99A2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审查单位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1764792" y="4224528"/>
            <a:ext cx="1883664" cy="658368"/>
          </a:xfrm>
          <a:prstGeom prst="rect">
            <a:avLst/>
          </a:prstGeom>
          <a:solidFill>
            <a:srgbClr val="F3F6F6"/>
          </a:solidFill>
          <a:ln w="8890">
            <a:solidFill>
              <a:srgbClr val="E3EA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721608" y="4224528"/>
            <a:ext cx="1883664" cy="658368"/>
          </a:xfrm>
          <a:prstGeom prst="rect">
            <a:avLst/>
          </a:prstGeom>
          <a:solidFill>
            <a:srgbClr val="EDF2F3"/>
          </a:solidFill>
          <a:ln w="8890">
            <a:solidFill>
              <a:srgbClr val="E3EA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678424" y="4224528"/>
            <a:ext cx="1883664" cy="658368"/>
          </a:xfrm>
          <a:prstGeom prst="rect">
            <a:avLst/>
          </a:prstGeom>
          <a:solidFill>
            <a:srgbClr val="F3F6F6"/>
          </a:solidFill>
          <a:ln w="8890">
            <a:solidFill>
              <a:srgbClr val="E3EA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635240" y="4224528"/>
            <a:ext cx="1883664" cy="658368"/>
          </a:xfrm>
          <a:prstGeom prst="rect">
            <a:avLst/>
          </a:prstGeom>
          <a:solidFill>
            <a:srgbClr val="EDF2F3"/>
          </a:solidFill>
          <a:ln w="8890">
            <a:solidFill>
              <a:srgbClr val="E3EA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592056" y="4224528"/>
            <a:ext cx="1883664" cy="658368"/>
          </a:xfrm>
          <a:prstGeom prst="rect">
            <a:avLst/>
          </a:prstGeom>
          <a:solidFill>
            <a:srgbClr val="F3F6F6"/>
          </a:solidFill>
          <a:ln w="8890">
            <a:solidFill>
              <a:srgbClr val="E3EA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58368" y="5184648"/>
            <a:ext cx="969264" cy="658368"/>
          </a:xfrm>
          <a:prstGeom prst="roundRect">
            <a:avLst/>
          </a:prstGeom>
          <a:solidFill>
            <a:srgbClr val="EAF0F1"/>
          </a:solidFill>
          <a:ln w="12700">
            <a:solidFill>
              <a:srgbClr val="EA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8368" y="5184648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5F737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文件状态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1764792" y="5184648"/>
            <a:ext cx="1883664" cy="658368"/>
          </a:xfrm>
          <a:prstGeom prst="rect">
            <a:avLst/>
          </a:prstGeom>
          <a:solidFill>
            <a:srgbClr val="F3F6F6"/>
          </a:solidFill>
          <a:ln w="8890">
            <a:solidFill>
              <a:srgbClr val="E3EA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721608" y="5184648"/>
            <a:ext cx="1883664" cy="658368"/>
          </a:xfrm>
          <a:prstGeom prst="rect">
            <a:avLst/>
          </a:prstGeom>
          <a:solidFill>
            <a:srgbClr val="EDF2F3"/>
          </a:solidFill>
          <a:ln w="8890">
            <a:solidFill>
              <a:srgbClr val="E3EA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678424" y="5184648"/>
            <a:ext cx="1883664" cy="658368"/>
          </a:xfrm>
          <a:prstGeom prst="rect">
            <a:avLst/>
          </a:prstGeom>
          <a:solidFill>
            <a:srgbClr val="F3F6F6"/>
          </a:solidFill>
          <a:ln w="8890">
            <a:solidFill>
              <a:srgbClr val="E3EA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635240" y="5184648"/>
            <a:ext cx="1883664" cy="658368"/>
          </a:xfrm>
          <a:prstGeom prst="rect">
            <a:avLst/>
          </a:prstGeom>
          <a:solidFill>
            <a:srgbClr val="EDF2F3"/>
          </a:solidFill>
          <a:ln w="8890">
            <a:solidFill>
              <a:srgbClr val="E3EA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592056" y="5184648"/>
            <a:ext cx="1883664" cy="658368"/>
          </a:xfrm>
          <a:prstGeom prst="rect">
            <a:avLst/>
          </a:prstGeom>
          <a:solidFill>
            <a:srgbClr val="F3F6F6"/>
          </a:solidFill>
          <a:ln w="8890">
            <a:solidFill>
              <a:srgbClr val="E3EA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837944" y="2377440"/>
            <a:ext cx="1737360" cy="512064"/>
          </a:xfrm>
          <a:prstGeom prst="roundRect">
            <a:avLst/>
          </a:prstGeom>
          <a:solidFill>
            <a:srgbClr val="D8F1ED"/>
          </a:solidFill>
          <a:ln w="12700">
            <a:solidFill>
              <a:srgbClr val="D8F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892808" y="243230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创建 / 上传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1892808" y="264261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EDIT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794760" y="2377440"/>
            <a:ext cx="1737360" cy="512064"/>
          </a:xfrm>
          <a:prstGeom prst="roundRect">
            <a:avLst/>
          </a:prstGeom>
          <a:solidFill>
            <a:srgbClr val="D8F1ED"/>
          </a:solidFill>
          <a:ln w="12700">
            <a:solidFill>
              <a:srgbClr val="D8F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849624" y="243230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主办确认</a:t>
            </a:r>
            <a:endParaRPr lang="en-US" sz="920" dirty="0"/>
          </a:p>
        </p:txBody>
      </p:sp>
      <p:sp>
        <p:nvSpPr>
          <p:cNvPr id="53" name="Text 51"/>
          <p:cNvSpPr/>
          <p:nvPr/>
        </p:nvSpPr>
        <p:spPr>
          <a:xfrm>
            <a:off x="3849624" y="264261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CONFIRM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7708392" y="2377440"/>
            <a:ext cx="1737360" cy="512064"/>
          </a:xfrm>
          <a:prstGeom prst="roundRect">
            <a:avLst/>
          </a:prstGeom>
          <a:solidFill>
            <a:srgbClr val="D8F1ED"/>
          </a:solidFill>
          <a:ln w="12700">
            <a:solidFill>
              <a:srgbClr val="D8F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763256" y="243230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发布</a:t>
            </a:r>
            <a:endParaRPr lang="en-US" sz="920" dirty="0"/>
          </a:p>
        </p:txBody>
      </p:sp>
      <p:sp>
        <p:nvSpPr>
          <p:cNvPr id="56" name="Text 54"/>
          <p:cNvSpPr/>
          <p:nvPr/>
        </p:nvSpPr>
        <p:spPr>
          <a:xfrm>
            <a:off x="7763256" y="264261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PUBLISH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9665208" y="2377440"/>
            <a:ext cx="1737360" cy="512064"/>
          </a:xfrm>
          <a:prstGeom prst="roundRect">
            <a:avLst/>
          </a:prstGeom>
          <a:solidFill>
            <a:srgbClr val="D8F1ED"/>
          </a:solidFill>
          <a:ln w="12700">
            <a:solidFill>
              <a:srgbClr val="D8F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720072" y="243230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发起修订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9720072" y="264261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NEW VERSION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5751576" y="3337560"/>
            <a:ext cx="1737360" cy="512064"/>
          </a:xfrm>
          <a:prstGeom prst="round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806440" y="339242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3E7FC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复核 / 签认 / 提意见</a:t>
            </a:r>
            <a:endParaRPr lang="en-US" sz="920" dirty="0"/>
          </a:p>
        </p:txBody>
      </p:sp>
      <p:sp>
        <p:nvSpPr>
          <p:cNvPr id="62" name="Text 60"/>
          <p:cNvSpPr/>
          <p:nvPr/>
        </p:nvSpPr>
        <p:spPr>
          <a:xfrm>
            <a:off x="5806440" y="36027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3E7FC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CONFIRM · COMMENT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5751576" y="4297680"/>
            <a:ext cx="1737360" cy="512064"/>
          </a:xfrm>
          <a:prstGeom prst="roundRect">
            <a:avLst/>
          </a:prstGeom>
          <a:solidFill>
            <a:srgbClr val="F8EBCB"/>
          </a:solidFill>
          <a:ln w="12700">
            <a:solidFill>
              <a:srgbClr val="F8EB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806440" y="435254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D99A2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提出审查意见</a:t>
            </a:r>
            <a:endParaRPr lang="en-US" sz="920" dirty="0"/>
          </a:p>
        </p:txBody>
      </p:sp>
      <p:sp>
        <p:nvSpPr>
          <p:cNvPr id="65" name="Text 63"/>
          <p:cNvSpPr/>
          <p:nvPr/>
        </p:nvSpPr>
        <p:spPr>
          <a:xfrm>
            <a:off x="5806440" y="456285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D99A2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COMMENT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1837944" y="5257800"/>
            <a:ext cx="1737360" cy="512064"/>
          </a:xfrm>
          <a:prstGeom prst="roundRect">
            <a:avLst/>
          </a:prstGeom>
          <a:solidFill>
            <a:srgbClr val="EAF0F1"/>
          </a:solidFill>
          <a:ln w="12700">
            <a:solidFill>
              <a:srgbClr val="EA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892808" y="531266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5F737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草稿</a:t>
            </a:r>
            <a:endParaRPr lang="en-US" sz="920" dirty="0"/>
          </a:p>
        </p:txBody>
      </p:sp>
      <p:sp>
        <p:nvSpPr>
          <p:cNvPr id="68" name="Text 66"/>
          <p:cNvSpPr/>
          <p:nvPr/>
        </p:nvSpPr>
        <p:spPr>
          <a:xfrm>
            <a:off x="1892808" y="552297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5F737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DRAFT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3794760" y="5257800"/>
            <a:ext cx="1737360" cy="512064"/>
          </a:xfrm>
          <a:prstGeom prst="roundRect">
            <a:avLst/>
          </a:prstGeom>
          <a:solidFill>
            <a:srgbClr val="EAF0F1"/>
          </a:solidFill>
          <a:ln w="12700">
            <a:solidFill>
              <a:srgbClr val="EA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3849624" y="531266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5F737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确认中</a:t>
            </a:r>
            <a:endParaRPr lang="en-US" sz="920" dirty="0"/>
          </a:p>
        </p:txBody>
      </p:sp>
      <p:sp>
        <p:nvSpPr>
          <p:cNvPr id="71" name="Text 69"/>
          <p:cNvSpPr/>
          <p:nvPr/>
        </p:nvSpPr>
        <p:spPr>
          <a:xfrm>
            <a:off x="3849624" y="552297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5F737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CHECKING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5751576" y="5257800"/>
            <a:ext cx="1737360" cy="512064"/>
          </a:xfrm>
          <a:prstGeom prst="roundRect">
            <a:avLst/>
          </a:prstGeom>
          <a:solidFill>
            <a:srgbClr val="EAF0F1"/>
          </a:solidFill>
          <a:ln w="12700">
            <a:solidFill>
              <a:srgbClr val="EA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806440" y="531266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5F737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复核中</a:t>
            </a:r>
            <a:endParaRPr lang="en-US" sz="920" dirty="0"/>
          </a:p>
        </p:txBody>
      </p:sp>
      <p:sp>
        <p:nvSpPr>
          <p:cNvPr id="74" name="Text 72"/>
          <p:cNvSpPr/>
          <p:nvPr/>
        </p:nvSpPr>
        <p:spPr>
          <a:xfrm>
            <a:off x="5806440" y="552297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5F737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REVIEWING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7708392" y="5257800"/>
            <a:ext cx="1737360" cy="512064"/>
          </a:xfrm>
          <a:prstGeom prst="roundRect">
            <a:avLst/>
          </a:prstGeom>
          <a:solidFill>
            <a:srgbClr val="EAF0F1"/>
          </a:solidFill>
          <a:ln w="12700">
            <a:solidFill>
              <a:srgbClr val="EA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7763256" y="531266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5F737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已发布</a:t>
            </a:r>
            <a:endParaRPr lang="en-US" sz="920" dirty="0"/>
          </a:p>
        </p:txBody>
      </p:sp>
      <p:sp>
        <p:nvSpPr>
          <p:cNvPr id="77" name="Text 75"/>
          <p:cNvSpPr/>
          <p:nvPr/>
        </p:nvSpPr>
        <p:spPr>
          <a:xfrm>
            <a:off x="7763256" y="552297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5F737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PUBLISHED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9665208" y="5257800"/>
            <a:ext cx="1737360" cy="512064"/>
          </a:xfrm>
          <a:prstGeom prst="roundRect">
            <a:avLst/>
          </a:prstGeom>
          <a:solidFill>
            <a:srgbClr val="EAF0F1"/>
          </a:solidFill>
          <a:ln w="12700">
            <a:solidFill>
              <a:srgbClr val="EA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9720072" y="531266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5F737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新版本</a:t>
            </a:r>
            <a:endParaRPr lang="en-US" sz="920" dirty="0"/>
          </a:p>
        </p:txBody>
      </p:sp>
      <p:sp>
        <p:nvSpPr>
          <p:cNvPr id="80" name="Text 78"/>
          <p:cNvSpPr/>
          <p:nvPr/>
        </p:nvSpPr>
        <p:spPr>
          <a:xfrm>
            <a:off x="9720072" y="552297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5F737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IMMUTABLE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 rot="5400000">
            <a:off x="3707892" y="2532888"/>
            <a:ext cx="146304" cy="182880"/>
          </a:xfrm>
          <a:prstGeom prst="triangle">
            <a:avLst/>
          </a:prstGeom>
          <a:solidFill>
            <a:srgbClr val="9EB3B7"/>
          </a:solidFill>
          <a:ln w="12700">
            <a:solidFill>
              <a:srgbClr val="9EB3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 rot="5400000">
            <a:off x="5664708" y="2532888"/>
            <a:ext cx="146304" cy="182880"/>
          </a:xfrm>
          <a:prstGeom prst="triangle">
            <a:avLst/>
          </a:prstGeom>
          <a:solidFill>
            <a:srgbClr val="9EB3B7"/>
          </a:solidFill>
          <a:ln w="12700">
            <a:solidFill>
              <a:srgbClr val="9EB3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 rot="5400000">
            <a:off x="9578340" y="2532888"/>
            <a:ext cx="146304" cy="182880"/>
          </a:xfrm>
          <a:prstGeom prst="triangle">
            <a:avLst/>
          </a:prstGeom>
          <a:solidFill>
            <a:srgbClr val="9EB3B7"/>
          </a:solidFill>
          <a:ln w="12700">
            <a:solidFill>
              <a:srgbClr val="9EB3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8577072" y="2898648"/>
            <a:ext cx="0" cy="438912"/>
          </a:xfrm>
          <a:prstGeom prst="line">
            <a:avLst/>
          </a:prstGeom>
          <a:noFill/>
          <a:ln w="15240">
            <a:solidFill>
              <a:srgbClr val="0E8F8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6620256" y="3858768"/>
            <a:ext cx="1956816" cy="0"/>
          </a:xfrm>
          <a:prstGeom prst="line">
            <a:avLst/>
          </a:prstGeom>
          <a:noFill/>
          <a:ln w="15240">
            <a:solidFill>
              <a:srgbClr val="3E7FC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694944" y="5897880"/>
            <a:ext cx="10789920" cy="283464"/>
          </a:xfrm>
          <a:prstGeom prst="roundRect">
            <a:avLst/>
          </a:prstGeom>
          <a:solidFill>
            <a:srgbClr val="D8F1ED"/>
          </a:solidFill>
          <a:ln w="12700">
            <a:solidFill>
              <a:srgbClr val="D8F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877824" y="5897880"/>
            <a:ext cx="10424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核心约束：签认资格由任务指派决定；发布的唯一责任主体是阶段主办单位；已发布版本不可覆盖，只能新建版本。</a:t>
            </a:r>
            <a:endParaRPr lang="en-US" sz="8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2E3A"/>
          </a:solidFill>
          <a:ln w="12700">
            <a:solidFill>
              <a:srgbClr val="0D2E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" y="566928"/>
            <a:ext cx="54864" cy="548640"/>
          </a:xfrm>
          <a:prstGeom prst="rect">
            <a:avLst/>
          </a:prstGeom>
          <a:solidFill>
            <a:srgbClr val="0E8F8B"/>
          </a:solidFill>
          <a:ln w="12700">
            <a:solidFill>
              <a:srgbClr val="0E8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40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GOVERNANCE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94944" y="694944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管理授权链：谁能给谁授权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04088" y="11247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平台管理、单位管理、阶段管理分层设置，避免管理员权限无限外溢。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082528" y="4389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71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04088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桩基工程全过程管理平台  /  权限管理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16768" y="6473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71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04088" y="1572768"/>
            <a:ext cx="69951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4088" y="1572768"/>
            <a:ext cx="82296" cy="896112"/>
          </a:xfrm>
          <a:prstGeom prst="rect">
            <a:avLst/>
          </a:prstGeom>
          <a:solidFill>
            <a:srgbClr val="C75B5B"/>
          </a:solidFill>
          <a:ln w="12700">
            <a:solidFill>
              <a:srgbClr val="C75B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32688" y="1764792"/>
            <a:ext cx="722376" cy="283464"/>
          </a:xfrm>
          <a:prstGeom prst="roundRect">
            <a:avLst/>
          </a:prstGeom>
          <a:solidFill>
            <a:srgbClr val="F6DDDD"/>
          </a:solidFill>
          <a:ln w="12700">
            <a:solidFill>
              <a:srgbClr val="F6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32688" y="1764792"/>
            <a:ext cx="722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C75B5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平台级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1819656" y="17099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系统管理员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520440" y="1746504"/>
            <a:ext cx="50292" cy="50292"/>
          </a:xfrm>
          <a:prstGeom prst="ellipse">
            <a:avLst/>
          </a:prstGeom>
          <a:solidFill>
            <a:srgbClr val="C75B5B"/>
          </a:solidFill>
          <a:ln w="12700">
            <a:solidFill>
              <a:srgbClr val="C7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48456" y="16916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创建账号、启停账号、重置密码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3520440" y="1956816"/>
            <a:ext cx="50292" cy="50292"/>
          </a:xfrm>
          <a:prstGeom prst="ellipse">
            <a:avLst/>
          </a:prstGeom>
          <a:solidFill>
            <a:srgbClr val="C75B5B"/>
          </a:solidFill>
          <a:ln w="12700">
            <a:solidFill>
              <a:srgbClr val="C7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48456" y="1901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设置单位管理员、跨项目查看与维护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3520440" y="2167128"/>
            <a:ext cx="50292" cy="50292"/>
          </a:xfrm>
          <a:prstGeom prst="ellipse">
            <a:avLst/>
          </a:prstGeom>
          <a:solidFill>
            <a:srgbClr val="C75B5B"/>
          </a:solidFill>
          <a:ln w="12700">
            <a:solidFill>
              <a:srgbClr val="C7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48456" y="21122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唯一超级管理员角色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1289304" y="2468880"/>
            <a:ext cx="0" cy="182880"/>
          </a:xfrm>
          <a:prstGeom prst="line">
            <a:avLst/>
          </a:prstGeom>
          <a:noFill/>
          <a:ln w="15240">
            <a:solidFill>
              <a:srgbClr val="AFC0C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04088" y="2651760"/>
            <a:ext cx="69951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04088" y="2651760"/>
            <a:ext cx="82296" cy="896112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2688" y="2843784"/>
            <a:ext cx="722376" cy="283464"/>
          </a:xfrm>
          <a:prstGeom prst="roundRect">
            <a:avLst/>
          </a:prstGeom>
          <a:solidFill>
            <a:srgbClr val="F8EBCB"/>
          </a:solidFill>
          <a:ln w="12700">
            <a:solidFill>
              <a:srgbClr val="F8EB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32688" y="2843784"/>
            <a:ext cx="722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D99A2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项目级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1819656" y="2788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建设单位管理员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3520440" y="2825496"/>
            <a:ext cx="50292" cy="50292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48456" y="27706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审核项目是否进入进行中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3520440" y="3035808"/>
            <a:ext cx="50292" cy="50292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48456" y="298094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添加其他参与单位人员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3520440" y="3246120"/>
            <a:ext cx="50292" cy="50292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48456" y="31912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配置可见阶段与阶段责任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1289304" y="3547872"/>
            <a:ext cx="0" cy="182880"/>
          </a:xfrm>
          <a:prstGeom prst="line">
            <a:avLst/>
          </a:prstGeom>
          <a:noFill/>
          <a:ln w="15240">
            <a:solidFill>
              <a:srgbClr val="AFC0C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04088" y="3730752"/>
            <a:ext cx="69951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04088" y="3730752"/>
            <a:ext cx="82296" cy="896112"/>
          </a:xfrm>
          <a:prstGeom prst="rect">
            <a:avLst/>
          </a:prstGeom>
          <a:solidFill>
            <a:srgbClr val="0E8F8B"/>
          </a:solidFill>
          <a:ln w="12700">
            <a:solidFill>
              <a:srgbClr val="0E8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32688" y="3922776"/>
            <a:ext cx="722376" cy="283464"/>
          </a:xfrm>
          <a:prstGeom prst="roundRect">
            <a:avLst/>
          </a:prstGeom>
          <a:solidFill>
            <a:srgbClr val="D8F1ED"/>
          </a:solidFill>
          <a:ln w="12700">
            <a:solidFill>
              <a:srgbClr val="D8F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32688" y="3922776"/>
            <a:ext cx="722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阶段级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1819656" y="38679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阶段负责人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3520440" y="3904488"/>
            <a:ext cx="50292" cy="50292"/>
          </a:xfrm>
          <a:prstGeom prst="ellipse">
            <a:avLst/>
          </a:prstGeom>
          <a:solidFill>
            <a:srgbClr val="0E8F8B"/>
          </a:solidFill>
          <a:ln w="12700">
            <a:solidFill>
              <a:srgbClr val="0E8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48456" y="38496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只能添加本单位员工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3520440" y="4114800"/>
            <a:ext cx="50292" cy="50292"/>
          </a:xfrm>
          <a:prstGeom prst="ellipse">
            <a:avLst/>
          </a:prstGeom>
          <a:solidFill>
            <a:srgbClr val="0E8F8B"/>
          </a:solidFill>
          <a:ln w="12700">
            <a:solidFill>
              <a:srgbClr val="0E8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48456" y="40599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只能分配自己负责的阶段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3520440" y="4325112"/>
            <a:ext cx="50292" cy="50292"/>
          </a:xfrm>
          <a:prstGeom prst="ellipse">
            <a:avLst/>
          </a:prstGeom>
          <a:solidFill>
            <a:srgbClr val="0E8F8B"/>
          </a:solidFill>
          <a:ln w="12700">
            <a:solidFill>
              <a:srgbClr val="0E8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648456" y="4270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不能跨单位、跨阶段授权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1289304" y="4626864"/>
            <a:ext cx="0" cy="182880"/>
          </a:xfrm>
          <a:prstGeom prst="line">
            <a:avLst/>
          </a:prstGeom>
          <a:noFill/>
          <a:ln w="15240">
            <a:solidFill>
              <a:srgbClr val="AFC0C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04088" y="4809744"/>
            <a:ext cx="69951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04088" y="4809744"/>
            <a:ext cx="82296" cy="896112"/>
          </a:xfrm>
          <a:prstGeom prst="rect">
            <a:avLst/>
          </a:prstGeom>
          <a:solidFill>
            <a:srgbClr val="3E7FCB"/>
          </a:solidFill>
          <a:ln w="12700">
            <a:solidFill>
              <a:srgbClr val="3E7FC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32688" y="5001768"/>
            <a:ext cx="722376" cy="283464"/>
          </a:xfrm>
          <a:prstGeom prst="round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32688" y="5001768"/>
            <a:ext cx="722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3E7FC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业务级</a:t>
            </a:r>
            <a:endParaRPr lang="en-US" sz="760" dirty="0"/>
          </a:p>
        </p:txBody>
      </p:sp>
      <p:sp>
        <p:nvSpPr>
          <p:cNvPr id="50" name="Text 48"/>
          <p:cNvSpPr/>
          <p:nvPr/>
        </p:nvSpPr>
        <p:spPr>
          <a:xfrm>
            <a:off x="1819656" y="49469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项目成员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3520440" y="4983480"/>
            <a:ext cx="50292" cy="50292"/>
          </a:xfrm>
          <a:prstGeom prst="ellipse">
            <a:avLst/>
          </a:prstGeom>
          <a:solidFill>
            <a:srgbClr val="3E7FCB"/>
          </a:solidFill>
          <a:ln w="12700">
            <a:solidFill>
              <a:srgbClr val="3E7F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648456" y="49286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在授权项目与阶段内操作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3520440" y="5193792"/>
            <a:ext cx="50292" cy="50292"/>
          </a:xfrm>
          <a:prstGeom prst="ellipse">
            <a:avLst/>
          </a:prstGeom>
          <a:solidFill>
            <a:srgbClr val="3E7FCB"/>
          </a:solidFill>
          <a:ln w="12700">
            <a:solidFill>
              <a:srgbClr val="3E7F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648456" y="51389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动作由责任等级自动决定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3520440" y="5404104"/>
            <a:ext cx="50292" cy="50292"/>
          </a:xfrm>
          <a:prstGeom prst="ellipse">
            <a:avLst/>
          </a:prstGeom>
          <a:solidFill>
            <a:srgbClr val="3E7FCB"/>
          </a:solidFill>
          <a:ln w="12700">
            <a:solidFill>
              <a:srgbClr val="3E7F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648456" y="5349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全部关键操作留痕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8001000" y="1572768"/>
            <a:ext cx="3474720" cy="4617720"/>
          </a:xfrm>
          <a:prstGeom prst="roundRect">
            <a:avLst/>
          </a:prstGeom>
          <a:solidFill>
            <a:srgbClr val="0D2E3A"/>
          </a:solidFill>
          <a:ln w="12700">
            <a:solidFill>
              <a:srgbClr val="0D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302752" y="18470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5B6A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三条授权边界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302752" y="2331720"/>
            <a:ext cx="310896" cy="310896"/>
          </a:xfrm>
          <a:prstGeom prst="ellipse">
            <a:avLst/>
          </a:prstGeom>
          <a:solidFill>
            <a:srgbClr val="25B6AB"/>
          </a:solidFill>
          <a:ln w="12700">
            <a:solidFill>
              <a:srgbClr val="25B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8302752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D2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759952" y="23134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不跨项目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8759952" y="257860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20" dirty="0">
                <a:solidFill>
                  <a:srgbClr val="B9D0D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成员关系按项目建立，A 项目权限不会放大 B 项目。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8302752" y="3410712"/>
            <a:ext cx="310896" cy="310896"/>
          </a:xfrm>
          <a:prstGeom prst="ellipse">
            <a:avLst/>
          </a:prstGeom>
          <a:solidFill>
            <a:srgbClr val="25B6AB"/>
          </a:solidFill>
          <a:ln w="12700">
            <a:solidFill>
              <a:srgbClr val="25B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302752" y="3410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D2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759952" y="33924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不跨单位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8759952" y="365760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20" dirty="0">
                <a:solidFill>
                  <a:srgbClr val="B9D0D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阶段负责人只能管理本单位员工。</a:t>
            </a:r>
            <a:endParaRPr lang="en-US" sz="820" dirty="0"/>
          </a:p>
        </p:txBody>
      </p:sp>
      <p:sp>
        <p:nvSpPr>
          <p:cNvPr id="67" name="Shape 65"/>
          <p:cNvSpPr/>
          <p:nvPr/>
        </p:nvSpPr>
        <p:spPr>
          <a:xfrm>
            <a:off x="8302752" y="4489704"/>
            <a:ext cx="310896" cy="310896"/>
          </a:xfrm>
          <a:prstGeom prst="ellipse">
            <a:avLst/>
          </a:prstGeom>
          <a:solidFill>
            <a:srgbClr val="25B6AB"/>
          </a:solidFill>
          <a:ln w="12700">
            <a:solidFill>
              <a:srgbClr val="25B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302752" y="4489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D2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8759952" y="44714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不跨阶段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8759952" y="473659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20" dirty="0">
                <a:solidFill>
                  <a:srgbClr val="B9D0D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阶段负责人只能分配自己负责的阶段。</a:t>
            </a:r>
            <a:endParaRPr lang="en-US" sz="820" dirty="0"/>
          </a:p>
        </p:txBody>
      </p:sp>
      <p:sp>
        <p:nvSpPr>
          <p:cNvPr id="71" name="Shape 69"/>
          <p:cNvSpPr/>
          <p:nvPr/>
        </p:nvSpPr>
        <p:spPr>
          <a:xfrm>
            <a:off x="8302752" y="5486400"/>
            <a:ext cx="2788920" cy="411480"/>
          </a:xfrm>
          <a:prstGeom prst="roundRect">
            <a:avLst/>
          </a:prstGeom>
          <a:solidFill>
            <a:srgbClr val="193F48"/>
          </a:solidFill>
          <a:ln w="12700">
            <a:solidFill>
              <a:srgbClr val="315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8412480" y="5486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C9E1E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普通账号访问 /admin：后端返回 403</a:t>
            </a:r>
            <a:endParaRPr lang="en-US" sz="7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2E3A"/>
          </a:solidFill>
          <a:ln w="12700">
            <a:solidFill>
              <a:srgbClr val="0D2E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" y="566928"/>
            <a:ext cx="54864" cy="548640"/>
          </a:xfrm>
          <a:prstGeom prst="rect">
            <a:avLst/>
          </a:prstGeom>
          <a:solidFill>
            <a:srgbClr val="0E8F8B"/>
          </a:solidFill>
          <a:ln w="12700">
            <a:solidFill>
              <a:srgbClr val="0E8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40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CONFIGURATION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94944" y="694944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标准规则优先，项目例外可控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04088" y="11247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默认使用全局责任矩阵；只有个别项目偏离标准分工时，才启用项目级覆盖。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082528" y="4389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71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04088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桩基工程全过程管理平台  /  权限管理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16768" y="6473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71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85800" y="1627632"/>
            <a:ext cx="5321808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" y="1627632"/>
            <a:ext cx="5321808" cy="91440"/>
          </a:xfrm>
          <a:prstGeom prst="rect">
            <a:avLst/>
          </a:prstGeom>
          <a:solidFill>
            <a:srgbClr val="0E8F8B"/>
          </a:solidFill>
          <a:ln w="12700">
            <a:solidFill>
              <a:srgbClr val="0E8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32688" y="1874520"/>
            <a:ext cx="704088" cy="274320"/>
          </a:xfrm>
          <a:prstGeom prst="roundRect">
            <a:avLst/>
          </a:prstGeom>
          <a:solidFill>
            <a:srgbClr val="D8F1ED"/>
          </a:solidFill>
          <a:ln w="12700">
            <a:solidFill>
              <a:srgbClr val="D8F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9264" y="187452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默认路径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32688" y="22860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标准项目：完全由矩阵推导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2688" y="277063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阶段范围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819656" y="27706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取该单位在矩阵中出现的阶段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932688" y="3072384"/>
            <a:ext cx="4535424" cy="0"/>
          </a:xfrm>
          <a:prstGeom prst="line">
            <a:avLst/>
          </a:prstGeom>
          <a:noFill/>
          <a:ln w="10160">
            <a:solidFill>
              <a:srgbClr val="E7EDE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2688" y="327355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责任等级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1819656" y="32735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取 responsibility_of(stage, unit)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932688" y="3575304"/>
            <a:ext cx="4535424" cy="0"/>
          </a:xfrm>
          <a:prstGeom prst="line">
            <a:avLst/>
          </a:prstGeom>
          <a:noFill/>
          <a:ln w="10160">
            <a:solidFill>
              <a:srgbClr val="E7EDE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2688" y="377647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动作集合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1819656" y="37764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由责任等级自动展开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932688" y="4078224"/>
            <a:ext cx="4535424" cy="0"/>
          </a:xfrm>
          <a:prstGeom prst="line">
            <a:avLst/>
          </a:prstGeom>
          <a:noFill/>
          <a:ln w="10160">
            <a:solidFill>
              <a:srgbClr val="E7EDE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32688" y="427939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配置成本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1819656" y="42793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不新增 7 × 10 条独立配置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932688" y="4581144"/>
            <a:ext cx="4535424" cy="0"/>
          </a:xfrm>
          <a:prstGeom prst="line">
            <a:avLst/>
          </a:prstGeom>
          <a:noFill/>
          <a:ln w="10160">
            <a:solidFill>
              <a:srgbClr val="E7EDE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90488" y="1627632"/>
            <a:ext cx="5321808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90488" y="1627632"/>
            <a:ext cx="5321808" cy="91440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37376" y="1874520"/>
            <a:ext cx="704088" cy="274320"/>
          </a:xfrm>
          <a:prstGeom prst="roundRect">
            <a:avLst/>
          </a:prstGeom>
          <a:solidFill>
            <a:srgbClr val="F8EBCB"/>
          </a:solidFill>
          <a:ln w="12700">
            <a:solidFill>
              <a:srgbClr val="F8EB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73952" y="187452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8B621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例外路径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37376" y="228600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特殊项目：项目成员级覆盖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37376" y="27706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8B62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stage_scope</a:t>
            </a:r>
            <a:endParaRPr lang="en-US" sz="810" dirty="0"/>
          </a:p>
        </p:txBody>
      </p:sp>
      <p:sp>
        <p:nvSpPr>
          <p:cNvPr id="33" name="Text 31"/>
          <p:cNvSpPr/>
          <p:nvPr/>
        </p:nvSpPr>
        <p:spPr>
          <a:xfrm>
            <a:off x="7973568" y="2770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9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限制或扩大可见阶段范围</a:t>
            </a:r>
            <a:endParaRPr lang="en-US" sz="890" dirty="0"/>
          </a:p>
        </p:txBody>
      </p:sp>
      <p:sp>
        <p:nvSpPr>
          <p:cNvPr id="34" name="Shape 32"/>
          <p:cNvSpPr/>
          <p:nvPr/>
        </p:nvSpPr>
        <p:spPr>
          <a:xfrm>
            <a:off x="6437376" y="3072384"/>
            <a:ext cx="4553712" cy="0"/>
          </a:xfrm>
          <a:prstGeom prst="line">
            <a:avLst/>
          </a:prstGeom>
          <a:noFill/>
          <a:ln w="10160">
            <a:solidFill>
              <a:srgbClr val="E7EDE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37376" y="32735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8B62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responsibility_override</a:t>
            </a:r>
            <a:endParaRPr lang="en-US" sz="810" dirty="0"/>
          </a:p>
        </p:txBody>
      </p:sp>
      <p:sp>
        <p:nvSpPr>
          <p:cNvPr id="36" name="Text 34"/>
          <p:cNvSpPr/>
          <p:nvPr/>
        </p:nvSpPr>
        <p:spPr>
          <a:xfrm>
            <a:off x="7973568" y="32735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9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例：CONSTRUCTION=PRIMARY</a:t>
            </a:r>
            <a:endParaRPr lang="en-US" sz="890" dirty="0"/>
          </a:p>
        </p:txBody>
      </p:sp>
      <p:sp>
        <p:nvSpPr>
          <p:cNvPr id="37" name="Shape 35"/>
          <p:cNvSpPr/>
          <p:nvPr/>
        </p:nvSpPr>
        <p:spPr>
          <a:xfrm>
            <a:off x="6437376" y="3575304"/>
            <a:ext cx="4553712" cy="0"/>
          </a:xfrm>
          <a:prstGeom prst="line">
            <a:avLst/>
          </a:prstGeom>
          <a:noFill/>
          <a:ln w="10160">
            <a:solidFill>
              <a:srgbClr val="E7EDE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37376" y="37764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8B62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作用范围</a:t>
            </a:r>
            <a:endParaRPr lang="en-US" sz="810" dirty="0"/>
          </a:p>
        </p:txBody>
      </p:sp>
      <p:sp>
        <p:nvSpPr>
          <p:cNvPr id="39" name="Text 37"/>
          <p:cNvSpPr/>
          <p:nvPr/>
        </p:nvSpPr>
        <p:spPr>
          <a:xfrm>
            <a:off x="7973568" y="3776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9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仅当前项目成员关系，不改全局矩阵</a:t>
            </a:r>
            <a:endParaRPr lang="en-US" sz="890" dirty="0"/>
          </a:p>
        </p:txBody>
      </p:sp>
      <p:sp>
        <p:nvSpPr>
          <p:cNvPr id="40" name="Shape 38"/>
          <p:cNvSpPr/>
          <p:nvPr/>
        </p:nvSpPr>
        <p:spPr>
          <a:xfrm>
            <a:off x="6437376" y="4078224"/>
            <a:ext cx="4553712" cy="0"/>
          </a:xfrm>
          <a:prstGeom prst="line">
            <a:avLst/>
          </a:prstGeom>
          <a:noFill/>
          <a:ln w="10160">
            <a:solidFill>
              <a:srgbClr val="E7EDE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37376" y="42793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8B62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可回收</a:t>
            </a:r>
            <a:endParaRPr lang="en-US" sz="810" dirty="0"/>
          </a:p>
        </p:txBody>
      </p:sp>
      <p:sp>
        <p:nvSpPr>
          <p:cNvPr id="42" name="Text 40"/>
          <p:cNvSpPr/>
          <p:nvPr/>
        </p:nvSpPr>
        <p:spPr>
          <a:xfrm>
            <a:off x="7973568" y="42793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9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撤销、失效或恢复标准配置</a:t>
            </a:r>
            <a:endParaRPr lang="en-US" sz="890" dirty="0"/>
          </a:p>
        </p:txBody>
      </p:sp>
      <p:sp>
        <p:nvSpPr>
          <p:cNvPr id="43" name="Shape 41"/>
          <p:cNvSpPr/>
          <p:nvPr/>
        </p:nvSpPr>
        <p:spPr>
          <a:xfrm>
            <a:off x="6437376" y="4581144"/>
            <a:ext cx="4553712" cy="0"/>
          </a:xfrm>
          <a:prstGeom prst="line">
            <a:avLst/>
          </a:prstGeom>
          <a:noFill/>
          <a:ln w="10160">
            <a:solidFill>
              <a:srgbClr val="E7EDE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94944" y="5330952"/>
            <a:ext cx="3447288" cy="658368"/>
          </a:xfrm>
          <a:prstGeom prst="roundRect">
            <a:avLst/>
          </a:prstGeom>
          <a:solidFill>
            <a:srgbClr val="EAF0F1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96112" y="54406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多人多身份</a:t>
            </a:r>
            <a:endParaRPr lang="en-US" sz="940" dirty="0"/>
          </a:p>
        </p:txBody>
      </p:sp>
      <p:sp>
        <p:nvSpPr>
          <p:cNvPr id="46" name="Text 44"/>
          <p:cNvSpPr/>
          <p:nvPr/>
        </p:nvSpPr>
        <p:spPr>
          <a:xfrm>
            <a:off x="1929384" y="54498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遍历全部成员关系取并集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4352544" y="5330952"/>
            <a:ext cx="3447288" cy="658368"/>
          </a:xfrm>
          <a:prstGeom prst="roundRect">
            <a:avLst/>
          </a:prstGeom>
          <a:solidFill>
            <a:srgbClr val="0D2E3A"/>
          </a:solidFill>
          <a:ln w="12700">
            <a:solidFill>
              <a:srgbClr val="0D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553712" y="54406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25B6A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按项目隔离</a:t>
            </a:r>
            <a:endParaRPr lang="en-US" sz="940" dirty="0"/>
          </a:p>
        </p:txBody>
      </p:sp>
      <p:sp>
        <p:nvSpPr>
          <p:cNvPr id="49" name="Text 47"/>
          <p:cNvSpPr/>
          <p:nvPr/>
        </p:nvSpPr>
        <p:spPr>
          <a:xfrm>
            <a:off x="5586984" y="54498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" dirty="0">
                <a:solidFill>
                  <a:srgbClr val="C9E1E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 项目身份不会放大 B 项目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8010144" y="5330952"/>
            <a:ext cx="3447288" cy="658368"/>
          </a:xfrm>
          <a:prstGeom prst="roundRect">
            <a:avLst/>
          </a:prstGeom>
          <a:solidFill>
            <a:srgbClr val="EAF0F1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211312" y="54406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时间有效</a:t>
            </a:r>
            <a:endParaRPr lang="en-US" sz="940" dirty="0"/>
          </a:p>
        </p:txBody>
      </p:sp>
      <p:sp>
        <p:nvSpPr>
          <p:cNvPr id="52" name="Text 50"/>
          <p:cNvSpPr/>
          <p:nvPr/>
        </p:nvSpPr>
        <p:spPr>
          <a:xfrm>
            <a:off x="9244584" y="54498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支持生效、失效与撤销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713232" y="6126480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治理原则：标准规则是默认值；例外必须明确、局部、可解释、可回收。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2E3A"/>
          </a:solidFill>
          <a:ln w="12700">
            <a:solidFill>
              <a:srgbClr val="0D2E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" y="566928"/>
            <a:ext cx="54864" cy="548640"/>
          </a:xfrm>
          <a:prstGeom prst="rect">
            <a:avLst/>
          </a:prstGeom>
          <a:solidFill>
            <a:srgbClr val="0E8F8B"/>
          </a:solidFill>
          <a:ln w="12700">
            <a:solidFill>
              <a:srgbClr val="0E8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40" dirty="0">
                <a:solidFill>
                  <a:srgbClr val="0E8F8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SECURITY &amp; AUDIT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94944" y="694944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安全控制与审计留痕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04088" y="11247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权限管理的最后一公里，是让每一次访问和操作都可验证、可追溯。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082528" y="4389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71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04088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7185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桩基工程全过程管理平台  /  权限管理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16768" y="6473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7185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76656" y="1627632"/>
            <a:ext cx="5230368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76656" y="1627632"/>
            <a:ext cx="82296" cy="1737360"/>
          </a:xfrm>
          <a:prstGeom prst="rect">
            <a:avLst/>
          </a:prstGeom>
          <a:solidFill>
            <a:srgbClr val="3E7FCB"/>
          </a:solidFill>
          <a:ln w="12700">
            <a:solidFill>
              <a:srgbClr val="3E7FC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41832" y="1874520"/>
            <a:ext cx="438912" cy="438912"/>
          </a:xfrm>
          <a:prstGeom prst="ellipse">
            <a:avLst/>
          </a:prstGeom>
          <a:solidFill>
            <a:srgbClr val="3E7FCB"/>
          </a:solidFill>
          <a:ln w="12700">
            <a:solidFill>
              <a:srgbClr val="3E7F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41832" y="1874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27048" y="183794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身份安全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27048" y="2121408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3E7F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960120" y="2578608"/>
            <a:ext cx="50292" cy="50292"/>
          </a:xfrm>
          <a:prstGeom prst="ellipse">
            <a:avLst/>
          </a:prstGeom>
          <a:solidFill>
            <a:srgbClr val="3E7FCB"/>
          </a:solidFill>
          <a:ln w="12700">
            <a:solidFill>
              <a:srgbClr val="3E7F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88136" y="2523744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4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PBKDF2-HMAC-SHA256 · 260,000 次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960120" y="2798064"/>
            <a:ext cx="50292" cy="50292"/>
          </a:xfrm>
          <a:prstGeom prst="ellipse">
            <a:avLst/>
          </a:prstGeom>
          <a:solidFill>
            <a:srgbClr val="3E7FCB"/>
          </a:solidFill>
          <a:ln w="12700">
            <a:solidFill>
              <a:srgbClr val="3E7F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88136" y="2743200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4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JWT 有效期校验 · 账号启停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960120" y="3017520"/>
            <a:ext cx="50292" cy="50292"/>
          </a:xfrm>
          <a:prstGeom prst="ellipse">
            <a:avLst/>
          </a:prstGeom>
          <a:solidFill>
            <a:srgbClr val="3E7FCB"/>
          </a:solidFill>
          <a:ln w="12700">
            <a:solidFill>
              <a:srgbClr val="3E7F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88136" y="2962656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4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姓名、工号与单位进入操作主体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6135624" y="1627632"/>
            <a:ext cx="5230368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35624" y="1627632"/>
            <a:ext cx="82296" cy="1737360"/>
          </a:xfrm>
          <a:prstGeom prst="rect">
            <a:avLst/>
          </a:prstGeom>
          <a:solidFill>
            <a:srgbClr val="0E8F8B"/>
          </a:solidFill>
          <a:ln w="12700">
            <a:solidFill>
              <a:srgbClr val="0E8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00800" y="1874520"/>
            <a:ext cx="438912" cy="438912"/>
          </a:xfrm>
          <a:prstGeom prst="ellipse">
            <a:avLst/>
          </a:prstGeom>
          <a:solidFill>
            <a:srgbClr val="0E8F8B"/>
          </a:solidFill>
          <a:ln w="12700">
            <a:solidFill>
              <a:srgbClr val="0E8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0" y="1874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86016" y="183794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访问安全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86016" y="2121408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0E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6419088" y="2578608"/>
            <a:ext cx="50292" cy="50292"/>
          </a:xfrm>
          <a:prstGeom prst="ellipse">
            <a:avLst/>
          </a:prstGeom>
          <a:solidFill>
            <a:srgbClr val="0E8F8B"/>
          </a:solidFill>
          <a:ln w="12700">
            <a:solidFill>
              <a:srgbClr val="0E8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47104" y="2523744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4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每个接口独立重新判权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6419088" y="2798064"/>
            <a:ext cx="50292" cy="50292"/>
          </a:xfrm>
          <a:prstGeom prst="ellipse">
            <a:avLst/>
          </a:prstGeom>
          <a:solidFill>
            <a:srgbClr val="0E8F8B"/>
          </a:solidFill>
          <a:ln w="12700">
            <a:solidFill>
              <a:srgbClr val="0E8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47104" y="2743200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4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项目与阶段过滤进入 SQL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6419088" y="3017520"/>
            <a:ext cx="50292" cy="50292"/>
          </a:xfrm>
          <a:prstGeom prst="ellipse">
            <a:avLst/>
          </a:prstGeom>
          <a:solidFill>
            <a:srgbClr val="0E8F8B"/>
          </a:solidFill>
          <a:ln w="12700">
            <a:solidFill>
              <a:srgbClr val="0E8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47104" y="2962656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4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越权返回 403 或无结果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676656" y="3621024"/>
            <a:ext cx="5230368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76656" y="3621024"/>
            <a:ext cx="82296" cy="1737360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41832" y="3867912"/>
            <a:ext cx="438912" cy="438912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41832" y="3867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527048" y="383133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版本安全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527048" y="4114800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D99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960120" y="4572000"/>
            <a:ext cx="50292" cy="50292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88136" y="4517136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4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文件内容 SHA-256 寻址</a:t>
            </a:r>
            <a:endParaRPr lang="en-US" sz="840" dirty="0"/>
          </a:p>
        </p:txBody>
      </p:sp>
      <p:sp>
        <p:nvSpPr>
          <p:cNvPr id="42" name="Shape 40"/>
          <p:cNvSpPr/>
          <p:nvPr/>
        </p:nvSpPr>
        <p:spPr>
          <a:xfrm>
            <a:off x="960120" y="4791456"/>
            <a:ext cx="50292" cy="50292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88136" y="4736592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4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原始文件不可变，修改即新版本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960120" y="5010912"/>
            <a:ext cx="50292" cy="50292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088136" y="495604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4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已发布版本不覆盖、不回退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6135624" y="3621024"/>
            <a:ext cx="5230368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135624" y="3621024"/>
            <a:ext cx="82296" cy="1737360"/>
          </a:xfrm>
          <a:prstGeom prst="rect">
            <a:avLst/>
          </a:prstGeom>
          <a:solidFill>
            <a:srgbClr val="C75B5B"/>
          </a:solidFill>
          <a:ln w="12700">
            <a:solidFill>
              <a:srgbClr val="C75B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400800" y="3867912"/>
            <a:ext cx="438912" cy="438912"/>
          </a:xfrm>
          <a:prstGeom prst="ellipse">
            <a:avLst/>
          </a:prstGeom>
          <a:solidFill>
            <a:srgbClr val="C75B5B"/>
          </a:solidFill>
          <a:ln w="12700">
            <a:solidFill>
              <a:srgbClr val="C7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400800" y="3867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986016" y="383133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D2E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行为审计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986016" y="4114800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C75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6419088" y="4572000"/>
            <a:ext cx="50292" cy="50292"/>
          </a:xfrm>
          <a:prstGeom prst="ellipse">
            <a:avLst/>
          </a:prstGeom>
          <a:solidFill>
            <a:srgbClr val="C75B5B"/>
          </a:solidFill>
          <a:ln w="12700">
            <a:solidFill>
              <a:srgbClr val="C7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547104" y="4517136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4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记录操作人、单位、项目与阶段</a:t>
            </a:r>
            <a:endParaRPr lang="en-US" sz="840" dirty="0"/>
          </a:p>
        </p:txBody>
      </p:sp>
      <p:sp>
        <p:nvSpPr>
          <p:cNvPr id="54" name="Shape 52"/>
          <p:cNvSpPr/>
          <p:nvPr/>
        </p:nvSpPr>
        <p:spPr>
          <a:xfrm>
            <a:off x="6419088" y="4791456"/>
            <a:ext cx="50292" cy="50292"/>
          </a:xfrm>
          <a:prstGeom prst="ellipse">
            <a:avLst/>
          </a:prstGeom>
          <a:solidFill>
            <a:srgbClr val="C75B5B"/>
          </a:solidFill>
          <a:ln w="12700">
            <a:solidFill>
              <a:srgbClr val="C7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547104" y="4736592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4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覆盖创建、提交、审批、发布、下载</a:t>
            </a:r>
            <a:endParaRPr lang="en-US" sz="840" dirty="0"/>
          </a:p>
        </p:txBody>
      </p:sp>
      <p:sp>
        <p:nvSpPr>
          <p:cNvPr id="56" name="Shape 54"/>
          <p:cNvSpPr/>
          <p:nvPr/>
        </p:nvSpPr>
        <p:spPr>
          <a:xfrm>
            <a:off x="6419088" y="5010912"/>
            <a:ext cx="50292" cy="50292"/>
          </a:xfrm>
          <a:prstGeom prst="ellipse">
            <a:avLst/>
          </a:prstGeom>
          <a:solidFill>
            <a:srgbClr val="C75B5B"/>
          </a:solidFill>
          <a:ln w="12700">
            <a:solidFill>
              <a:srgbClr val="C7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547104" y="495604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40" dirty="0">
                <a:solidFill>
                  <a:srgbClr val="455E6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日志用于追责、核验与问题复盘</a:t>
            </a:r>
            <a:endParaRPr lang="en-US" sz="840" dirty="0"/>
          </a:p>
        </p:txBody>
      </p:sp>
      <p:sp>
        <p:nvSpPr>
          <p:cNvPr id="58" name="Shape 56"/>
          <p:cNvSpPr/>
          <p:nvPr/>
        </p:nvSpPr>
        <p:spPr>
          <a:xfrm>
            <a:off x="685800" y="5705856"/>
            <a:ext cx="10826496" cy="475488"/>
          </a:xfrm>
          <a:prstGeom prst="roundRect">
            <a:avLst/>
          </a:prstGeom>
          <a:solidFill>
            <a:srgbClr val="0D2E3A"/>
          </a:solidFill>
          <a:ln w="12700">
            <a:solidFill>
              <a:srgbClr val="0D2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914400" y="5705856"/>
            <a:ext cx="10378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审计不是“多记一条日志”，而是让权限决定、责任归属和文件版本形成完整证据链。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B6AB"/>
          </a:solidFill>
          <a:ln w="12700">
            <a:solidFill>
              <a:srgbClr val="25B6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" y="932688"/>
            <a:ext cx="73152" cy="603504"/>
          </a:xfrm>
          <a:prstGeom prst="rect">
            <a:avLst/>
          </a:prstGeom>
          <a:solidFill>
            <a:srgbClr val="25B6AB"/>
          </a:solidFill>
          <a:ln w="12700">
            <a:solidFill>
              <a:srgbClr val="25B6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8412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20" dirty="0">
                <a:solidFill>
                  <a:srgbClr val="25B6A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8408" y="111556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让权限成为业务规则的投影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78408" y="16276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dirty="0">
                <a:solidFill>
                  <a:srgbClr val="AFC8C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而不是额外的配置负担。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960120" y="2788920"/>
            <a:ext cx="3127248" cy="1627632"/>
          </a:xfrm>
          <a:prstGeom prst="roundRect">
            <a:avLst/>
          </a:prstGeom>
          <a:solidFill>
            <a:srgbClr val="143D49"/>
          </a:solidFill>
          <a:ln w="12700">
            <a:solidFill>
              <a:srgbClr val="315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2999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5B6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88720" y="3310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一个矩阵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88720" y="3730752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AFC8C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《管理流程》责任矩阵是唯一权限源。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53128" y="2788920"/>
            <a:ext cx="3127248" cy="1627632"/>
          </a:xfrm>
          <a:prstGeom prst="roundRect">
            <a:avLst/>
          </a:prstGeom>
          <a:solidFill>
            <a:srgbClr val="143D49"/>
          </a:solidFill>
          <a:ln w="12700">
            <a:solidFill>
              <a:srgbClr val="315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81728" y="2999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E7F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81728" y="3310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一条链路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81728" y="3730752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AFC8C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项目 → 阶段 → 责任等级 → 动作。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946136" y="2788920"/>
            <a:ext cx="3127248" cy="1627632"/>
          </a:xfrm>
          <a:prstGeom prst="roundRect">
            <a:avLst/>
          </a:prstGeom>
          <a:solidFill>
            <a:srgbClr val="143D49"/>
          </a:solidFill>
          <a:ln w="12700">
            <a:solidFill>
              <a:srgbClr val="315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74736" y="2999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99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74736" y="3310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一套留痕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174736" y="3730752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AFC8C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人、单位、阶段、版本与审计全部可追溯。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69264" y="4956048"/>
            <a:ext cx="10287000" cy="18288"/>
          </a:xfrm>
          <a:prstGeom prst="rect">
            <a:avLst/>
          </a:prstGeom>
          <a:solidFill>
            <a:srgbClr val="3C5963"/>
          </a:solidFill>
          <a:ln w="12700">
            <a:solidFill>
              <a:srgbClr val="3C59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87552" y="53035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25B6A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最终目标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847088" y="518464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每一份工程文件，都能找到它的责任单位、责任阶段和责任人。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987552" y="61081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8EABB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桩基工程全过程管理平台  ·  权限管理总体介绍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1145</Words>
  <Application>Microsoft Macintosh PowerPoint</Application>
  <PresentationFormat>Widescreen</PresentationFormat>
  <Paragraphs>486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 Unicode MS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TJAD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桩基工程全过程管理平台 · 权限管理总体介绍</dc:title>
  <dc:subject>总体权限管理</dc:subject>
  <dc:creator>桩基工程全过程管理平台</dc:creator>
  <cp:lastModifiedBy>Kylie Tan</cp:lastModifiedBy>
  <cp:revision>2</cp:revision>
  <dcterms:created xsi:type="dcterms:W3CDTF">2026-10-17T03:54:09Z</dcterms:created>
  <dcterms:modified xsi:type="dcterms:W3CDTF">2026-10-17T03:56:46Z</dcterms:modified>
</cp:coreProperties>
</file>