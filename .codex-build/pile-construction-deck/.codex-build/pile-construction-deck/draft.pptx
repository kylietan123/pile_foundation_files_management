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610a6e1edf4f28" /><Relationship Type="http://schemas.openxmlformats.org/officeDocument/2006/relationships/extended-properties" Target="/docProps/app.xml" Id="Rd24db9b122f14be3" /><Relationship Type="http://schemas.openxmlformats.org/officeDocument/2006/relationships/officeDocument" Target="/ppt/presentation.xml" Id="R380bec2b4aa649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5d06a5c1b741be"/>
  </p:sldMasterIdLst>
  <p:notesMasterIdLst>
    <p:notesMasterId xmlns:r="http://schemas.openxmlformats.org/officeDocument/2006/relationships" r:id="Rc786d54e31d5406b"/>
  </p:notesMasterIdLst>
  <p:sldIdLst>
    <p:sldId xmlns:r="http://schemas.openxmlformats.org/officeDocument/2006/relationships" id="256" r:id="R85cf2548eae04d2e"/>
    <p:sldId xmlns:r="http://schemas.openxmlformats.org/officeDocument/2006/relationships" id="257" r:id="Ra51082f598524037"/>
    <p:sldId xmlns:r="http://schemas.openxmlformats.org/officeDocument/2006/relationships" id="258" r:id="R88608588528a4f45"/>
    <p:sldId xmlns:r="http://schemas.openxmlformats.org/officeDocument/2006/relationships" id="259" r:id="R7e06f5551b0642a3"/>
    <p:sldId xmlns:r="http://schemas.openxmlformats.org/officeDocument/2006/relationships" id="260" r:id="R78b1a95180d54b09"/>
    <p:sldId xmlns:r="http://schemas.openxmlformats.org/officeDocument/2006/relationships" id="261" r:id="R7cb200eda9984efe"/>
    <p:sldId xmlns:r="http://schemas.openxmlformats.org/officeDocument/2006/relationships" id="262" r:id="R47698047cf0d4318"/>
    <p:sldId xmlns:r="http://schemas.openxmlformats.org/officeDocument/2006/relationships" id="263" r:id="R18a2b9dcef994df2"/>
    <p:sldId xmlns:r="http://schemas.openxmlformats.org/officeDocument/2006/relationships" id="264" r:id="Rd3217b95609b47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23d910bd914796" /><Relationship Type="http://schemas.openxmlformats.org/officeDocument/2006/relationships/slideMaster" Target="/ppt/slideMasters/slideMaster1.xml" Id="R945d06a5c1b741be" /><Relationship Type="http://schemas.openxmlformats.org/officeDocument/2006/relationships/notesMaster" Target="/ppt/notesMasters/notesMaster1.xml" Id="Rc786d54e31d5406b" /><Relationship Type="http://schemas.openxmlformats.org/officeDocument/2006/relationships/presProps" Target="/ppt/presProps.xml" Id="Rc5aca228fd0f4e35" /><Relationship Type="http://schemas.openxmlformats.org/officeDocument/2006/relationships/tableStyles" Target="/ppt/tableStyles.xml" Id="Rdde22a5a9fbf4002" /><Relationship Type="http://schemas.openxmlformats.org/officeDocument/2006/relationships/slide" Target="/ppt/slides/slide1.xml" Id="R85cf2548eae04d2e" /><Relationship Type="http://schemas.openxmlformats.org/officeDocument/2006/relationships/slide" Target="/ppt/slides/slide2.xml" Id="Ra51082f598524037" /><Relationship Type="http://schemas.openxmlformats.org/officeDocument/2006/relationships/slide" Target="/ppt/slides/slide3.xml" Id="R88608588528a4f45" /><Relationship Type="http://schemas.openxmlformats.org/officeDocument/2006/relationships/slide" Target="/ppt/slides/slide4.xml" Id="R7e06f5551b0642a3" /><Relationship Type="http://schemas.openxmlformats.org/officeDocument/2006/relationships/slide" Target="/ppt/slides/slide5.xml" Id="R78b1a95180d54b09" /><Relationship Type="http://schemas.openxmlformats.org/officeDocument/2006/relationships/slide" Target="/ppt/slides/slide6.xml" Id="R7cb200eda9984efe" /><Relationship Type="http://schemas.openxmlformats.org/officeDocument/2006/relationships/slide" Target="/ppt/slides/slide7.xml" Id="R47698047cf0d4318" /><Relationship Type="http://schemas.openxmlformats.org/officeDocument/2006/relationships/slide" Target="/ppt/slides/slide8.xml" Id="R18a2b9dcef994df2" /><Relationship Type="http://schemas.openxmlformats.org/officeDocument/2006/relationships/slide" Target="/ppt/slides/slide9.xml" Id="Rd3217b95609b47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ff7d6703f041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80aeee034e46f8" /><Relationship Type="http://schemas.openxmlformats.org/officeDocument/2006/relationships/notesMaster" Target="/ppt/notesMasters/notesMaster1.xml" Id="R3d94b2285e3d4f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9fe5c91c37496a" /><Relationship Type="http://schemas.openxmlformats.org/officeDocument/2006/relationships/notesMaster" Target="/ppt/notesMasters/notesMaster1.xml" Id="R1ff3aa6de09f41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cd6a7d2d114cf2" /><Relationship Type="http://schemas.openxmlformats.org/officeDocument/2006/relationships/notesMaster" Target="/ppt/notesMasters/notesMaster1.xml" Id="Rdf994d7e25d940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b6035a13354c1a" /><Relationship Type="http://schemas.openxmlformats.org/officeDocument/2006/relationships/notesMaster" Target="/ppt/notesMasters/notesMaster1.xml" Id="R25df3834476b4f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8a9d85f3e947a9" /><Relationship Type="http://schemas.openxmlformats.org/officeDocument/2006/relationships/notesMaster" Target="/ppt/notesMasters/notesMaster1.xml" Id="R53df039747db4e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189463379e4611" /><Relationship Type="http://schemas.openxmlformats.org/officeDocument/2006/relationships/notesMaster" Target="/ppt/notesMasters/notesMaster1.xml" Id="Rf6f12735772644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d08b5aee4448af" /><Relationship Type="http://schemas.openxmlformats.org/officeDocument/2006/relationships/notesMaster" Target="/ppt/notesMasters/notesMaster1.xml" Id="R5cfbff43b5b744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7cb7ca3e134554" /><Relationship Type="http://schemas.openxmlformats.org/officeDocument/2006/relationships/notesMaster" Target="/ppt/notesMasters/notesMaster1.xml" Id="Rf761cee33f9c43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41b58e03d74604" /><Relationship Type="http://schemas.openxmlformats.org/officeDocument/2006/relationships/notesMaster" Target="/ppt/notesMasters/notesMaster1.xml" Id="R017184fb8e4b49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封面。设计依据：桩基工程文档管理智能体工作计划.pdf；桩基工程全过程管理文档清单.xlsx。施工阶段共32类文档。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依据：桩基工程全过程管理文档清单.xlsx。施工阶段共32类文档，其中总包6类、分包8类、监理9类、检测监测9类。清单5.1.1-5.1.6与地质勘察阶段条目高度重复，建议确认为模板复制还是施工阶段特有要求。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平台阶段矩阵中，总包为施工阶段主办，分包和监理为相关，检测为参与；但清单要求分包、监理、检测分别编制大量资料。因此建议增加文档责任单位、编制单位、审核单位、签认单位字段，不能只用阶段责任等级控制上传权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功能架构建议：施工总览、施工准备、桩位台账、施工记录、报验验收、检测监测、问题与变更、资料包、AI助手。施工总览应直接展示阶段完成门槛，而不是只展示文档数量。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主流程8个节点：施工准备、开工条件、开工审批、试桩/首件、批量施工、报验验收、检测监测、完工移交。阶段完成门槛由资料、桩完成、检测、问题、变更和签认共同决定。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单桩闭环：设计桩位→施工记录→分包自检→总包复核→监理验收→检测→归档。质量控制点采用H/W/S分类，未验收不得进入下一道工序。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检测不合格必须自动触发问题单；监测预警必须触发会商、处置和复测；设计变更必须做已施工桩、图纸、成本、工期影响分析。所有关闭必须有监理确认和审计留痕。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包按清单5.1-5.4组织：总包6类、分包8类、监理9类、检测监测9类。施工阶段完成必须具备32类资料有效版本、桩完成、检测监测问题变更闭环、竣工资料齐全、总包监理建设签认。清单5.1六项与勘察阶段重复，需业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实施节奏参考桩基工程文档管理智能体工作计划.pdf：第5-6周基础功能，第7周完善施工功能，第8周接入AI模型，第9-10周AI检查与报告，第11-12周UI、移动端和整合验收。AI只做辅助，发布、签认、验收仍由人完成。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8459d6fb2b4b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d21c733515453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dd81ceb55942a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e5f1388afe4a4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a19af73cbc4f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da910a4d0c4c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B197D5-83C7-4A1A-B44B-908951547F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FC853F2-13D1-402A-8473-0715BCAE89D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DC9DF35-84AF-424C-AF07-52C423429A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5F1802-2608-4656-BE77-383ADA50F0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1651A5D-91F5-466D-8E58-009FBFEE6E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657A4DF-6572-413F-9FB4-31F7C7DB2C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B296CE-4714-4BC9-BD4A-642B5D2722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915A0CC-5D86-48DD-8A94-DCBEB473046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6DF253-49B1-458C-8703-684BC296E6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9DC131-A148-485E-AEE8-4538A1D48A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976b804a9646e7" /><Relationship Type="http://schemas.openxmlformats.org/officeDocument/2006/relationships/slideLayout" Target="/ppt/slideLayouts/slideLayout1.xml" Id="R486ecf99e78a4e0b" /><Relationship Type="http://schemas.openxmlformats.org/officeDocument/2006/relationships/slideLayout" Target="/ppt/slideLayouts/slideLayout2.xml" Id="R3ef82a7964724c85" /><Relationship Type="http://schemas.openxmlformats.org/officeDocument/2006/relationships/slideLayout" Target="/ppt/slideLayouts/slideLayout3.xml" Id="R93f692d944294e33" /><Relationship Type="http://schemas.openxmlformats.org/officeDocument/2006/relationships/slideLayout" Target="/ppt/slideLayouts/slideLayout4.xml" Id="Rd636094a9cad42a8" /><Relationship Type="http://schemas.openxmlformats.org/officeDocument/2006/relationships/slideLayout" Target="/ppt/slideLayouts/slideLayout5.xml" Id="R490b2ba5215f4249" /><Relationship Type="http://schemas.openxmlformats.org/officeDocument/2006/relationships/slideLayout" Target="/ppt/slideLayouts/slideLayout6.xml" Id="Rba512cc6c0c84f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6ecf99e78a4e0b"/>
    <p:sldLayoutId xmlns:r="http://schemas.openxmlformats.org/officeDocument/2006/relationships" id="2147483650" r:id="R3ef82a7964724c85"/>
    <p:sldLayoutId xmlns:r="http://schemas.openxmlformats.org/officeDocument/2006/relationships" id="2147483651" r:id="R93f692d944294e33"/>
    <p:sldLayoutId xmlns:r="http://schemas.openxmlformats.org/officeDocument/2006/relationships" id="2147483652" r:id="Rd636094a9cad42a8"/>
    <p:sldLayoutId xmlns:r="http://schemas.openxmlformats.org/officeDocument/2006/relationships" id="2147483653" r:id="R490b2ba5215f4249"/>
    <p:sldLayoutId xmlns:r="http://schemas.openxmlformats.org/officeDocument/2006/relationships" id="2147483654" r:id="Rba512cc6c0c84f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2573bc950b44e3" /><Relationship Type="http://schemas.openxmlformats.org/officeDocument/2006/relationships/notesSlide" Target="/ppt/notesSlides/notesSlide1.xml" Id="Rc8b22c67856a45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a9520b9c964fed" /><Relationship Type="http://schemas.openxmlformats.org/officeDocument/2006/relationships/notesSlide" Target="/ppt/notesSlides/notesSlide2.xml" Id="R9d9a53eb170a41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f4b3c720ad4acb" /><Relationship Type="http://schemas.openxmlformats.org/officeDocument/2006/relationships/notesSlide" Target="/ppt/notesSlides/notesSlide3.xml" Id="R4ece5878384d46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0d60145f9c464c" /><Relationship Type="http://schemas.openxmlformats.org/officeDocument/2006/relationships/notesSlide" Target="/ppt/notesSlides/notesSlide4.xml" Id="R1e8f6abd605144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a4275d8c074944" /><Relationship Type="http://schemas.openxmlformats.org/officeDocument/2006/relationships/notesSlide" Target="/ppt/notesSlides/notesSlide5.xml" Id="R45a929240de547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5b10b3d2f5407b" /><Relationship Type="http://schemas.openxmlformats.org/officeDocument/2006/relationships/notesSlide" Target="/ppt/notesSlides/notesSlide6.xml" Id="Re06221013e3e40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0a62a3e7494706" /><Relationship Type="http://schemas.openxmlformats.org/officeDocument/2006/relationships/notesSlide" Target="/ppt/notesSlides/notesSlide7.xml" Id="R9fa103a2a1bc41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1f24ad083f4119" /><Relationship Type="http://schemas.openxmlformats.org/officeDocument/2006/relationships/notesSlide" Target="/ppt/notesSlides/notesSlide8.xml" Id="Rd256196da19044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6f89a9d4f34354" /><Relationship Type="http://schemas.openxmlformats.org/officeDocument/2006/relationships/notesSlide" Target="/ppt/notesSlides/notesSlide9.xml" Id="R1593520ee7834d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0473C8-C5CF-4EEE-8B47-3E4A9DC4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6D7B9-AFFC-4434-AAAE-71BA0358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AFC5D9"/>
                </a:solidFill>
                <a:latin typeface="Hiragino Sans GB"/>
                <a:ea typeface="Hiragino Sans GB"/>
                <a:cs typeface="Hiragino Sans GB"/>
              </a:rPr>
              <a:t>桩基工程全过程管理平台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540AF-2979-451C-85ED-25397A2B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858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桩基施工阶段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功能与流程设计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7BD7F-64F6-44B0-B051-317AA924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638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D9E5F0"/>
                </a:solidFill>
                <a:latin typeface="Hiragino Sans GB"/>
                <a:ea typeface="Hiragino Sans GB"/>
                <a:cs typeface="Hiragino Sans GB"/>
              </a:rPr>
              <a:t>从开工准备到资料移交，建立一桩一档、验收闭环和资料包闭环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4166C-517A-49AF-A228-AC8C4D17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42627E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32 类施工资料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73DEF-DA8D-4837-8EA6-BB41E6E3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67200"/>
            <a:ext cx="1219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42627E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 类责任单位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2DFC3-422E-40A8-AC25-2D89C68E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67200"/>
            <a:ext cx="1219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42627E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9 个功能模块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7D27E-32A2-477D-B101-7208CBAD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67200"/>
            <a:ext cx="1219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42627E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8 个流程节点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38A18-26DC-4865-849C-DC621D0F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9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7A010-131A-4BE9-B234-D5C1C945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240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A5AF7-86DB-4DA1-A732-781BCF37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1F075-60D5-45BB-8DB2-B2800E64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240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5F2B8C-A6F7-496D-8E81-58551B55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8F1E6-0AB8-44D8-8BB5-C0EFB847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240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03DD5D-8916-4087-98AC-385B7F55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F296E-5861-4687-88EA-B4D55F9F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240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098387-50DC-483A-8E76-70BEA498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8C7052-7168-4693-A87F-7D719897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9240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2C1263-2982-43E3-9CBD-B7355169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1386B2-9276-4E9D-918A-838FDC83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9240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9F8A82-71D7-4A7E-B5E8-76588DD5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1BD621-B2F8-4D2C-9422-0D3CFA6C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9240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8E798-ED79-48BC-8FB7-0068B9DA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7D6EB1-024A-4924-994F-D5AB2028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9240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1D6F31-48F8-426D-99A6-76F4240F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A6E576-8158-4BD0-B956-00B78400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53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8FA8BD"/>
                </a:solidFill>
                <a:latin typeface="Hiragino Sans GB"/>
                <a:ea typeface="Hiragino Sans GB"/>
                <a:cs typeface="Hiragino Sans GB"/>
              </a:rPr>
              <a:t>PILE FOUNDATION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793CDB-2A83-4D03-9EFB-E56C7286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>
                <a:solidFill>
                  <a:srgbClr val="9FB3C6"/>
                </a:solidFill>
                <a:latin typeface="Hiragino Sans GB"/>
                <a:ea typeface="Hiragino Sans GB"/>
                <a:cs typeface="Hiragino Sans GB"/>
              </a:rPr>
              <a:t>依据：《桩基工程文档管理智能体工作计划》《桩基工程全过程管理文档清单》</a:t>
            </a:r>
          </a:p>
        </p:txBody>
      </p:sp>
    </p:spTree>
    <p:extLst>
      <p:ext uri="{BB962C8B-B14F-4D97-AF65-F5344CB8AC3E}">
        <p14:creationId xmlns:p14="http://schemas.microsoft.com/office/powerpoint/2010/main" val="2369389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490992-67B4-4D4A-9230-5FB615C0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B5D79-C6C1-4EAD-9AF0-9D1CF3AD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施工阶段应围绕“桩、资料、验收”形成闭环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25736-7656-4513-A23A-44AAACEE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施工阶段既是现场执行过程，也是资料形成和移交过程。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7D58D-9938-499F-B984-CC40A952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桩基施工阶段 · 功能与流程设计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579F6-2F6C-414F-8C1D-CA14B85A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9E326-6366-4272-AA54-7012EDCB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4955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C2EC3-B337-4C74-AE44-0D2DED43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8F1D01-B93B-4D4F-87E0-8AB4DF39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CB7D0-CF29-417B-9D1C-C7E2301D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方案审批、开工条件、测量交接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FDE7C-396E-4840-9FFF-29341C01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4955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C970B-D430-425B-B1DB-51824979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66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D47745-0234-4893-9F17-1F0C1012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52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桩位施工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50AF0-A981-4FCF-88F9-BC08B2B2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098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一桩一档、过程记录、进度统计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EE358F-1EA0-4B73-BA54-44C79BC7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24955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E7F5F5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8EAD5-51AA-4695-8882-D7834C22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66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9ABD9-ED9D-4BA6-8633-D0664BDD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52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质量闭环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AB06A0-C0A7-416C-B114-0660779D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098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报验、隐蔽验收、检测监测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E0621E-3DFB-4C4F-ADD2-98ECD8BC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95450"/>
            <a:ext cx="24955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8B4DD0-75CF-450A-B3E9-4E93B7A0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66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B760D1-3C9B-4A7C-AC2C-D1603B12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52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资料移交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F3F1D4-A7A8-4C01-B09F-E7FE1FF6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098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32 类资料包、阶段完成门槛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1C1000-B399-4936-90EE-F480B612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E8B006-1429-4A1E-9A9B-27C02B76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32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BFD59D-5FD1-4889-9673-E5EABE8F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类施工资料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180543-D943-4003-9058-C5D53C60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719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62B110-03F8-4889-8F69-5DF65698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72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类责任单位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50820C-DB0F-4C5E-9D0B-39D361A5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719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1 : 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569E34-5383-43A1-BDA2-72E007F0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72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一桩一档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D3EA6A-CF4D-4644-9B1F-7548E2E3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719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B9B6A0-61D4-44C8-947D-ED4E2368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72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类完成门槛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3A169D-768C-4AC0-BF82-F390D5BE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14800"/>
            <a:ext cx="19431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F0D39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585ECA-CD7B-44EF-911F-86EA78D5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481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rPr>
              <a:t>待确认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6608FD-2DD0-4A4A-8DDB-D5D1CF14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148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5.1 六项与勘察阶段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条目重复，建议核对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77974B-666A-4DED-A370-3C8A5933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建议采用“阶段责任 + 文档责任”两层权限，避免分包、监理、检测无法上传自己负责的资料。</a:t>
            </a:r>
          </a:p>
        </p:txBody>
      </p:sp>
    </p:spTree>
    <p:extLst>
      <p:ext uri="{BB962C8B-B14F-4D97-AF65-F5344CB8AC3E}">
        <p14:creationId xmlns:p14="http://schemas.microsoft.com/office/powerpoint/2010/main" val="163393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FE7D7A-00E2-42F1-9385-FC859E39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B370E-88EF-442C-874E-74CFDC4A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四类单位共同参与，但职责必须分开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C568E-C214-4E0C-B066-4D51BDA6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阶段责任决定能否进入；文档责任决定谁编制、谁审核、谁签认。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F3992-02B6-4CDA-B7CB-9F21B39C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桩基施工阶段 · 功能与流程设计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D6ABB-622D-47A1-AF49-1CE9611E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9BC28-1897-4D0E-8455-4F87C8DDE794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748665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57300"/>
                <a:gridCol w="2857500"/>
                <a:gridCol w="3371850"/>
              </a:tblGrid>
              <a:tr h="514350">
                <a:tc>
                  <a:txBody>
                    <a:bodyPr lIns="95250" tIns="47625" rIns="76200" bIns="47625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主要职责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关键控制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514350">
                <a:tc>
                  <a:txBody>
                    <a:bodyPr lIns="95250" tIns="47625" rIns="76200" bIns="47625"/>
                    <a:lstStyle/>
                    <a:p>
                      <a:r>
                        <a:rPr sz="99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建设单位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阶段统筹、重大审批、验收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开工令、重大方案、阶段移交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95250" tIns="47625" rIns="76200" bIns="47625"/>
                    <a:lstStyle/>
                    <a:p>
                      <a:r>
                        <a:rPr sz="99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工程总包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施工牵头、分包管理、总包复核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施工组织、进度、资料汇总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514350">
                <a:tc>
                  <a:txBody>
                    <a:bodyPr lIns="95250" tIns="47625" rIns="76200" bIns="47625"/>
                    <a:lstStyle/>
                    <a:p>
                      <a:r>
                        <a:rPr sz="99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桩基分包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施工执行、过程记录、自检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专项方案、成孔/浇筑/沉桩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95250" tIns="47625" rIns="76200" bIns="47625"/>
                    <a:lstStyle/>
                    <a:p>
                      <a:r>
                        <a:rPr sz="99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监理单位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旁站、见证、报验审核、复查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旁站记录、检验批、整改复查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514350">
                <a:tc>
                  <a:txBody>
                    <a:bodyPr lIns="95250" tIns="47625" rIns="76200" bIns="47625"/>
                    <a:lstStyle/>
                    <a:p>
                      <a:r>
                        <a:rPr sz="99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检测监测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检测方案、检测报告、监测预警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静载、低应变、声波、钻芯、高应变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95250" tIns="47625" rIns="76200" bIns="47625"/>
                    <a:lstStyle/>
                    <a:p>
                      <a:r>
                        <a:rPr sz="99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设计单位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技术澄清、设计变更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异常桩处理、变更影响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514350">
                <a:tc>
                  <a:txBody>
                    <a:bodyPr lIns="95250" tIns="47625" rIns="76200" bIns="47625"/>
                    <a:lstStyle/>
                    <a:p>
                      <a:r>
                        <a:rPr sz="990" b="1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勘察单位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地质异常、补孔、持力层确认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/>
                    <a:lstStyle/>
                    <a:p>
                      <a:r>
                        <a:rPr sz="990" b="0">
                          <a:solidFill>
                            <a:srgbClr val="1C273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补孔通知、地质确认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6C5A6-1E91-4052-9FBA-B49B136C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76400"/>
            <a:ext cx="3200400" cy="4114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77300-3E77-4C43-B41D-2C88305E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859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双层权限模型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27BCE-EA26-4759-A739-D470EE15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24100"/>
            <a:ext cx="27432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B8D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BD1FEA-00AD-4F9C-9EF1-395E879A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76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阶段访问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69400-1D1C-4E98-8BBA-A51AF25A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4320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按《管理流程》责任矩阵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决定能否进入施工阶段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5EBFD6-C865-43DB-8FB4-0C16224D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766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6A2EA-BA95-4FBD-AA4D-1B17860C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62350"/>
            <a:ext cx="2743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E8BF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DB76B-44D2-4AA3-BE1F-21563398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14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文档责任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8878C-D9A4-4E4D-B442-28DF48CC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8145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编制 / 审核 / 签认 / 只读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按清单责任单位配置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4FA022-9B12-45D0-80FE-409EEAF1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93395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分包、监理、检测必须能上传自己负责的资料</a:t>
            </a:r>
          </a:p>
        </p:txBody>
      </p:sp>
    </p:spTree>
    <p:extLst>
      <p:ext uri="{BB962C8B-B14F-4D97-AF65-F5344CB8AC3E}">
        <p14:creationId xmlns:p14="http://schemas.microsoft.com/office/powerpoint/2010/main" val="16425973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C2F062-4ECE-45A6-93A4-16AD76A1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94F8D-4D4E-49A1-8320-8BF554E5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一个施工工作台承载九类核心功能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D4A4B-C14F-48A9-82E4-04F23C26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从现场记录到资料归档，所有功能围绕“桩”和“资料包”组织。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25B3C-DAC2-4A8A-962D-D7E5A75E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桩基施工阶段 · 功能与流程设计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6A02F-476E-493E-9F91-005D5F1B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73D07-456E-449C-9DA8-558AB28A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486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14B64-5F5E-479D-A8DB-50815F4A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CF128-DFCD-4A08-A50C-B91899C1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施工总览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D41F2-45D1-4246-9A42-881EBD1A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进度、质量、风险、资料齐全率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F7255-98DC-4D1C-ACFB-E664F90A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76400"/>
            <a:ext cx="3486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E5A55-3887-4180-A745-10FE4E75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47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19A6BF-E0CA-4BEE-AFDA-45EBECE2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施工准备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F189A-BEB4-455E-9D4E-838C3D81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669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方案审批、开工条件、测量交接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00EAB1-E2FC-4FAF-A348-1CF3B06B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76400"/>
            <a:ext cx="3486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587ED7-AD5C-4D13-AFD8-D4ED7C36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47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2AABE7-8BF6-4C33-9CC3-B1501459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桩位台账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0823F-3E52-462B-9ADC-C92A4350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一桩一档、状态、平面图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B3C3EE-B3FD-48E0-A193-5A7EB953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486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60CD62-FED1-40B0-8428-DE72E828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7C2DD6-9AAD-4AF5-9C1D-8087FE01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14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DFBD40-2360-469B-8FD7-181E61CD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成孔/钢筋笼/浇筑/沉桩/影像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FC947F-0B77-4DE3-859F-C608FF72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81350"/>
            <a:ext cx="3486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282D2F-0175-48E8-9B1A-B2EE0DC3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52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BEA00D-57C0-4C12-8774-A1F01F96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14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报验验收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2D6EBC-2238-4B69-A62E-EB14F7BE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719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自检、总包复核、监理验收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34B70A-1CA5-47DE-8092-386562A8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81350"/>
            <a:ext cx="3486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87229A-2D86-41A8-9E81-B0072BDE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52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7AA689-B2B9-4E4C-8754-5C3A5847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14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检测监测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702C62-32AA-43E1-8F3E-5BCA5778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719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检测报告、监测预警、复测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15EB60-B878-4AF3-8E9E-7844791F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3486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C2652C-1EA1-4FFD-BF03-9F96D460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8CCB79-36C3-485A-A75C-B61A7428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96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问题与变更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B1242F-6727-46C8-B1EA-51B35901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整改闭环、变更影响分析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763A36-2376-402C-B81B-A9CF1720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86300"/>
            <a:ext cx="3486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ADBA0E-F34E-4A6F-934F-BF9DE262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57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21687D-731F-48D0-93E3-1017ADCA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8196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资料包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46E2BA-FB1C-4B2D-9B71-07039146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768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5.1-5.4、完整性、移交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03ECC7-B4D6-456E-B8ED-1A76A632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86300"/>
            <a:ext cx="3486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BF4B6C-CC69-4309-B2BF-10984CA9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57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D31864-9394-4F47-9EC3-102517FD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196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AI 助手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3FB2EC-7B5B-4E05-AA87-7599485F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768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分类、抽取、检查、日报</a:t>
            </a:r>
          </a:p>
        </p:txBody>
      </p:sp>
    </p:spTree>
    <p:extLst>
      <p:ext uri="{BB962C8B-B14F-4D97-AF65-F5344CB8AC3E}">
        <p14:creationId xmlns:p14="http://schemas.microsoft.com/office/powerpoint/2010/main" val="17559969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9368233-1764-4070-8C91-77A2C4E2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C89C8-7C80-4427-B81C-4D1FAB0D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从开工到移交，施工阶段分为八个节点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75AAA-6979-49C3-9BC3-851EC588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流程按“准备—施工—验收—移交”推进，每个节点都有明确输出。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7FE9B-056A-4899-A9DA-FE730710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桩基施工阶段 · 功能与流程设计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45764-1C30-42BE-99FB-4602B798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88967-7BD8-4E07-9390-3286EB43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4A4A4-FEA2-4255-8269-5F275436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86B16-6E2E-409D-B1F0-B4F0E533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C2400-8AAE-44C6-979E-6B7B23D3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方案 / 人员 / 机械 / 材料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AAA57-5DD4-41CF-AB31-B3DB3467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002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1F1B5-C0A1-4AC1-88BF-9AE8E5A7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811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B75EA7-E4D7-4389-8F47-F34F71BE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145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27B90-84F7-4899-8BC3-17BE4341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开工条件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EADF4B-D3C1-45F3-A083-853AAF30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145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测量 / 试桩 / 报审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2C80F0-8279-4D75-9D79-E990E985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002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9F6E6-56A4-4DE5-B903-EA6DD72F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811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B80F3E-AD33-4013-A96D-30193D30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407DA7-2B3A-429C-8CEB-0EAE09E8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开工审批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D58828-922B-4922-9A4F-CA2298BC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监理核查 / 开工令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ACE5F9-89F1-4812-B69B-F9AAC966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C7EB2F-63B4-4A7A-9541-02412ED9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5811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66FAD2-D3DB-457D-A9DA-E3BBD25F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145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9C2061-95FD-42A0-B991-60740CD1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试桩首件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975A56-4435-4A5B-96F2-840E0EF1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145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工艺验证 / 首件验收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9B74DD-B827-4A0B-A52C-7451437E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987A72-AE45-4F42-8F16-4F8DB677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ED1B24-FD06-43FA-A62D-5D396B5A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批量施工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CCF0DD-A2D0-4D01-9440-A121DE8F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单桩记录 / 进度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11D5F4-D0D3-4981-916C-F9997FE5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766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36532E-993F-49E9-AD7B-5488A234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575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4B0CCC-82A4-47C0-9712-20CA76C2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909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96E3CF-A490-4734-A966-163C874E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71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报验验收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1BCF70-1222-43E5-A482-D5F2A9EC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909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隐蔽 / 检验批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32EFC2-720E-4D0A-83C1-3D2936B6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766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EF814B-E7F2-4D27-A84E-E65BFF0B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575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112129-951B-4486-B8E0-A5C579B7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909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EC34F8-781A-46D8-A1AB-C85A7967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71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检测监测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130E7A-7586-4293-9C31-19613B7F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909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报告 / 预警 / 整改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014A9C-1806-4E59-974E-F30DBCA7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766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1C6A45-D7D3-410D-B01B-A39479E2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57550"/>
            <a:ext cx="2400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D82B72-27AD-4897-B75F-E8CE89F9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909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F4AF07-60FB-4BC2-A3C8-DAB51652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71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完工移交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A2288C-6215-4EF4-B9E4-147ACD2A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909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分部验收 / 资料包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C1E288-2D65-4B4F-B433-DF6A8446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724150"/>
            <a:ext cx="190500" cy="4191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37E0AD-2702-447B-8973-CDD76F01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E8BFC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83793A0-EA9A-4087-A3F4-B9AEAFE4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阶段完成门槛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B5B19A-0703-45B6-9088-2EEBA9BA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387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资料齐  ·  桩完成  ·  检测闭  ·  问题清  ·  变更闭  ·  签认全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E68328-9FFC-4E60-AC4D-AE0225C8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43550"/>
            <a:ext cx="3390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未达到门槛不得进入验收试桩阶段</a:t>
            </a:r>
          </a:p>
        </p:txBody>
      </p:sp>
    </p:spTree>
    <p:extLst>
      <p:ext uri="{BB962C8B-B14F-4D97-AF65-F5344CB8AC3E}">
        <p14:creationId xmlns:p14="http://schemas.microsoft.com/office/powerpoint/2010/main" val="17223474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24414F-78C5-488E-A47E-7BEDC7E8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63077-1D34-43CD-A764-9C44F387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单桩施工记录与验收构成最小质量闭环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07E38-03CA-4053-A4C8-773DA1DD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每一根桩都应形成“记录—复核—验收—检测—归档”的完整链条。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FD1DA-C8FA-4AF1-843B-1B5EA1DB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桩基施工阶段 · 功能与流程设计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1E49C-8582-4C86-BC18-E3B0B709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640FC-C32A-4994-8572-246DC7B7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409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259BC-5309-4E07-8CF0-799A578B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设计桩位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D00F2-4886-400F-A4F8-F644C506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45262-C425-4A9D-9047-C152478C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05000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E5CC2-74C9-43FD-960D-A21AA58E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619250"/>
            <a:ext cx="1409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7922B-54FD-4930-988B-026CEEFB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907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施工记录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473002-399E-407C-82EC-44ABC02C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383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F6E2F-2A7C-4D62-AEAB-CD2DFEDC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05000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36C0C2-080B-4E50-A20F-5504F4BE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19250"/>
            <a:ext cx="1409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6C609-4FF7-4E10-94F9-150E3A0E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907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分包自检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951A4-6A23-4350-935C-42F5FAF8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383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F3C579-D30A-43B7-93D6-F691D4A0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05000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EDD244-1DF2-41B3-A6FE-8AD4F11D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619250"/>
            <a:ext cx="1409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2B0C44-28AB-4C2E-A7E2-69CB2585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7907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总包复核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F9B5FE-84F8-4AED-9069-F4029C55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383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8C44A8-BFD0-4F89-8F2C-E998C0FF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05000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B3A2DE-970D-4684-A56F-F7B340D8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1409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AB40E2-7C2C-42B6-8FDD-2D17D9DF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监理验收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BD9CF2-4EBB-41EB-86E3-08FBFF43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383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F4617A-7A8D-441B-9711-04147F80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05000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81E525-B004-4533-8E5F-D0D326C5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19250"/>
            <a:ext cx="1409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660C7E-A45C-4B47-B66B-714AFB34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907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检测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F0343B-8324-4B0D-9A7F-6C2E8115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383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462E33-EA43-476C-90F1-A72DCFD4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05000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07BED6-DB01-4A70-99B3-82C08635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19250"/>
            <a:ext cx="1409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4201E2-1301-4FD2-ADE8-32A022F4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7907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归档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63D452-6841-4CFF-99B4-CBFE9EA5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383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A30BC4-3AD3-4C63-B0E8-568CF19C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6197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6C97A8-C1F8-44AC-B5FF-39FB25CA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一桩一档：记录内容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538E8A-5AF5-4981-B6FE-E2DD8DF9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485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成孔记录 / 沉桩记录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钢筋笼制作与安装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混凝土浇筑 / 后注浆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接桩、桩头凿除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班组技术交底、施工日志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现场照片 / 视频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B4DD23-3261-4B53-A51E-DAB21047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24150"/>
            <a:ext cx="51244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3D80D4-ECDC-4271-9D9C-1B48439D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14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质量控制点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97A2C9-1A4B-4770-AD99-BE09B9A8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909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B4232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1B8F89-289B-49E7-824D-6A6D977F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71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停工待检点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C9A773-90C4-4E5D-8E21-07A1045C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04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未经监理放行不得进入下一道工序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A8F31B-215F-454D-A373-717993AE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B4232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A5FF4C-678B-418E-B978-3C7D87F6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81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见证点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1395DF-4E37-4ED1-B165-85168C39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10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见证取样、见证送检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44B516-7DD2-4118-ACC4-2E28E6B9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B4232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5DD989-37B4-494E-9278-6783F40C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91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旁站点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0F8B95-2383-47A3-AB16-BA83BD12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19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关键工序监理现场旁站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7F4C49-B89F-41F2-94EC-EA8E4F3C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314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未验收不得进入下一道工序</a:t>
            </a:r>
          </a:p>
        </p:txBody>
      </p:sp>
    </p:spTree>
    <p:extLst>
      <p:ext uri="{BB962C8B-B14F-4D97-AF65-F5344CB8AC3E}">
        <p14:creationId xmlns:p14="http://schemas.microsoft.com/office/powerpoint/2010/main" val="5702639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0D635F-E818-4021-86C8-0E0059B9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471B7-222F-426F-A710-4C3CDB12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检测、监测、问题与变更必须互相触发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2832-E8FB-409F-955F-A8461048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不合格报告和监测预警不能停留在文件层面，必须进入闭环。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8F55E-CB76-4BED-BF1B-C9361F55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桩基施工阶段 · 功能与流程设计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DDEB1-6809-4729-85D4-A8419D07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97564-5C41-4D47-8E36-3B1024DE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486150" cy="38290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A22A7-DA0C-4E75-A1FB-9C72FE97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检测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5FFDF-3388-4241-B09D-E54845A5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检测方案与资质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低应变 / 声波 / 钻芯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静载 / 高应变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检测报告与复检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ECB36B-EE54-446C-B788-39F63012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3105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D5ABF-FD7C-4E0C-85D9-DCABA894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43400"/>
            <a:ext cx="283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25000"/>
              </a:lnSpc>
              <a:buNone/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不合格 → 问题单 → 整改 → 复检 → 关闭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C53C9-9EEF-488F-B4DF-E74A464B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38300"/>
            <a:ext cx="3486150" cy="38290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7F5F5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AC02F8-BD0C-45E7-9D90-D025D339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47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监测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136AE-7CC6-4478-9079-3194666D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2410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沉降 / 位移 / 水位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监测点与频率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阈值与预警等级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日报 / 周报 / 月报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F8636E-4A18-48BA-840C-4913389C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3105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B1F886-1EEA-4ED0-8486-1C824C0D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43400"/>
            <a:ext cx="283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25000"/>
              </a:lnSpc>
              <a:buNone/>
              <a:def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13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预警 → 会商 → 处置 → 复测 → 关闭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2DF209-94D6-4F13-A539-4CB86F82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38300"/>
            <a:ext cx="3486150" cy="38290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66C31C-EDCE-4420-9818-3FBEF212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47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问题与变更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6B991-0423-4B16-A929-1B710F05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2410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质量问题 / 监测预警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技术澄清 / 设计变更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已施工桩影响分析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成本与工期影响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EC8FD-8FE9-4C8B-A827-5A311C2D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71950"/>
            <a:ext cx="3105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364A39-5CF4-4AD9-9D8D-DAB48378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43400"/>
            <a:ext cx="283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25000"/>
              </a:lnSpc>
              <a:buNone/>
              <a:def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13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未闭环不得进入阶段验收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3A6678-E509-4AD1-8EBD-F27C3FA5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483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所有关闭必须有监理确认和审计留痕</a:t>
            </a:r>
          </a:p>
        </p:txBody>
      </p:sp>
    </p:spTree>
    <p:extLst>
      <p:ext uri="{BB962C8B-B14F-4D97-AF65-F5344CB8AC3E}">
        <p14:creationId xmlns:p14="http://schemas.microsoft.com/office/powerpoint/2010/main" val="2018174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597A7B-5685-4ADA-BC75-1FE3D431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6B412-F3FA-42D7-BE08-CD5F171C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资料包完整性决定施工阶段能否完成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87A54-A255-403A-A91E-02D22F22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32 类资料按四类责任单位组织，未齐不得进入验收试桩阶段。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BE50D-C90F-4C82-8048-ADDDE9A0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桩基施工阶段 · 功能与流程设计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498CE-5FAC-49D5-BB03-7A2703FD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C1CA7-91F3-45E8-A2AA-B07B3367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6289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C87FD-255B-4A04-828C-F1D5DC64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5.1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99832-E2D0-46F5-A2EF-C2B4CE87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总包统筹包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D2B9D-6894-4430-BA2F-9A025CE0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09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6 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DC1CF-F7E2-45FE-B4FA-762679BE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施工准备、分包管理、测量交接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93FB5D-7656-44B2-AB27-517E7440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57350"/>
            <a:ext cx="26289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FF439A-3AF5-45E9-AAEB-314AAD8F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09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5.2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39A76-CDBC-4A69-BC8D-ACBC48AC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57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分包执行包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405C58-699A-4A33-9EBD-E74C2E39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8 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A8E89-0129-4CE9-B1D9-1B86BDBE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3840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专项方案、施工记录、隐蔽验收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1E9B64-42B7-4282-BBD0-E0567076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6289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216C12-3FE5-45D0-A201-1792AA81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5.3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297C03-E4BD-4733-8FA2-0634ADA1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监理控制包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CBC386-A1E0-4853-B6FA-7C1254C1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76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9 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6EAC17-4D06-457B-9C21-74A6F28B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旁站、见证、报验、检验批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1E05DA-C808-4CFB-BC45-EE4B1BDD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24200"/>
            <a:ext cx="26289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E305D7-708C-4434-82A8-AF453AEC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76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5.4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56DCF0-A6B6-4946-A1BF-0A6E822C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检测监测包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0F5B16-D8C5-4208-BF4A-1C09D9FD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76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9 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D40A45-3504-4346-AFE2-DF65B8B5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0525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资质、方案、检测报告、预警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775570-45FA-42F0-AF6F-703A600C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5143500" cy="36766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E8BF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13089F-A956-43DC-8C41-77472206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66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阶段完成门槛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F81F99-E1AB-4EC3-A4BD-FFBE23A7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05050"/>
            <a:ext cx="45148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32 类必填资料均有有效版本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需审批资料全部批准 / 发布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全部桩完成施工记录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检测、监测、问题、变更闭环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竣工图、桩位台账、施工总结齐全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9"/>
              </a:spcAft>
              <a:buNone/>
              <a:def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总包、监理、建设单位完成签认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971BA6-71CE-462C-A8B3-C638D9A3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未上传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BF988E-B6F8-44ED-B1D9-47E1D9F8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578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草稿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E7711A-E32C-4F2F-ABC7-610C7D2E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6578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审核中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FC9FEB-E7E3-4B6F-BDA9-5B6D2A8D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6578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已批准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78A10A-35C6-4755-8BA6-E3B16394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578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F5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已发布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86B8FA-F14F-4E15-AB18-85715DD5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6578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8C98D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rPr>
              <a:t>过期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114D9B-6B7D-458B-9A9A-FCC125CF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57850"/>
            <a:ext cx="762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不适用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73907C-C5EE-4EAD-BC3B-713823F0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57850"/>
            <a:ext cx="377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30 类需审批  ·  2 类影像资料</a:t>
            </a:r>
          </a:p>
        </p:txBody>
      </p:sp>
    </p:spTree>
    <p:extLst>
      <p:ext uri="{BB962C8B-B14F-4D97-AF65-F5344CB8AC3E}">
        <p14:creationId xmlns:p14="http://schemas.microsoft.com/office/powerpoint/2010/main" val="3630598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13A95F-1F1A-4315-BB99-2F7C6C26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60AA6-0FA1-4D98-8FAE-117F3086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先建基础闭环，再叠加 AI 与移动端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F524A-0723-489C-A28C-B92DB25D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>
                <a:solidFill>
                  <a:srgbClr val="5F6B7A"/>
                </a:solidFill>
                <a:latin typeface="Hiragino Sans GB"/>
                <a:ea typeface="Hiragino Sans GB"/>
                <a:cs typeface="Hiragino Sans GB"/>
              </a:rPr>
              <a:t>优先保证现场可用和数据闭环，再逐步增加智能检查与报告生成。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4D6B9-64A3-4558-B325-C290DF18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桩基施工阶段 · 功能与流程设计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1E66B-1926-4BCD-96A6-06F8A795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>
                <a:solidFill>
                  <a:srgbClr val="8491A2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79E69-368F-42D7-B7C5-69C56DDA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2578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3B89A-F151-4A05-92BC-2888712C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页面入口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E467E-66FC-4C98-AD57-512F93FA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914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施工总览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CDCF7-2306-4C0D-854D-FAB91910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305050"/>
            <a:ext cx="1047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桩位台账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4E51E-5538-4C6F-B7C6-DC0E84D7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05050"/>
            <a:ext cx="1047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施工记录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00110-A4B9-4E4E-9F1A-47CDF148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05050"/>
            <a:ext cx="1047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报验验收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F22994-3BE7-4314-BF1D-B7A76117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1047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检测监测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F85AD-E02A-40E7-A72E-E84FC336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743200"/>
            <a:ext cx="1047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资料包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DAEAF-4954-48B2-AD60-A4AD3DBF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43200"/>
            <a:ext cx="1047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AI 助手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143A2A-5EB2-45B8-B284-EC3717AB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383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05C985-1837-4D67-B446-46369F72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28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AI 能力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0C6CC-5397-48AD-8B58-A0CE6417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8600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marL="18" indent="-10">
              <a:lnSpc>
                <a:spcPct val="115000"/>
              </a:lnSpc>
              <a:spcAft>
                <a:spcPts val="6"/>
              </a:spcAft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施工资料自动分类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6"/>
              </a:spcAft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桩号、日期、方量、检测结论抽取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6"/>
              </a:spcAft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资料完整性与一致性检查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6"/>
              </a:spcAft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施工日报 / 周报自动生成</a:t>
            </a:r>
          </a:p>
          <a:p xmlns:a="http://schemas.openxmlformats.org/drawingml/2006/main">
            <a:pPr marL="18" indent="-10">
              <a:lnSpc>
                <a:spcPct val="115000"/>
              </a:lnSpc>
              <a:spcAft>
                <a:spcPts val="6"/>
              </a:spcAft>
              <a:buNone/>
              <a:def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带版本引用的施工知识问答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A29F5E-C930-4DBD-B96B-880CCEC6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249FD8-EB01-4147-A70A-FC1729C9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12 周实施节奏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E46BCA-0A9D-4CE6-8624-B15F702D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2563A6"/>
                </a:solidFill>
                <a:latin typeface="Hiragino Sans GB"/>
                <a:ea typeface="Hiragino Sans GB"/>
                <a:cs typeface="Hiragino Sans GB"/>
              </a:rPr>
              <a:t>第 5-6 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31A678-9A6F-492F-86D0-56042E29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基础闭环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B97AC5-4E2D-4A40-B8BF-7B551FD6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10125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19C8D9-C9C3-4352-972C-A59F8830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7244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0F8B8D"/>
                </a:solidFill>
                <a:latin typeface="Hiragino Sans GB"/>
                <a:ea typeface="Hiragino Sans GB"/>
                <a:cs typeface="Hiragino Sans GB"/>
              </a:rPr>
              <a:t>第 7 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1E6AC0-6764-41CC-BA1C-7395C8B7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0673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验收 / 问题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84C004-3376-4CBC-98C2-D148A425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0125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455BB8-F25E-4F7D-881F-920DEB3A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7244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73F5F"/>
                </a:solidFill>
                <a:latin typeface="Hiragino Sans GB"/>
                <a:ea typeface="Hiragino Sans GB"/>
                <a:cs typeface="Hiragino Sans GB"/>
              </a:rPr>
              <a:t>第 8 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890AED-E05E-484D-8942-8361792B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0673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检测 + AI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7212C0-0709-4FE5-98E3-B87AA2BF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10125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BBB62B-77B7-4BDD-9249-DD15F0DC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244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第 9-10 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C849CD-37ED-4BB9-9450-DF537ADA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673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AI 检查 / 报告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869C07-9D2F-4F9F-8F8F-486ABCC2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0125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238CFE-B6B2-4B3C-BCA1-81AC4D03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244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  <p:txBody>
          <a:bodyPr xmlns:a="http://schemas.openxmlformats.org/drawingml/2006/main" lIns="95250" tIns="0" rIns="95250" bIns="0" anchor="ctr"/>
          <a:lstStyle xmlns:a="http://schemas.openxmlformats.org/drawingml/2006/main">
            <a:def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B7791F"/>
                </a:solidFill>
                <a:latin typeface="Hiragino Sans GB"/>
                <a:ea typeface="Hiragino Sans GB"/>
                <a:cs typeface="Hiragino Sans GB"/>
              </a:rPr>
              <a:t>第 11-12 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7F80D5-CE21-46F3-94E8-9560E085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673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>
                <a:solidFill>
                  <a:srgbClr val="1C2733"/>
                </a:solidFill>
                <a:latin typeface="Hiragino Sans GB"/>
                <a:ea typeface="Hiragino Sans GB"/>
                <a:cs typeface="Hiragino Sans GB"/>
              </a:rPr>
              <a:t>移动端 / 优化 / 验收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AFB639-53C6-4899-88AB-AA665591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245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B4232C"/>
                </a:solidFill>
                <a:latin typeface="Hiragino Sans GB"/>
                <a:ea typeface="Hiragino Sans GB"/>
                <a:cs typeface="Hiragino Sans GB"/>
              </a:rPr>
              <a:t>AI 只做辅助：发布、签认、验收仍由人完成</a:t>
            </a:r>
          </a:p>
        </p:txBody>
      </p:sp>
    </p:spTree>
    <p:extLst>
      <p:ext uri="{BB962C8B-B14F-4D97-AF65-F5344CB8AC3E}">
        <p14:creationId xmlns:p14="http://schemas.microsoft.com/office/powerpoint/2010/main" val="20585504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2026-10-22T13:49:30.0740000Z</dcterms:created>
  <dcterms:modified xsi:type="dcterms:W3CDTF">2026-10-22T13:49:30.0740000Z</dcterms:modified>
</coreProperties>
</file>