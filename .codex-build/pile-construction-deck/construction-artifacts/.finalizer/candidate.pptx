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4ed81fb2dd4338" /><Relationship Type="http://schemas.openxmlformats.org/officeDocument/2006/relationships/extended-properties" Target="/docProps/app.xml" Id="Rb1818e4f8d804ae6" /><Relationship Type="http://schemas.openxmlformats.org/officeDocument/2006/relationships/officeDocument" Target="/ppt/presentation.xml" Id="R4d3cd4adc0fb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9fe750cf94975"/>
  </p:sldMasterIdLst>
  <p:notesMasterIdLst>
    <p:notesMasterId xmlns:r="http://schemas.openxmlformats.org/officeDocument/2006/relationships" r:id="Rbae5e98e923f4dd4"/>
  </p:notesMasterIdLst>
  <p:sldIdLst>
    <p:sldId xmlns:r="http://schemas.openxmlformats.org/officeDocument/2006/relationships" id="256" r:id="R96608f3ca75947e4"/>
    <p:sldId xmlns:r="http://schemas.openxmlformats.org/officeDocument/2006/relationships" id="257" r:id="R0bb785c5bc76427f"/>
    <p:sldId xmlns:r="http://schemas.openxmlformats.org/officeDocument/2006/relationships" id="258" r:id="Re64aeda039594342"/>
    <p:sldId xmlns:r="http://schemas.openxmlformats.org/officeDocument/2006/relationships" id="259" r:id="R657eb2f01d4d436c"/>
    <p:sldId xmlns:r="http://schemas.openxmlformats.org/officeDocument/2006/relationships" id="260" r:id="R7c7a965d5e154b4d"/>
    <p:sldId xmlns:r="http://schemas.openxmlformats.org/officeDocument/2006/relationships" id="261" r:id="R096a2f1316084315"/>
    <p:sldId xmlns:r="http://schemas.openxmlformats.org/officeDocument/2006/relationships" id="262" r:id="R4a8a9d87c8744268"/>
    <p:sldId xmlns:r="http://schemas.openxmlformats.org/officeDocument/2006/relationships" id="263" r:id="R0e9f73fd959f444b"/>
    <p:sldId xmlns:r="http://schemas.openxmlformats.org/officeDocument/2006/relationships" id="264" r:id="R4615e0fa0ad84113"/>
    <p:sldId xmlns:r="http://schemas.openxmlformats.org/officeDocument/2006/relationships" id="265" r:id="Rde7d73f70866411e"/>
    <p:sldId xmlns:r="http://schemas.openxmlformats.org/officeDocument/2006/relationships" id="266" r:id="R00c68b0173c549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3c69391d3f468b" /><Relationship Type="http://schemas.openxmlformats.org/officeDocument/2006/relationships/slideMaster" Target="/ppt/slideMasters/slideMaster1.xml" Id="R1c39fe750cf94975" /><Relationship Type="http://schemas.openxmlformats.org/officeDocument/2006/relationships/notesMaster" Target="/ppt/notesMasters/notesMaster1.xml" Id="Rbae5e98e923f4dd4" /><Relationship Type="http://schemas.openxmlformats.org/officeDocument/2006/relationships/presProps" Target="/ppt/presProps.xml" Id="R215dc82b7c5a4e57" /><Relationship Type="http://schemas.openxmlformats.org/officeDocument/2006/relationships/tableStyles" Target="/ppt/tableStyles.xml" Id="R62f8acf044e64a7a" /><Relationship Type="http://schemas.openxmlformats.org/officeDocument/2006/relationships/slide" Target="/ppt/slides/slide1.xml" Id="R96608f3ca75947e4" /><Relationship Type="http://schemas.openxmlformats.org/officeDocument/2006/relationships/slide" Target="/ppt/slides/slide2.xml" Id="R0bb785c5bc76427f" /><Relationship Type="http://schemas.openxmlformats.org/officeDocument/2006/relationships/slide" Target="/ppt/slides/slide3.xml" Id="Re64aeda039594342" /><Relationship Type="http://schemas.openxmlformats.org/officeDocument/2006/relationships/slide" Target="/ppt/slides/slide4.xml" Id="R657eb2f01d4d436c" /><Relationship Type="http://schemas.openxmlformats.org/officeDocument/2006/relationships/slide" Target="/ppt/slides/slide5.xml" Id="R7c7a965d5e154b4d" /><Relationship Type="http://schemas.openxmlformats.org/officeDocument/2006/relationships/slide" Target="/ppt/slides/slide6.xml" Id="R096a2f1316084315" /><Relationship Type="http://schemas.openxmlformats.org/officeDocument/2006/relationships/slide" Target="/ppt/slides/slide7.xml" Id="R4a8a9d87c8744268" /><Relationship Type="http://schemas.openxmlformats.org/officeDocument/2006/relationships/slide" Target="/ppt/slides/slide8.xml" Id="R0e9f73fd959f444b" /><Relationship Type="http://schemas.openxmlformats.org/officeDocument/2006/relationships/slide" Target="/ppt/slides/slide9.xml" Id="R4615e0fa0ad84113" /><Relationship Type="http://schemas.openxmlformats.org/officeDocument/2006/relationships/slide" Target="/ppt/slides/slide10.xml" Id="Rde7d73f70866411e" /><Relationship Type="http://schemas.openxmlformats.org/officeDocument/2006/relationships/slide" Target="/ppt/slides/slide11.xml" Id="R00c68b0173c5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fbcd3167f4e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94ee2b43445f0" /><Relationship Type="http://schemas.openxmlformats.org/officeDocument/2006/relationships/notesMaster" Target="/ppt/notesMasters/notesMaster1.xml" Id="R5c5858a3091d4f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668df4bc348ed" /><Relationship Type="http://schemas.openxmlformats.org/officeDocument/2006/relationships/notesMaster" Target="/ppt/notesMasters/notesMaster1.xml" Id="Racfe4ed8d4a440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136b37d884860" /><Relationship Type="http://schemas.openxmlformats.org/officeDocument/2006/relationships/notesMaster" Target="/ppt/notesMasters/notesMaster1.xml" Id="R9c7333bf7c2e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c8ddbd2b948bf" /><Relationship Type="http://schemas.openxmlformats.org/officeDocument/2006/relationships/notesMaster" Target="/ppt/notesMasters/notesMaster1.xml" Id="Rab93010dc0e2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5e0ed6f1234054" /><Relationship Type="http://schemas.openxmlformats.org/officeDocument/2006/relationships/notesMaster" Target="/ppt/notesMasters/notesMaster1.xml" Id="R7b90031f16274c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bd14868c674bb7" /><Relationship Type="http://schemas.openxmlformats.org/officeDocument/2006/relationships/notesMaster" Target="/ppt/notesMasters/notesMaster1.xml" Id="R96cd5e11eb2f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a0037a5e84f3b" /><Relationship Type="http://schemas.openxmlformats.org/officeDocument/2006/relationships/notesMaster" Target="/ppt/notesMasters/notesMaster1.xml" Id="R7f42516b47af4d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e973856b914ea0" /><Relationship Type="http://schemas.openxmlformats.org/officeDocument/2006/relationships/notesMaster" Target="/ppt/notesMasters/notesMaster1.xml" Id="Rafcf437c1e2649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02cc7af3204ca4" /><Relationship Type="http://schemas.openxmlformats.org/officeDocument/2006/relationships/notesMaster" Target="/ppt/notesMasters/notesMaster1.xml" Id="Reb11594ae10a48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06576d63c447a" /><Relationship Type="http://schemas.openxmlformats.org/officeDocument/2006/relationships/notesMaster" Target="/ppt/notesMasters/notesMaster1.xml" Id="R5adab1a8d71a49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39f22f61c647a7" /><Relationship Type="http://schemas.openxmlformats.org/officeDocument/2006/relationships/notesMaster" Target="/ppt/notesMasters/notesMaster1.xml" Id="R2b5844f27914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桩基施工管理专题汇报封面。适用于施工组织、过程控制、检测验收和资料管理汇报。以钻孔灌注桩为主线，预制桩可按沉桩工艺替换。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施工管理总览：准备、施工、检测、验收、资料五段闭环；目标是质量、安全、进度、资料四个维度同时受控。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施工准备分为技术、现场、资源、报审四类。开工条件检查表建议作为系统硬门槛，未完成不能签发开工令。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施工总体流程8节点：测量放线、护筒埋设、成孔或沉桩、清孔或接桩、钢筋笼、混凝土或连接、桩头处理、检测验收。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以钻孔灌注桩为例的关键工序：测量放线、护筒埋设、成孔、清孔、钢筋笼、导管、水下混凝土、后注浆、桩头处理。预制桩按沉桩/接桩工艺替换。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关键质量控制表：测量放线、成孔、钢筋笼、混凝土、后注浆、桩头/接桩。每个控制点必须对应检查记录。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检测包括低应变、声波透射、钻芯、静载、高应变；监测包括沉降、位移、水位、周边建筑与管线。检测不合格和监测预警都必须转问题闭环。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验收流程：分包自检、总包复核、监理验收、检测确认、资料归档。问题闭环：不合格/预警、整改通知、整改、监理复查、关闭。未验收不得转序，未关闭不得阶段验收。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施工资料按5.1总包6类、5.2分包8类、5.3监理9类、5.4检测监测9类组织；单桩形成一桩一档。资料来源：桩基工程全过程管理文档清单.xlsx。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施工进度按日/周计划管理；资源重点关注桩机、人员、钢筋、混凝土和检测资源；风险重点包括塌孔、缩径、断桩、桩位偏差、混凝土超灌和监测预警。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总结：流程闭环、质量闭环、资料闭环。以桩为主线、以记录为证据、以验收为节点、以资料包为交付。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f8525087b40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83c7fad5748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7892e29d740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0725024cf43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84be2024444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d32382525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1DA04-7B04-4A12-9309-914C37D04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4370BB-8CE7-49BE-B11C-190081E5DB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75519E-7EEB-4FD0-BD4B-DFA73718A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5D7C07-02C8-4165-868F-5A1C116B5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DBE749-FF16-4AB1-9E82-E2D9E5B06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E6F519-411E-4B68-B9BF-3051D06D5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E8ECFB-1C82-4BFD-95B0-75685A7C9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575E1A-5CAC-4AB5-8609-AD871AD97C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8872F7-B82E-472F-B75D-A07D29F8C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EA934-4096-47E3-84F3-4FEA67157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df0d28bbe4ef2" /><Relationship Type="http://schemas.openxmlformats.org/officeDocument/2006/relationships/slideLayout" Target="/ppt/slideLayouts/slideLayout1.xml" Id="R464c8db6ac6047e0" /><Relationship Type="http://schemas.openxmlformats.org/officeDocument/2006/relationships/slideLayout" Target="/ppt/slideLayouts/slideLayout2.xml" Id="R3a5235a034f749d7" /><Relationship Type="http://schemas.openxmlformats.org/officeDocument/2006/relationships/slideLayout" Target="/ppt/slideLayouts/slideLayout3.xml" Id="Rb874efb11d0944f5" /><Relationship Type="http://schemas.openxmlformats.org/officeDocument/2006/relationships/slideLayout" Target="/ppt/slideLayouts/slideLayout4.xml" Id="R2ca473685fcf45c8" /><Relationship Type="http://schemas.openxmlformats.org/officeDocument/2006/relationships/slideLayout" Target="/ppt/slideLayouts/slideLayout5.xml" Id="R97a3e1d74a0941ce" /><Relationship Type="http://schemas.openxmlformats.org/officeDocument/2006/relationships/slideLayout" Target="/ppt/slideLayouts/slideLayout6.xml" Id="R1d8fd4da87334b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c8db6ac6047e0"/>
    <p:sldLayoutId xmlns:r="http://schemas.openxmlformats.org/officeDocument/2006/relationships" id="2147483650" r:id="R3a5235a034f749d7"/>
    <p:sldLayoutId xmlns:r="http://schemas.openxmlformats.org/officeDocument/2006/relationships" id="2147483651" r:id="Rb874efb11d0944f5"/>
    <p:sldLayoutId xmlns:r="http://schemas.openxmlformats.org/officeDocument/2006/relationships" id="2147483652" r:id="R2ca473685fcf45c8"/>
    <p:sldLayoutId xmlns:r="http://schemas.openxmlformats.org/officeDocument/2006/relationships" id="2147483653" r:id="R97a3e1d74a0941ce"/>
    <p:sldLayoutId xmlns:r="http://schemas.openxmlformats.org/officeDocument/2006/relationships" id="2147483654" r:id="R1d8fd4da87334b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402a20fc049e2" /><Relationship Type="http://schemas.openxmlformats.org/officeDocument/2006/relationships/notesSlide" Target="/ppt/notesSlides/notesSlide1.xml" Id="R4a812f7c2e5d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58a44b2464401" /><Relationship Type="http://schemas.openxmlformats.org/officeDocument/2006/relationships/notesSlide" Target="/ppt/notesSlides/notesSlide2.xml" Id="Rdd2090cd8f3d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2eb530bb24d40" /><Relationship Type="http://schemas.openxmlformats.org/officeDocument/2006/relationships/notesSlide" Target="/ppt/notesSlides/notesSlide3.xml" Id="R0f75785ad9ed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6b79ebfd0419a" /><Relationship Type="http://schemas.openxmlformats.org/officeDocument/2006/relationships/notesSlide" Target="/ppt/notesSlides/notesSlide4.xml" Id="Re0ce9ba31feb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5319878204011" /><Relationship Type="http://schemas.openxmlformats.org/officeDocument/2006/relationships/notesSlide" Target="/ppt/notesSlides/notesSlide5.xml" Id="R89df2c74b4ec45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b18e59f064a96" /><Relationship Type="http://schemas.openxmlformats.org/officeDocument/2006/relationships/notesSlide" Target="/ppt/notesSlides/notesSlide6.xml" Id="R236bd738d1574c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cb81293334f01" /><Relationship Type="http://schemas.openxmlformats.org/officeDocument/2006/relationships/notesSlide" Target="/ppt/notesSlides/notesSlide7.xml" Id="Rd0fff28a066a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efae383ee4cec" /><Relationship Type="http://schemas.openxmlformats.org/officeDocument/2006/relationships/notesSlide" Target="/ppt/notesSlides/notesSlide8.xml" Id="R7360dcf7c1514f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7b8ac6ba54930" /><Relationship Type="http://schemas.openxmlformats.org/officeDocument/2006/relationships/notesSlide" Target="/ppt/notesSlides/notesSlide9.xml" Id="R73d801f6e09a43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1acef12984b00" /><Relationship Type="http://schemas.openxmlformats.org/officeDocument/2006/relationships/notesSlide" Target="/ppt/notesSlides/notesSlide10.xml" Id="R31bac2cbe69b46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a78451d974a96" /><Relationship Type="http://schemas.openxmlformats.org/officeDocument/2006/relationships/notesSlide" Target="/ppt/notesSlides/notesSlide11.xml" Id="R3c352da0358a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9E239-FC55-4C68-88E5-4652DB4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04ACD-2F0C-499C-A1E9-25A4C31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rPr>
              <a:t>桩基工程全过程管理平台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AD381-5CF6-488E-B60D-3148312C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桩基施工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89911-45C4-480B-8523-9F548241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rPr>
              <a:t>施工组织 · 过程控制 · 检测验收 · 资料闭环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C61A8-882A-41F7-A6FF-DEA827D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3BD6A-E580-4DF6-AB41-2250C37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关键工序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15AE-B797-457C-8038-F2475CEF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质量验收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B1D0-8376-40E2-B05F-C97B42B1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B257-38BD-4D51-B81E-F4FBCEF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ECA48-5345-4121-89E4-5D5423E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F0453-3422-42BE-9B45-02DC9D4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8862A-CD65-46BB-BFF6-41BC0BA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4B70D-6C4A-4C9C-B92B-62D35BFF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94E30-F7A6-4D2A-A8CE-2CFFA10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E46A6-025C-43C6-9378-4A668BF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BD896-82E3-415B-804A-07A9E6C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4C709-884C-4328-B778-A120D53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B3AA9-BD03-4B05-946B-723B02A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0D1FB-E1B9-4B9E-93D2-A81AF6F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B6FE0-4588-42D0-AAC5-3E9AE6D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7B318-0E4F-4858-9102-D449AB63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54EA8-544E-49C2-83AA-D22E730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3A8DE-CD6F-413A-A350-1D3962F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1643E-19DF-4CBD-87BE-61A5100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rPr>
              <a:t>PILE CONSTRUCTION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FA10D-C50C-4751-9CCD-960BB91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rPr>
              <a:t>以钻孔灌注桩为主线；预制桩可按沉桩工艺替换相应工序</a:t>
            </a:r>
          </a:p>
        </p:txBody>
      </p:sp>
    </p:spTree>
    <p:extLst>
      <p:ext uri="{BB962C8B-B14F-4D97-AF65-F5344CB8AC3E}">
        <p14:creationId xmlns:p14="http://schemas.microsoft.com/office/powerpoint/2010/main" val="88985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D368F8-E2E0-4EC9-A829-CAE1759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E8D0-203C-42A8-B286-269F4820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施工管理围绕一条主线展开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95C2-E7EB-49E0-AB42-4B971A4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从施工准备到资料移交，形成可检查、可追溯的管理闭环。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683DF-3ACE-4155-9F68-A4ECEE4A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9582-85FF-4A83-B66A-3F1E032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BA7F3-B490-4611-8717-4383140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38F4A-BB20-4604-8A08-5FB9C225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7B9AD-F52B-472A-BC3D-2CC4B15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38660-C1B3-474E-991F-871909D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B4A21-4E9F-4D52-8767-A375F5E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DE113-423D-4043-9646-A5D86AE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C578B-05EC-4B8E-B312-72A67CB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过程施工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AF94A-B58F-4EE9-AA31-59955CC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FF16E-6A05-421F-B594-31EE4D8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6A05B-62E0-402C-98CD-1395C06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3013E-287F-4447-9A79-FEF3C7F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A71C5-6CA8-4680-972A-AA77916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EED33-0DE7-46D6-8912-7097B42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A18C-8B51-4501-9D71-FD5583D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B1F60-B76B-4B7A-9FE9-7842B82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验收整改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B820-6E7B-4C3A-B5F8-B3384AD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00C84-899D-40CD-912A-7E13DF0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EB947-A954-41F2-B260-390669F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25E02-A771-44CA-8740-98CCAB2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资料移交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2855E-9195-4E96-8540-F706EF3B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97134-2182-493C-A0B3-41A8BCB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C95A3-4680-4A24-BEE1-468810A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一次验收合格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A95E8-DF50-402E-B9E4-17567E2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75E6-5C10-4985-AE39-F9DBDC7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安全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F76A1-CE42-4C71-A64D-49F40FC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过程风险受控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B7BBE-EAE3-4067-87E7-1FFBEA9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66DD0-7CEF-4D6F-AE44-A485A6B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进度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F9A90-264C-49C8-AF2A-03F7CF74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桩机与工序匹配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C3E93-2CF9-449C-8E93-4D9A06E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5EF1B-8A43-4966-94AD-189E817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29B61D-3B96-4DFF-9743-54A7D508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一桩一档齐全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BEB78A-01D7-48B8-974C-2351520C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5D071-2C8E-447C-83B9-50173C2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以桩为主线  ·  以记录为证据  ·  以验收为节点</a:t>
            </a:r>
          </a:p>
        </p:txBody>
      </p:sp>
    </p:spTree>
    <p:extLst>
      <p:ext uri="{BB962C8B-B14F-4D97-AF65-F5344CB8AC3E}">
        <p14:creationId xmlns:p14="http://schemas.microsoft.com/office/powerpoint/2010/main" val="48403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11488-3F97-4236-997E-9939728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D4CC-94BF-4022-9BB4-FB7B90D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施工准备决定后续能否连续施工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E2E4-132C-4E54-AA8A-F52FFC1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技术、现场、资源和报审四类准备必须同步完成。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5ED7F-71DF-4FBE-84A3-3F09619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B2003-2126-485A-9A5A-2D479AF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1E263-D6C9-413B-8476-D7AA236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E91ED-449C-4A44-ADAC-F8FAB54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技术准备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BCE8F-C758-456C-B53E-2695BA86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图纸会审、设计交底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专项施工方案、技术交底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4F009-4E71-4EA2-A2E7-BDFEA58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9437-24AB-4698-925D-A2C45E2D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现场准备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81675-A3F7-46DA-BAA0-F329920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三通一平、测量控制点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桩位复核、试桩/首件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D732-0FE6-4D23-A2D1-19B2F72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461B4-8B4B-4389-ADDE-E87F035D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资源准备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CC879-135A-47D6-9F09-ED1C101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桩机、人员、钢筋、混凝土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检测与监测资源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68FD6-04F2-489E-B9DF-D451EDB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9B3BD-4245-49B7-BB3D-F7BF5AD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报审准备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6BCD8-C092-4E63-8B36-FFB90892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分包资质、人员机械报审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开工报告、监理报审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D0AE2-F3AF-471E-9F45-1CCADE9C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6D15D-AAA4-424C-8049-3796EFD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开工条件检查表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28B06-A536-45FD-9E4C-4C82967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施工图审查完成，设计交底完成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专项施工方案批准，技术交底完成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测量控制点复核，桩位放线完成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分包资质、人员、机械、材料报审完成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试桩/首件验收完成，监理开工条件核查通过</a:t>
            </a:r>
          </a:p>
        </p:txBody>
      </p:sp>
    </p:spTree>
    <p:extLst>
      <p:ext uri="{BB962C8B-B14F-4D97-AF65-F5344CB8AC3E}">
        <p14:creationId xmlns:p14="http://schemas.microsoft.com/office/powerpoint/2010/main" val="316191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E5212A-A726-4B08-8B32-C722DD8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FB5AD-1127-470E-BD53-42B8387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施工总体流程分为八个节点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0072E-6340-4A7B-8643-CBD3887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流程按“准备—成桩—检测—验收”推进，每个节点都有记录输出。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1C34C-B3DA-49DD-9DB3-D9F27D1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61103-D372-4D4F-B56B-409C742A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5CCE1-56FC-4C73-8F87-277F753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5AA4A-0BB7-4F66-8704-D24796E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F1C37-FA77-464D-AEFC-230812A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测量放线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EED5C-0495-485A-9E19-7F412FC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坐标 / 轴线 / 标高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8506D-EFDE-43A3-A838-B2B34950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0E0E1-E393-4E60-A6F5-1A990F89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57334-1E61-4624-B089-0088CF3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BF488-E49D-475A-8607-569132C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护筒埋设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9BBC1-FF40-42A7-9C86-3160E0E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中心 / 垂直度 / 埋深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6699D-AEA1-4C4E-B11A-0FDD81D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89107-B587-4E10-9CD4-8BB5B817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C0076-BC7F-46CC-AB61-69E9839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B5C00-52B8-438B-951D-823B7AD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成孔或沉桩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72F48-A4AC-4ED4-B77C-91FC540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孔径 / 孔深 / 垂直度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62F41-08DB-4BB9-8E62-EFC22D78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F984A-0FB7-4B63-B540-707B520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2AB34-269B-4733-84F8-B603178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1DA34-509F-4F7F-A763-607AA36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清孔或接桩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B6CB8-188E-441B-91D7-FB52656F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沉渣 / 接头 / 标高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CD08C-382D-4612-9195-8B9D6D7F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90410F-79B7-4B8A-ADDA-BA967D4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B3EEB-5882-4452-A24C-4F68D15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钢筋笼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CCE0-EB9B-4A95-801C-CBEC3923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规格 / 间距 / 保护层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2AEC8-9E2E-499F-8852-A30302B8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A70EE-4982-4943-86EE-5CB9E09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0E498-4F16-40FF-96BC-D06081F3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A91EA-EE32-412F-8DEA-32C3F0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混凝土或连接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E76AF-F7D4-429C-B5F5-683A6A1E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导管 / 坍落度 / 连续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76B065-3A7B-401B-AA3C-BA823A4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0C8C9-3BA9-45D7-B76F-30B351BC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D2C5F-C859-4275-9528-5E9C506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AA9F1-1F7B-438E-94A7-392624B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桩头处理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53BE3-C95C-4212-BA8A-B7E32AC8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凿除 / 锚固 / 标高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AA5EEF-E986-4E00-A2BB-4FF334E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7B7D93-9D03-4321-90C8-BA7B11B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D433C4-CFD9-4ECE-BDBA-6A94E7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94E2F5-57FE-4A5B-B04B-90DE5B5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检测验收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111265-E186-4FC8-A74E-952C755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报告 / 整改 / 归档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1E5EE5-CC59-4024-B7A1-16537B3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691836-10C2-462D-B93F-4E64D3C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8E477A-256D-4E09-B464-A5F460A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关键控制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BF15CC-0884-4FD9-B017-334706B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38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  ·  垂直度  ·  孔深  ·  沉渣  ·  混凝土  ·  桩头</a:t>
            </a:r>
          </a:p>
        </p:txBody>
      </p:sp>
    </p:spTree>
    <p:extLst>
      <p:ext uri="{BB962C8B-B14F-4D97-AF65-F5344CB8AC3E}">
        <p14:creationId xmlns:p14="http://schemas.microsoft.com/office/powerpoint/2010/main" val="199166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7307C1-0DCC-4692-9367-15B8614B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91A07-FF04-4789-917C-04E34AB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以钻孔灌注桩为例的关键工序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EBF1A-4AE9-4573-8F5E-81E7534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从成孔到桩头处理，每一道工序都要形成对应记录。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DB8CD-9BBC-48E9-884A-2F9214F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4A83-F4AA-4CD2-893D-8EFE1E2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225C6-9A7D-484F-938E-CDB38AF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D6731-A9B1-45FD-81BD-DDCB3E5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测量放线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815C-566A-43B5-9E06-6C18B28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BC7C-3417-43BF-8158-7ADD794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5FF1-2882-44F7-B0FD-0218385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E4BCB-BCC1-4E79-BB07-F2730EB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护筒埋设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55758-B5F6-447A-8C72-6324C58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1986F-56D8-43F7-A0C2-6555258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8923C-F897-4166-B1E2-0426CDD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FA3E0-A905-43DD-B436-E995CCA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成孔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D62EB-7BC8-4299-A4C8-B13B2A7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DF1D7-7E7A-4EFD-8B8B-696A898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891AE-20EF-4FCC-B230-7437B65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CF304-3F20-4AD5-840B-CDF14860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清孔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B73D6-AE77-4254-9409-ECEEE96C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F30AF-D54E-4D3D-BFF9-F866BE8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72019-4FDA-4355-9616-798AA2E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E16B7-DAF7-4A6D-9B5F-3D86E4D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钢筋笼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9EF81-E088-47D7-8156-5B156F8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8F371-DE1F-4913-B9D8-5169FFF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D6A71-C4E9-4269-9983-70DD508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7B601-A987-4E50-8393-8DB15B9F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导管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07C15-1BA8-4641-B293-4E46F2F1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CE7EA-A9DC-4416-9455-29EE103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EB442-3444-4223-9728-16A72458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4A59B-9A86-4257-9AF4-2BCCD91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水下混凝土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B9271F-E697-4FC3-AC86-4272172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838A4-BF56-483D-8C54-035379B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8150D-8C25-4F60-8C2D-9B5982D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40576-1CAF-400C-90F2-8CCD15BB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后注浆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6C932-A193-4E5B-9553-1A96E7E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FBAE0B-764F-48C5-B524-A554FDE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AFEE89-8F24-4881-B730-1EABF2A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7A155C-49F9-420C-A180-504F929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桩头处理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0F238-2499-482B-8E79-0A6A6AB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4B32A-CD21-4EB4-8D49-91B5057A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3340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1B719-5EC3-45B9-A4FC-2B77398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关键工序要点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6FD10-2E43-4293-A12E-65CECD26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成孔：控制孔径、孔深、垂直度和沉渣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钢筋笼：控制规格、间距、长度和保护层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混凝土：控制导管埋深、坍落度和连续浇筑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后注浆：控制压力、水泥量和注浆时间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桩头：控制凿除标高、钢筋锚固和桩顶质量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6A0719-7302-4DB6-B525-1B31859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3911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A49D63-D9B1-45CB-B837-38AF4C1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工序记录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5C854A-A239-465A-9EE7-08D6A958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成孔记录 / 沉桩记录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钢筋笼制作及安装检查记录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混凝土浇筑记录 / 后注浆记录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隐蔽工程验收记录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 / 视频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5FA58D-ACA4-4D24-B631-F700CDEB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预制桩替换：成孔/清孔/混凝土 → 沉桩/接桩/桩头处理</a:t>
            </a:r>
          </a:p>
        </p:txBody>
      </p:sp>
    </p:spTree>
    <p:extLst>
      <p:ext uri="{BB962C8B-B14F-4D97-AF65-F5344CB8AC3E}">
        <p14:creationId xmlns:p14="http://schemas.microsoft.com/office/powerpoint/2010/main" val="113639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72F62-24B5-4D15-BC05-BFFA4DA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B2532-CB33-447A-9D73-A90B0D5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关键质量控制点必须落到记录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E4E6-B23B-4BC5-8675-2ED5D95D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每个控制点都要有检查动作、验收标准和对应记录。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2A806-0D4E-40A7-8912-2071FD26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0CD20-B599-4435-AB3F-6967946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C4955-2DC5-434B-8041-701C18CB1DF9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62500"/>
                <a:gridCol w="4495800"/>
              </a:tblGrid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关键控制点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测量放线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桩位坐标、轴线、标高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测量复核记录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孔径、孔深、垂直度、沉渣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成孔记录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钢筋笼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规格、间距、长度、保护层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钢筋笼检查记录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混凝土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坍落度、导管埋深、连续浇筑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混凝土浇筑记录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后注浆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注浆压力、水泥量、时间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后注浆记录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桩头 / 接桩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凿除标高、钢筋锚固、焊缝质量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桩头/接桩记录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F13B3-0532-4A00-9134-FDB3BF9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D04FD-096D-4B81-996B-FA342DC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检查动作必须与记录同步：没有记录，视为没有发生；没有验收，不得进入下一道工序。</a:t>
            </a:r>
          </a:p>
        </p:txBody>
      </p:sp>
    </p:spTree>
    <p:extLst>
      <p:ext uri="{BB962C8B-B14F-4D97-AF65-F5344CB8AC3E}">
        <p14:creationId xmlns:p14="http://schemas.microsoft.com/office/powerpoint/2010/main" val="1991343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F9061-779A-445E-B378-C96B7A4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FEB2-1353-4BEC-A80B-96E80581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检测与监测是施工质量的独立验证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49E5A-91AA-46BB-96D1-374BF717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检测结果和监测预警必须进入问题闭环。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29CF6-1424-4081-AFA7-DE12724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4F852-73E5-4442-AFC1-8025734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9ECD3-3794-41EC-9677-C500A04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E4453-2748-412B-B5CA-C876295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DF1C-99FF-490E-9E91-9455E0D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低应变：桩身完整性普查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声波透射：灌注桩完整性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钻芯：混凝土质量与桩长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静载：单桩承载力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高应变：承载力与完整性辅助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AC0A4-EA98-4786-AB11-BAC81BA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800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31595-ABC8-43B7-BEFE-C531323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 → 问题单 → 整改 → 复检 →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EA2E2-87A6-4C17-B6DB-4F2D0F1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55A9-CEC2-4D87-B78D-3E7E256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167D8-76A2-487D-BC3D-1D77A260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基坑及周边沉降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支护结构水平位移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地下水位变化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周边建筑物/管线变形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监测频率与预警阈值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C2F8B-02F4-4C3B-93B6-E7C35262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800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16FCE-93E5-4D06-A1F1-49D6CDC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预警 → 会商 → 处置 → 复测 → 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775C1-9BFB-4B09-A4DC-16E25BE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所有检测报告、监测预警和整改关闭必须留痕并可追溯</a:t>
            </a:r>
          </a:p>
        </p:txBody>
      </p:sp>
    </p:spTree>
    <p:extLst>
      <p:ext uri="{BB962C8B-B14F-4D97-AF65-F5344CB8AC3E}">
        <p14:creationId xmlns:p14="http://schemas.microsoft.com/office/powerpoint/2010/main" val="152948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7ECC5F-111A-4A67-B24A-0E9B64A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E0FCF-D723-4903-AC2D-95EE0FB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验收与问题闭环决定工序能否继续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209FE-D70D-4ACA-BE68-CF284503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先验收、后转序；不合格必须整改、复查、关闭。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5C713-6F18-44B4-A916-BE5744A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9D5DA-BA61-488B-8B84-8576A6C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B28A0-25B4-4D54-BBDD-C7BD1F8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1171-E301-4532-AFC5-8BF6FBA6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分包自检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78D96-D800-4D06-ABFD-F779813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A5B6D-4A60-485C-A807-A8C7CFAF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CB419-0C48-4C9B-8F05-C0DA6EC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21F88-2F72-4931-BAE3-D418660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0A9E9-AEE9-497C-A77B-43F416F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654C9-9A06-4BD2-84FA-552ABF5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E8457-70F9-471D-A5C6-815D0943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4914A-3662-450E-81E0-B19B0A55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36F64-1D32-4C1D-BF76-66B4731E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BFB7D-0A78-4413-A02D-748C3E6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C9648-0FC2-49C7-89F3-7BFA2F4F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E0D6B-78F5-4039-BB9D-1CB482D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资料归档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BB732-CAA9-4FA2-A12F-6E7904E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正常验收流程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E7D93-98F3-49BD-BD41-E665C44F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CE689-193E-4438-B9ED-0FBBF64A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不合格/预警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B2589-9AC1-43B9-AD86-637655F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A3699-B2F8-43D6-A03C-4EFB3AD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58683-53FF-417B-9F30-64A4959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整改通知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4D8D3-2A67-4DA8-B299-D3E6D25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E4C4A-C414-4C66-8BAE-954F05A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B1D76-8A1A-4963-BE6E-88E40F6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责任单位整改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A8665-D640-40B1-B2D5-6BE821C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11FBE-6F90-4EF2-A4AE-0EEE449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E08A5-7A2E-4016-9A1D-3BB0D3E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监理复查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6964E-3561-48B7-A2F0-C3407D8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301EC8-A202-4B3E-A060-5E78C28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828F0-0E90-4054-8D37-C9A4CF6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DDB03-BBAB-4241-B943-B76F3DB4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问题闭环流程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50230-E247-4AAA-B3C6-11CFDAD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315BD-50F8-4AF9-8141-299999D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未验收不得进入下一道工序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340DE6-5C9E-43BF-8048-563D20B3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rPr>
              <a:t>未关闭不得进入阶段验收</a:t>
            </a:r>
          </a:p>
        </p:txBody>
      </p:sp>
    </p:spTree>
    <p:extLst>
      <p:ext uri="{BB962C8B-B14F-4D97-AF65-F5344CB8AC3E}">
        <p14:creationId xmlns:p14="http://schemas.microsoft.com/office/powerpoint/2010/main" val="1400144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AD45A-5CAB-4823-B079-F2132CC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8479-2518-4556-98D4-B4963CB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施工资料按一桩一档和资料包双线管理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E68F9-DC5D-44C2-BAE4-39A9008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32类施工资料形成资料包，单桩形成一桩一档。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CF9C-B8DB-4E44-A786-7630632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3BC7B-BD01-4520-82DD-D41C86D9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B023-2286-47D9-9926-AEA3DEB2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8481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2ED50-8268-4EA8-B8FF-7B4134D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施工资料包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B132-7FF5-4A2A-A726-5D863B3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23D00-C3EC-4DD0-9021-4624A8C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总包统筹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462B2-C649-4050-A68E-295E472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6类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26A79-A1AE-4ECE-8D98-F870BB1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3EC1C-E0E5-4186-BEA2-5D72A7E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0B9F7-D561-454C-9F19-6E326E2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8类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F11F4-63DA-4EED-83EA-010B9A5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E6F0-124D-4459-A223-962D80D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5BE84-3F45-4811-9770-F55F74C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0F317-4DC9-4301-9080-C948B1E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8D20A-DA45-472B-9836-2019319E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95FF9-0C5A-43DF-9853-866B4831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624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B085E-60CB-4D27-87FF-96590D21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57350"/>
            <a:ext cx="68580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551AC-7790-4CE8-B250-1837903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E7D69-5748-4618-B08B-05AA0E1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桩位基本信息与设计参数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施工记录（成孔/钢筋笼/浇筑/沉桩/注浆）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隐蔽验收、检验批与旁站记录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检测报告与复检记录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现场照片/视频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问题、整改与设计变更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75439-FDBA-47C1-9B53-87DBA245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未上传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B54F3-42E7-43B9-A8A0-9F20EC5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BA28E-9E39-406B-B35A-3BFE66C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审核中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A5E21-45AD-4551-A688-E28D7C79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已批准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B8B23-252E-44A0-B1F5-813432C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已发布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841D8-0887-4E38-9782-6D2A05C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8C98D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过期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E4FAB-95F5-414E-90F0-D3B20FA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054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资料状态随流程自动更新，归档后只读留痕</a:t>
            </a:r>
          </a:p>
        </p:txBody>
      </p:sp>
    </p:spTree>
    <p:extLst>
      <p:ext uri="{BB962C8B-B14F-4D97-AF65-F5344CB8AC3E}">
        <p14:creationId xmlns:p14="http://schemas.microsoft.com/office/powerpoint/2010/main" val="2121165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5A0AB-93AD-458B-9380-A8E75F8C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BAE25-AFCF-4E70-AAD5-2B489E8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进度、资源与风险需要同步管理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7CB3-2ACB-420F-A14C-E53CDDD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桩机、人员、材料和检测资源不匹配，会直接造成停窝工和质量风险。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B05C5-CE26-4A1B-ACC5-474676D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3E42E-0644-4B1D-87CC-6BCEBB07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12785-0937-4C24-9C25-0B9727E7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27CF-A888-409F-80BA-4246394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进度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553A-94F6-44D8-B503-E6C1A2BF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日计划 / 周计划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桩机台班与完成桩数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计划与实际对比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延误原因与纠偏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A163A-CBD0-4A88-8B48-DD9A418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7716C-E25D-49CC-8F32-04044CE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D06D-BAD1-44BB-B638-833D75F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桩机、吊车、人员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钢筋、混凝土供应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检测与监测资源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材料批次与进场计划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EFE15-E9C7-4EF2-AC7C-CB80CD8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B8D2E-5078-4C02-8840-727154F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AA018-1E3E-4619-80A3-9A06CF2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塌孔、缩径、断桩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桩位偏差、垂直度超标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混凝土超灌、桩头缺陷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监测预警、周边建筑变形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F58B3-F392-4105-B61A-D0BEB5D3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6202C-CC9D-4604-8B4B-D1E4C613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风险应对：发现异常 → 停工序 → 分析原因 → 制定措施 → 复验后恢复</a:t>
            </a:r>
          </a:p>
        </p:txBody>
      </p:sp>
    </p:spTree>
    <p:extLst>
      <p:ext uri="{BB962C8B-B14F-4D97-AF65-F5344CB8AC3E}">
        <p14:creationId xmlns:p14="http://schemas.microsoft.com/office/powerpoint/2010/main" val="16926444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EE469-963D-442E-AC6D-2D37D0E4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5584C-2832-43B9-A97F-520A9D9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施工管理最终落到三个闭环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2E3AD-852A-4149-BCF6-754DD13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流程闭环、质量闭环、资料闭环缺一不可。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F5DC-0709-49F8-916E-82BFD86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1EFE8-5F8D-41CE-8BE6-A49750A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ACB43-5636-4168-BD29-1B4E1D5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D0A08-A449-42D0-B9A8-E6DD482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流程闭环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3EFD3-F0DD-49CE-A8CC-4744DB3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准备 → 施工 → 验收 → 移交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081AE-BB36-4A40-87C5-AB1EAE2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85AF1-CD5A-46E7-B4FD-B7D3DA8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质量闭环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87EBC-DD0B-4895-937D-0648EF2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自检 → 复核 → 监理 → 检测 → 整改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633DB-1BBC-41B6-83D4-A9E6812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04B0A-A9DA-4D3B-8CA7-F418394A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270EF-FB4C-410B-9F23-FA7151D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一桩一档 → 资料包 → 归档 → 移交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B5F7E-B867-4172-8EF4-D406B5B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3484C-0855-4AEB-AB5E-3AAB83B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以桩为主线  ·  以记录为证据  ·  以验收为节点  ·  以资料包为交付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1DA5-3CDB-4DC7-A904-7F00F066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rPr>
              <a:t>所有操作留痕，所有问题闭环，所有资料可追溯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4C995-5194-4CBC-A6D4-A47353D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674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11370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2026-10-22T14:07:41.5480000Z</dcterms:created>
  <dcterms:modified xsi:type="dcterms:W3CDTF">2026-10-22T14:07:41.5480000Z</dcterms:modified>
</coreProperties>
</file>