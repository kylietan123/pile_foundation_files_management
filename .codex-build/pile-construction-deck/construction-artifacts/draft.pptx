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c2613fdcc24c8b" /><Relationship Type="http://schemas.openxmlformats.org/officeDocument/2006/relationships/extended-properties" Target="/docProps/app.xml" Id="Rfa3c53daf08c47a0" /><Relationship Type="http://schemas.openxmlformats.org/officeDocument/2006/relationships/officeDocument" Target="/ppt/presentation.xml" Id="Rf14e83d12a0b43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450c2b71f34fdf"/>
  </p:sldMasterIdLst>
  <p:notesMasterIdLst>
    <p:notesMasterId xmlns:r="http://schemas.openxmlformats.org/officeDocument/2006/relationships" r:id="R4893651cc4a0440e"/>
  </p:notesMasterIdLst>
  <p:sldIdLst>
    <p:sldId xmlns:r="http://schemas.openxmlformats.org/officeDocument/2006/relationships" id="256" r:id="R1e08fda6326d4e1e"/>
    <p:sldId xmlns:r="http://schemas.openxmlformats.org/officeDocument/2006/relationships" id="257" r:id="R1aa502adc5794175"/>
    <p:sldId xmlns:r="http://schemas.openxmlformats.org/officeDocument/2006/relationships" id="258" r:id="R0e7ffbc8d04948d5"/>
    <p:sldId xmlns:r="http://schemas.openxmlformats.org/officeDocument/2006/relationships" id="259" r:id="Rd876f8456d294657"/>
    <p:sldId xmlns:r="http://schemas.openxmlformats.org/officeDocument/2006/relationships" id="260" r:id="R62d9f9d4cfba4d66"/>
    <p:sldId xmlns:r="http://schemas.openxmlformats.org/officeDocument/2006/relationships" id="261" r:id="R1a4511d4fed040a0"/>
    <p:sldId xmlns:r="http://schemas.openxmlformats.org/officeDocument/2006/relationships" id="262" r:id="R4fdd8c61ace24c94"/>
    <p:sldId xmlns:r="http://schemas.openxmlformats.org/officeDocument/2006/relationships" id="263" r:id="Rbb7e7119382e424c"/>
    <p:sldId xmlns:r="http://schemas.openxmlformats.org/officeDocument/2006/relationships" id="264" r:id="R70119b7658ac4ba2"/>
    <p:sldId xmlns:r="http://schemas.openxmlformats.org/officeDocument/2006/relationships" id="265" r:id="R9d09ccadac8f49d9"/>
    <p:sldId xmlns:r="http://schemas.openxmlformats.org/officeDocument/2006/relationships" id="266" r:id="R8b6b6df35efc4c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c349985fbc4572" /><Relationship Type="http://schemas.openxmlformats.org/officeDocument/2006/relationships/slideMaster" Target="/ppt/slideMasters/slideMaster1.xml" Id="Re5450c2b71f34fdf" /><Relationship Type="http://schemas.openxmlformats.org/officeDocument/2006/relationships/notesMaster" Target="/ppt/notesMasters/notesMaster1.xml" Id="R4893651cc4a0440e" /><Relationship Type="http://schemas.openxmlformats.org/officeDocument/2006/relationships/presProps" Target="/ppt/presProps.xml" Id="Rc72d0617c0d94ac3" /><Relationship Type="http://schemas.openxmlformats.org/officeDocument/2006/relationships/tableStyles" Target="/ppt/tableStyles.xml" Id="R2e1b9b40676248e3" /><Relationship Type="http://schemas.openxmlformats.org/officeDocument/2006/relationships/slide" Target="/ppt/slides/slide1.xml" Id="R1e08fda6326d4e1e" /><Relationship Type="http://schemas.openxmlformats.org/officeDocument/2006/relationships/slide" Target="/ppt/slides/slide2.xml" Id="R1aa502adc5794175" /><Relationship Type="http://schemas.openxmlformats.org/officeDocument/2006/relationships/slide" Target="/ppt/slides/slide3.xml" Id="R0e7ffbc8d04948d5" /><Relationship Type="http://schemas.openxmlformats.org/officeDocument/2006/relationships/slide" Target="/ppt/slides/slide4.xml" Id="Rd876f8456d294657" /><Relationship Type="http://schemas.openxmlformats.org/officeDocument/2006/relationships/slide" Target="/ppt/slides/slide5.xml" Id="R62d9f9d4cfba4d66" /><Relationship Type="http://schemas.openxmlformats.org/officeDocument/2006/relationships/slide" Target="/ppt/slides/slide6.xml" Id="R1a4511d4fed040a0" /><Relationship Type="http://schemas.openxmlformats.org/officeDocument/2006/relationships/slide" Target="/ppt/slides/slide7.xml" Id="R4fdd8c61ace24c94" /><Relationship Type="http://schemas.openxmlformats.org/officeDocument/2006/relationships/slide" Target="/ppt/slides/slide8.xml" Id="Rbb7e7119382e424c" /><Relationship Type="http://schemas.openxmlformats.org/officeDocument/2006/relationships/slide" Target="/ppt/slides/slide9.xml" Id="R70119b7658ac4ba2" /><Relationship Type="http://schemas.openxmlformats.org/officeDocument/2006/relationships/slide" Target="/ppt/slides/slide10.xml" Id="R9d09ccadac8f49d9" /><Relationship Type="http://schemas.openxmlformats.org/officeDocument/2006/relationships/slide" Target="/ppt/slides/slide11.xml" Id="R8b6b6df35efc4c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1c009557bf45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e24d40627e4ac0" /><Relationship Type="http://schemas.openxmlformats.org/officeDocument/2006/relationships/notesMaster" Target="/ppt/notesMasters/notesMaster1.xml" Id="Re72b1f1263e04f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9835008cc340ce" /><Relationship Type="http://schemas.openxmlformats.org/officeDocument/2006/relationships/notesMaster" Target="/ppt/notesMasters/notesMaster1.xml" Id="R08681f3076db48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dd4c62a7cb40e6" /><Relationship Type="http://schemas.openxmlformats.org/officeDocument/2006/relationships/notesMaster" Target="/ppt/notesMasters/notesMaster1.xml" Id="R8c82a0d8d2d04b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ef5785c10d44d7" /><Relationship Type="http://schemas.openxmlformats.org/officeDocument/2006/relationships/notesMaster" Target="/ppt/notesMasters/notesMaster1.xml" Id="R24d2bbc80f8c4d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ebee76be7141b4" /><Relationship Type="http://schemas.openxmlformats.org/officeDocument/2006/relationships/notesMaster" Target="/ppt/notesMasters/notesMaster1.xml" Id="Rb882829c621c43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4ca944995c46f3" /><Relationship Type="http://schemas.openxmlformats.org/officeDocument/2006/relationships/notesMaster" Target="/ppt/notesMasters/notesMaster1.xml" Id="R56bb6b0db2f14d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a2c207da5c47c4" /><Relationship Type="http://schemas.openxmlformats.org/officeDocument/2006/relationships/notesMaster" Target="/ppt/notesMasters/notesMaster1.xml" Id="Rf4d65eb77b0d4f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ad2a0de7d4426a" /><Relationship Type="http://schemas.openxmlformats.org/officeDocument/2006/relationships/notesMaster" Target="/ppt/notesMasters/notesMaster1.xml" Id="R9c199be8ca524b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96cec8fd9d4004" /><Relationship Type="http://schemas.openxmlformats.org/officeDocument/2006/relationships/notesMaster" Target="/ppt/notesMasters/notesMaster1.xml" Id="Re4760da206104c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83fde25ca84df8" /><Relationship Type="http://schemas.openxmlformats.org/officeDocument/2006/relationships/notesMaster" Target="/ppt/notesMasters/notesMaster1.xml" Id="Red20565eae754e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a528e032264591" /><Relationship Type="http://schemas.openxmlformats.org/officeDocument/2006/relationships/notesMaster" Target="/ppt/notesMasters/notesMaster1.xml" Id="R4718f171e66f45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桩基施工管理专题汇报封面。适用于施工组织、过程控制、检测验收和资料管理汇报。以钻孔灌注桩为主线，预制桩可按沉桩工艺替换。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施工管理总览：准备、施工、检测、验收、资料五段闭环；目标是质量、安全、进度、资料四个维度同时受控。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施工准备分为技术、现场、资源、报审四类。开工条件检查表建议作为系统硬门槛，未完成不能签发开工令。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施工总体流程8节点：测量放线、护筒埋设、成孔或沉桩、清孔或接桩、钢筋笼、混凝土或连接、桩头处理、检测验收。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以钻孔灌注桩为例的关键工序：测量放线、护筒埋设、成孔、清孔、钢筋笼、导管、水下混凝土、后注浆、桩头处理。预制桩按沉桩/接桩工艺替换。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关键质量控制表：测量放线、成孔、钢筋笼、混凝土、后注浆、桩头/接桩。每个控制点必须对应检查记录。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检测包括低应变、声波透射、钻芯、静载、高应变；监测包括沉降、位移、水位、周边建筑与管线。检测不合格和监测预警都必须转问题闭环。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验收流程：分包自检、总包复核、监理验收、检测确认、资料归档。问题闭环：不合格/预警、整改通知、整改、监理复查、关闭。未验收不得转序，未关闭不得阶段验收。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施工资料按5.1总包6类、5.2分包8类、5.3监理9类、5.4检测监测9类组织；单桩形成一桩一档。资料来源：桩基工程全过程管理文档清单.xlsx。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施工进度按日/周计划管理；资源重点关注桩机、人员、钢筋、混凝土和检测资源；风险重点包括塌孔、缩径、断桩、桩位偏差、混凝土超灌和监测预警。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总结：流程闭环、质量闭环、资料闭环。以桩为主线、以记录为证据、以验收为节点、以资料包为交付。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b3f138e58340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9dcd7e183444b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18da31fe7f4fc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888f41acf9426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fb63d4416548c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126a47f71b4f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D1DA04-7B04-4A12-9309-914C37D04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4370BB-8CE7-49BE-B11C-190081E5DB3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875519E-7EEB-4FD0-BD4B-DFA73718AD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5D7C07-02C8-4165-868F-5A1C116B5F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9DBE749-FF16-4AB1-9E82-E2D9E5B06A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5E6F519-411E-4B68-B9BF-3051D06D58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E8ECFB-1C82-4BFD-95B0-75685A7C94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A575E1A-5CAC-4AB5-8609-AD871AD97C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8872F7-B82E-472F-B75D-A07D29F8CD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6EA934-4096-47E3-84F3-4FEA671570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aaf2321ec947f2" /><Relationship Type="http://schemas.openxmlformats.org/officeDocument/2006/relationships/slideLayout" Target="/ppt/slideLayouts/slideLayout1.xml" Id="R22220d088d6d49bb" /><Relationship Type="http://schemas.openxmlformats.org/officeDocument/2006/relationships/slideLayout" Target="/ppt/slideLayouts/slideLayout2.xml" Id="Rf4130bfbab0d47c3" /><Relationship Type="http://schemas.openxmlformats.org/officeDocument/2006/relationships/slideLayout" Target="/ppt/slideLayouts/slideLayout3.xml" Id="R268d6569c04e40ce" /><Relationship Type="http://schemas.openxmlformats.org/officeDocument/2006/relationships/slideLayout" Target="/ppt/slideLayouts/slideLayout4.xml" Id="R8124f634487d454b" /><Relationship Type="http://schemas.openxmlformats.org/officeDocument/2006/relationships/slideLayout" Target="/ppt/slideLayouts/slideLayout5.xml" Id="R3b9575ed08bf4907" /><Relationship Type="http://schemas.openxmlformats.org/officeDocument/2006/relationships/slideLayout" Target="/ppt/slideLayouts/slideLayout6.xml" Id="R09197bebbfcb4c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220d088d6d49bb"/>
    <p:sldLayoutId xmlns:r="http://schemas.openxmlformats.org/officeDocument/2006/relationships" id="2147483650" r:id="Rf4130bfbab0d47c3"/>
    <p:sldLayoutId xmlns:r="http://schemas.openxmlformats.org/officeDocument/2006/relationships" id="2147483651" r:id="R268d6569c04e40ce"/>
    <p:sldLayoutId xmlns:r="http://schemas.openxmlformats.org/officeDocument/2006/relationships" id="2147483652" r:id="R8124f634487d454b"/>
    <p:sldLayoutId xmlns:r="http://schemas.openxmlformats.org/officeDocument/2006/relationships" id="2147483653" r:id="R3b9575ed08bf4907"/>
    <p:sldLayoutId xmlns:r="http://schemas.openxmlformats.org/officeDocument/2006/relationships" id="2147483654" r:id="R09197bebbfcb4c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10cb58be4649a5" /><Relationship Type="http://schemas.openxmlformats.org/officeDocument/2006/relationships/notesSlide" Target="/ppt/notesSlides/notesSlide1.xml" Id="R21031364fbfd43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ceac37ed194b07" /><Relationship Type="http://schemas.openxmlformats.org/officeDocument/2006/relationships/notesSlide" Target="/ppt/notesSlides/notesSlide2.xml" Id="R9a757e3d094e4f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c714b0a7594dc7" /><Relationship Type="http://schemas.openxmlformats.org/officeDocument/2006/relationships/notesSlide" Target="/ppt/notesSlides/notesSlide3.xml" Id="Rb354b543081e47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0d658546214878" /><Relationship Type="http://schemas.openxmlformats.org/officeDocument/2006/relationships/notesSlide" Target="/ppt/notesSlides/notesSlide4.xml" Id="R0bec34e3125941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c0022de8844b11" /><Relationship Type="http://schemas.openxmlformats.org/officeDocument/2006/relationships/notesSlide" Target="/ppt/notesSlides/notesSlide5.xml" Id="Ra3e1232df3284d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33cb75bd1e40b2" /><Relationship Type="http://schemas.openxmlformats.org/officeDocument/2006/relationships/notesSlide" Target="/ppt/notesSlides/notesSlide6.xml" Id="R8ced90a5a1b24c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d67657577e40b4" /><Relationship Type="http://schemas.openxmlformats.org/officeDocument/2006/relationships/notesSlide" Target="/ppt/notesSlides/notesSlide7.xml" Id="R74eba477663d4c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a2a52d2d8e4ea5" /><Relationship Type="http://schemas.openxmlformats.org/officeDocument/2006/relationships/notesSlide" Target="/ppt/notesSlides/notesSlide8.xml" Id="Rd5bdd524024645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7a699573c94455" /><Relationship Type="http://schemas.openxmlformats.org/officeDocument/2006/relationships/notesSlide" Target="/ppt/notesSlides/notesSlide9.xml" Id="R893b59b295e443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e13460e0704ff5" /><Relationship Type="http://schemas.openxmlformats.org/officeDocument/2006/relationships/notesSlide" Target="/ppt/notesSlides/notesSlide10.xml" Id="R08c52e42998948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817e7ba8354696" /><Relationship Type="http://schemas.openxmlformats.org/officeDocument/2006/relationships/notesSlide" Target="/ppt/notesSlides/notesSlide11.xml" Id="R411a5b7356524f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19E239-FC55-4C68-88E5-4652DB41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04ACD-2F0C-499C-A1E9-25A4C311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rPr>
              <a:t>桩基工程全过程管理平台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AD381-5CF6-488E-B60D-3148312C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buNone/>
              <a:def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桩基施工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管理汇报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89911-45C4-480B-8523-9F548241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rPr>
              <a:t>施工组织 · 过程控制 · 检测验收 · 资料闭环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C61A8-882A-41F7-A6FF-DEA827DE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42627E"/>
            </a:solidFill>
            <a:prstDash val="solid"/>
          </a:ln>
        </p:spPr>
        <p:txBody>
          <a:bodyPr xmlns:a="http://schemas.openxmlformats.org/drawingml/2006/main" lIns="85725" tIns="0" rIns="85725" bIns="0" anchor="ctr"/>
          <a:lstStyle xmlns:a="http://schemas.openxmlformats.org/drawingml/2006/main">
            <a:def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施工准备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3BD6A-E580-4DF6-AB41-2250C37E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10050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42627E"/>
            </a:solidFill>
            <a:prstDash val="solid"/>
          </a:ln>
        </p:spPr>
        <p:txBody>
          <a:bodyPr xmlns:a="http://schemas.openxmlformats.org/drawingml/2006/main" lIns="85725" tIns="0" rIns="85725" bIns="0" anchor="ctr"/>
          <a:lstStyle xmlns:a="http://schemas.openxmlformats.org/drawingml/2006/main">
            <a:def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关键工序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C15AE-B797-457C-8038-F2475CEF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0050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42627E"/>
            </a:solidFill>
            <a:prstDash val="solid"/>
          </a:ln>
        </p:spPr>
        <p:txBody>
          <a:bodyPr xmlns:a="http://schemas.openxmlformats.org/drawingml/2006/main" lIns="85725" tIns="0" rIns="85725" bIns="0" anchor="ctr"/>
          <a:lstStyle xmlns:a="http://schemas.openxmlformats.org/drawingml/2006/main">
            <a:def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质量验收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6B1D0-8376-40E2-B05F-C97B42B1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10050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42627E"/>
            </a:solidFill>
            <a:prstDash val="solid"/>
          </a:ln>
        </p:spPr>
        <p:txBody>
          <a:bodyPr xmlns:a="http://schemas.openxmlformats.org/drawingml/2006/main" lIns="85725" tIns="0" rIns="85725" bIns="0" anchor="ctr"/>
          <a:lstStyle xmlns:a="http://schemas.openxmlformats.org/drawingml/2006/main">
            <a:def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一桩一档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6B257-38BD-4D51-B81E-F4FBCEFE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145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9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ECA48-5345-4121-89E4-5D5423EA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859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F0453-3422-42BE-9B45-02DC9D41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C8862A-CD65-46BB-BFF6-41BC0BA7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859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4B70D-6C4A-4C9C-B92B-62D35BFF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594E30-F7A6-4D2A-A8CE-2CFFA105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859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E46A6-025C-43C6-9378-4A668BFC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DBD896-82E3-415B-804A-07A9E6C5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859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64C709-884C-4328-B778-A120D539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7B3AA9-BD03-4B05-946B-723B02A5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8859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D0D1FB-E1B9-4B9E-93D2-A81AF6F6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8B6FE0-4588-42D0-AAC5-3E9AE6D5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8859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77B318-0E4F-4858-9102-D449AB63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B54EA8-544E-49C2-83AA-D22E7300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8859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A3A8DE-CD6F-413A-A350-1D3962F8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F1643E-19DF-4CBD-87BE-61A51005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244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rPr>
              <a:t>PILE CONSTRUCTION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3FA10D-C50C-4751-9CCD-960BB917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rPr>
              <a:t>以钻孔灌注桩为主线；预制桩可按沉桩工艺替换相应工序</a:t>
            </a:r>
          </a:p>
        </p:txBody>
      </p:sp>
    </p:spTree>
    <p:extLst>
      <p:ext uri="{BB962C8B-B14F-4D97-AF65-F5344CB8AC3E}">
        <p14:creationId xmlns:p14="http://schemas.microsoft.com/office/powerpoint/2010/main" val="889857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D368F8-E2E0-4EC9-A829-CAE17599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EE8D0-203C-42A8-B286-269F4820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施工管理围绕一条主线展开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D95C2-E7EB-49E0-AB42-4B971A4F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从施工准备到资料移交，形成可检查、可追溯的管理闭环。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683DF-3ACE-4155-9F68-A4ECEE4A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桩基施工管理专题汇报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49582-85FF-4A83-B66A-3F1E0329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BA7F3-B490-4611-8717-43831405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885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38F4A-BB20-4604-8A08-5FB9C225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7B9AD-F52B-472A-BC3D-2CC4B15B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38660-C1B3-474E-991F-871909D6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00025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EB4A21-4E9F-4D52-8767-A375F5EC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57350"/>
            <a:ext cx="1885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DE113-423D-4043-9646-A5D86AE8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90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C578B-05EC-4B8E-B312-72A67CB5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19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过程施工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AF94A-B58F-4EE9-AA31-59955CC9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0025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FF16E-6A05-421F-B594-31EE4D89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57350"/>
            <a:ext cx="1885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A6A05B-62E0-402C-98CD-1395C06F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90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23013E-287F-4447-9A79-FEF3C7F0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19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检测监测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EA71C5-6CA8-4680-972A-AA779169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0025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AEED33-0DE7-46D6-8912-7097B42C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57350"/>
            <a:ext cx="1885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44A18C-8B51-4501-9D71-FD5583DD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90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AB1F60-B76B-4B7A-9FE9-7842B828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19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验收整改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9AB820-6E7B-4C3A-B5F8-B3384AD8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E00C84-899D-40CD-912A-7E13DF0C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57350"/>
            <a:ext cx="1885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DEB947-A954-41F2-B260-390669FC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90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8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8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8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8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8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8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8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8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8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8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225E02-A771-44CA-8740-98CCAB2D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19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资料移交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92855E-9195-4E96-8540-F706EF3B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4955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E97134-2182-493C-A0B3-41A8BCBB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质量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BC95A3-4680-4A24-BEE1-468810A2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一次验收合格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9A95E8-DF50-402E-B9E4-17567E2C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24955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9E75E6-5C10-4985-AE39-F9DBDC7C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623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安全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FF76A1-CE42-4C71-A64D-49F40FCA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00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过程风险受控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CB7BBE-EAE3-4067-87E7-1FFBEA99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71800"/>
            <a:ext cx="24955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D66DD0-7CEF-4D6F-AE44-A485A6B0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623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进度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FF9A90-264C-49C8-AF2A-03F7CF74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00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桩机与工序匹配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3C3E93-2CF9-449C-8E93-4D9A06E0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71800"/>
            <a:ext cx="24955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C5EF1B-8A43-4966-94AD-189E8176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623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资料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29B61D-3B96-4DFF-9743-54A7D508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00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一桩一档齐全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BEB78A-01D7-48B8-974C-2351520C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9728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A5D071-2C8E-447C-83B9-50173C27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1055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以桩为主线  ·  以记录为证据  ·  以验收为节点</a:t>
            </a:r>
          </a:p>
        </p:txBody>
      </p:sp>
    </p:spTree>
    <p:extLst>
      <p:ext uri="{BB962C8B-B14F-4D97-AF65-F5344CB8AC3E}">
        <p14:creationId xmlns:p14="http://schemas.microsoft.com/office/powerpoint/2010/main" val="484035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F11488-3F97-4236-997E-9939728C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DD4CC-94BF-4022-9BB4-FB7B90DC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施工准备决定后续能否连续施工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FE2E4-132C-4E54-AA8A-F52FFC10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技术、现场、资源和报审四类准备必须同步完成。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5ED7F-71DF-4FBE-84A3-3F096194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桩基施工管理专题汇报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B2003-2126-485A-9A5A-2D479AFB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1E263-D6C9-413B-8476-D7AA2365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4955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E91ED-449C-4A44-ADAC-F8FAB54A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技术准备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BCE8F-C758-456C-B53E-2695BA86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30000"/>
              </a:lnSpc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图纸会审、设计交底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专项施工方案、技术交底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B4F009-4E71-4EA2-A2E7-BDFEA58C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24955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5F5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A9437-24AB-4698-925D-A2C45E2D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66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现场准备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81675-A3F7-46DA-BAA0-F329920A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30000"/>
              </a:lnSpc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三通一平、测量控制点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桩位复核、试桩/首件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ED732-0FE6-4D23-A2D1-19B2F72D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57350"/>
            <a:ext cx="24955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461B4-8B4B-4389-ADDE-E87F035D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66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资源准备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3CC879-135A-47D6-9F09-ED1C1018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43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30000"/>
              </a:lnSpc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桩机、人员、钢筋、混凝土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检测与监测资源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668FD6-04F2-489E-B9DF-D451EDB1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57350"/>
            <a:ext cx="24955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F9B3BD-4245-49B7-BB3D-F7BF5AD7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66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报审准备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E6BCD8-C092-4E63-8B36-FFB90892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43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30000"/>
              </a:lnSpc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分包资质、人员机械报审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开工报告、监理报审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2D0AE2-F3AF-471E-9F45-1CCADE9C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06D15D-AAA4-424C-8049-3796EFD1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开工条件检查表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E28B06-A536-45FD-9E4C-4C82967C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4"/>
              </a:spcAft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施工图审查完成，设计交底完成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4"/>
              </a:spcAft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专项施工方案批准，技术交底完成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4"/>
              </a:spcAft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测量控制点复核，桩位放线完成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4"/>
              </a:spcAft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分包资质、人员、机械、材料报审完成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4"/>
              </a:spcAft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试桩/首件验收完成，监理开工条件核查通过</a:t>
            </a:r>
          </a:p>
        </p:txBody>
      </p:sp>
    </p:spTree>
    <p:extLst>
      <p:ext uri="{BB962C8B-B14F-4D97-AF65-F5344CB8AC3E}">
        <p14:creationId xmlns:p14="http://schemas.microsoft.com/office/powerpoint/2010/main" val="3161910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FE5212A-A726-4B08-8B32-C722DD86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FB5AD-1127-470E-BD53-42B8387E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施工总体流程分为八个节点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0072E-6340-4A7B-8643-CBD3887C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流程按“准备—成桩—检测—验收”推进，每个节点都有记录输出。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1C34C-B3DA-49DD-9DB3-D9F27D1C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桩基施工管理专题汇报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61103-D372-4D4F-B56B-409C742A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5CCE1-56FC-4C73-8F87-277F753E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5AA4A-0BB7-4F66-8704-D24796E6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F1C37-FA77-464D-AEFC-230812AA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测量放线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EED5C-0495-485A-9E19-7F412FC5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坐标 / 轴线 / 标高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8506D-EFDE-43A3-A838-B2B34950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002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0E0E1-E393-4E60-A6F5-1A990F89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811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957334-1E61-4624-B089-0088CF34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145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9BF488-E49D-475A-8607-569132CA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9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护筒埋设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9BBC1-FF40-42A7-9C86-3160E0EF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145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中心 / 垂直度 / 埋深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6699D-AEA1-4C4E-B11A-0FDD81DE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002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89107-B587-4E10-9CD4-8BB5B817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811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CC0076-BC7F-46CC-AB61-69E98396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2B5C00-52B8-438B-951D-823B7AD3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9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成孔或沉桩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272F48-A4AC-4ED4-B77C-91FC5403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孔径 / 孔深 / 垂直度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562F41-08DB-4BB9-8E62-EFC22D78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CF984A-0FB7-4B63-B540-707B520F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5811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42AB34-269B-4733-84F8-B6031784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145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D1DA34-509F-4F7F-A763-607AA365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清孔或接桩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8B6CB8-188E-441B-91D7-FB52656F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145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沉渣 / 接头 / 标高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1CD08C-382D-4612-9195-8B9D6D7F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90410F-79B7-4B8A-ADDA-BA967D44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0B3EEB-5882-4452-A24C-4F68D15B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钢筋笼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78CCE0-EB9B-4A95-801C-CBEC3923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规格 / 间距 / 保护层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62AEC8-9E2E-499F-8852-A30302B8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766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2A70EE-4982-4943-86EE-5CB9E09A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575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E0E498-4F16-40FF-96BC-D06081F3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909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4A91EA-EE32-412F-8DEA-32C3F072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71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混凝土或连接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2E76AF-F7D4-429C-B5F5-683A6A1E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909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导管 / 坍落度 / 连续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76B065-3A7B-401B-AA3C-BA823A4D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766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90C8C9-3BA9-45D7-B76F-30B351BC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575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BD2C5F-C859-4275-9528-5E9C5064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909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CAA9F1-1F7B-438E-94A7-392624BD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71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桩头处理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B53BE3-C95C-4212-BA8A-B7E32AC8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909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凿除 / 锚固 / 标高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AA5EEF-E986-4E00-A2BB-4FF334E2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766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7B7D93-9D03-4321-90C8-BA7B11BF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575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D433C4-CFD9-4ECE-BDBA-6A94E75D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909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94E2F5-57FE-4A5B-B04B-90DE5B52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71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检测验收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111265-E186-4FC8-A74E-952C7554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909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报告 / 整改 / 归档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1E5EE5-CC59-4024-B7A1-16537B30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724150"/>
            <a:ext cx="190500" cy="4191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691836-10C2-462D-B93F-4E64D3C9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E8BFC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8E477A-256D-4E09-B464-A5F460A6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关键控制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BBF15CC-0884-4FD9-B017-334706BA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38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桩位  ·  垂直度  ·  孔深  ·  沉渣  ·  混凝土  ·  桩头</a:t>
            </a:r>
          </a:p>
        </p:txBody>
      </p:sp>
    </p:spTree>
    <p:extLst>
      <p:ext uri="{BB962C8B-B14F-4D97-AF65-F5344CB8AC3E}">
        <p14:creationId xmlns:p14="http://schemas.microsoft.com/office/powerpoint/2010/main" val="1991662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D7307C1-0DCC-4692-9367-15B8614B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91A07-FF04-4789-917C-04E34AB1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以钻孔灌注桩为例的关键工序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EBF1A-4AE9-4573-8F5E-81E75344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从成孔到桩头处理，每一道工序都要形成对应记录。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DB8CD-9BBC-48E9-884A-2F9214F9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桩基施工管理专题汇报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94A83-F4AA-4CD2-893D-8EFE1E2C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225C6-9A7D-484F-938E-CDB38AFB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143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D6731-A9B1-45FD-81BD-DDCB3E57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621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测量放线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5815C-566A-43B5-9E06-6C18B280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CBC7C-3417-43BF-8158-7ADD7940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95500"/>
            <a:ext cx="952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85FF1-2882-44F7-B0FD-02183856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752600"/>
            <a:ext cx="1143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6E4BCB-BCC1-4E79-BB07-F2730EB3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9621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护筒埋设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355758-B5F6-447A-8C72-6324C584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36220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1986F-56D8-43F7-A0C2-6555258F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095500"/>
            <a:ext cx="952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48923C-F897-4166-B1E2-0426CDD0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52600"/>
            <a:ext cx="1143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7F5F5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4FA3E0-A905-43DD-B436-E995CCA0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621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成孔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2D62EB-7BC8-4299-A4C8-B13B2A7C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6220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2DF1D7-7E7A-4EFD-8B8B-696A898B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095500"/>
            <a:ext cx="952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B891AE-20EF-4FCC-B230-7437B65D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52600"/>
            <a:ext cx="1143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7F5F5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8CF304-3F20-4AD5-840B-CDF14860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621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清孔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AB73D6-AE77-4254-9409-ECEEE96C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6220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5F30AF-D54E-4D3D-BFF9-F866BE8F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095500"/>
            <a:ext cx="952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C72019-4FDA-4355-9616-798AA2EC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752600"/>
            <a:ext cx="1143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AE16B7-DAF7-4A6D-9B5F-3D86E4D9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621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钢筋笼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A9EF81-E088-47D7-8156-5B156F8C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6220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78F371-DE1F-4913-B9D8-5169FFF5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095500"/>
            <a:ext cx="952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ED6A71-C4E9-4269-9983-70DD5084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2600"/>
            <a:ext cx="1143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57B601-A987-4E50-8393-8DB15B9F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621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导管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607C15-1BA8-4641-B293-4E46F2F1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6220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ECE7EA-A9DC-4416-9455-29EE1033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952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4EB442-3444-4223-9728-16A72458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52600"/>
            <a:ext cx="1143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14A59B-9A86-4257-9AF4-2BCCD916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621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水下混凝土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B9271F-E697-4FC3-AC86-4272172B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F838A4-BF56-483D-8C54-035379BE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095500"/>
            <a:ext cx="952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58150D-8C25-4F60-8C2D-9B5982DA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52600"/>
            <a:ext cx="1143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B40576-1CAF-400C-90F2-8CCD15BB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621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后注浆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36C932-A193-4E5B-9553-1A96E7EB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6220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FBAE0B-764F-48C5-B524-A554FDE4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095500"/>
            <a:ext cx="952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AFEE89-8F24-4881-B730-1EABF2AB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752600"/>
            <a:ext cx="1143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7A155C-49F9-420C-A180-504F929C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9621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桩头处理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70F238-2499-482B-8E79-0A6A6ABD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36220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13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E4B32A-CD21-4EB4-8D49-91B5057A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5334000" cy="25527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01B719-5EC3-45B9-A4FC-2B773982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关键工序要点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E6FD10-2E43-4293-A12E-65CECD26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4762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成孔：控制孔径、孔深、垂直度和沉渣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钢筋笼：控制规格、间距、长度和保护层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混凝土：控制导管埋深、坍落度和连续浇筑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后注浆：控制压力、水泥量和注浆时间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桩头：控制凿除标高、钢筋锚固和桩顶质量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6A0719-7302-4DB6-B525-1B31859B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90850"/>
            <a:ext cx="5391150" cy="25527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A49D63-D9B1-45CB-B837-38AF4C1C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81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工序记录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5C854A-A239-465A-9EE7-08D6A958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1950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成孔记录 / 沉桩记录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钢筋笼制作及安装检查记录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混凝土浇筑记录 / 后注浆记录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隐蔽工程验收记录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现场照片 / 视频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5FA58D-ACA4-4D24-B631-F700CDEB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912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预制桩替换：成孔/清孔/混凝土 → 沉桩/接桩/桩头处理</a:t>
            </a:r>
          </a:p>
        </p:txBody>
      </p:sp>
    </p:spTree>
    <p:extLst>
      <p:ext uri="{BB962C8B-B14F-4D97-AF65-F5344CB8AC3E}">
        <p14:creationId xmlns:p14="http://schemas.microsoft.com/office/powerpoint/2010/main" val="1136394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72F62-24B5-4D15-BC05-BFFA4DA0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B2532-CB33-447A-9D73-A90B0D54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关键质量控制点必须落到记录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7E4E6-B23B-4BC5-8675-2ED5D95D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每个控制点都要有检查动作、验收标准和对应记录。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2A806-0D4E-40A7-8912-2071FD26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桩基施工管理专题汇报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0CD20-B599-4435-AB3F-6967946A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C4955-2DC5-434B-8041-701C18CB1DF9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762500"/>
                <a:gridCol w="4495800"/>
              </a:tblGrid>
              <a:tr h="530679">
                <a:tc>
                  <a:txBody>
                    <a:bodyPr lIns="95250" tIns="47625" rIns="76200" bIns="47625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关键控制点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对应记录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530679">
                <a:tc>
                  <a:txBody>
                    <a:bodyPr lIns="95250" tIns="47625" rIns="76200" bIns="47625"/>
                    <a:lstStyle/>
                    <a:p>
                      <a:r>
                        <a:rPr sz="105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测量放线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桩位坐标、轴线、标高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测量复核记录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 lIns="95250" tIns="47625" rIns="76200" bIns="47625"/>
                    <a:lstStyle/>
                    <a:p>
                      <a:r>
                        <a:rPr sz="105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成孔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孔径、孔深、垂直度、沉渣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成孔记录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530679">
                <a:tc>
                  <a:txBody>
                    <a:bodyPr lIns="95250" tIns="47625" rIns="76200" bIns="47625"/>
                    <a:lstStyle/>
                    <a:p>
                      <a:r>
                        <a:rPr sz="105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钢筋笼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规格、间距、长度、保护层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钢筋笼检查记录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 lIns="95250" tIns="47625" rIns="76200" bIns="47625"/>
                    <a:lstStyle/>
                    <a:p>
                      <a:r>
                        <a:rPr sz="105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混凝土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坍落度、导管埋深、连续浇筑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混凝土浇筑记录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530679">
                <a:tc>
                  <a:txBody>
                    <a:bodyPr lIns="95250" tIns="47625" rIns="76200" bIns="47625"/>
                    <a:lstStyle/>
                    <a:p>
                      <a:r>
                        <a:rPr sz="105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后注浆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注浆压力、水泥量、时间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后注浆记录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 lIns="95250" tIns="47625" rIns="76200" bIns="47625"/>
                    <a:lstStyle/>
                    <a:p>
                      <a:r>
                        <a:rPr sz="105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桩头 / 接桩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凿除标高、钢筋锚固、焊缝质量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桩头/接桩记录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F13B3-0532-4A00-9134-FDB3BF92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E8BF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D04FD-096D-4B81-996B-FA342DC9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1059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检查动作必须与记录同步：没有记录，视为没有发生；没有验收，不得进入下一道工序。</a:t>
            </a:r>
          </a:p>
        </p:txBody>
      </p:sp>
    </p:spTree>
    <p:extLst>
      <p:ext uri="{BB962C8B-B14F-4D97-AF65-F5344CB8AC3E}">
        <p14:creationId xmlns:p14="http://schemas.microsoft.com/office/powerpoint/2010/main" val="19913438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5F9061-779A-445E-B378-C96B7A4B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4FEB2-1353-4BEC-A80B-96E80581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检测与监测是施工质量的独立验证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49E5A-91AA-46BB-96D1-374BF717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检测结果和监测预警必须进入问题闭环。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29CF6-1424-4081-AFA7-DE127243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桩基施工管理专题汇报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4F852-73E5-4442-AFC1-8025734C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9ECD3-3794-41EC-9677-C500A04A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334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E4453-2748-412B-B5CA-C876295F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检测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ADF1C-99FF-490E-9E91-9455E0DB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低应变：桩身完整性普查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声波透射：灌注桩完整性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钻芯：混凝土质量与桩长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静载：单桩承载力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高应变：承载力与完整性辅助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AC0A4-EA98-4786-AB11-BAC81BA4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48006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31595-ABC8-43B7-BEFE-C531323B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6245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不合格 → 问题单 → 整改 → 复检 → 关闭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EA2E2-87A6-4C17-B6DB-4F2D0F18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57350"/>
            <a:ext cx="5334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7F5F5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E55A9-CEC2-4D87-B78D-3E7E256B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监测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4167D8-76A2-487D-BC3D-1D77A260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0505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基坑及周边沉降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支护结构水平位移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地下水位变化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周边建筑物/管线变形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8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监测频率与预警阈值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C2F8B-02F4-4C3B-93B6-E7C35262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29100"/>
            <a:ext cx="48006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D16FCE-93E5-4D06-A1F1-49D6CDC4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6245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预警 → 会商 → 处置 → 复测 → 关闭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775C1-9BFB-4B09-A4DC-16E25BE9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1020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所有检测报告、监测预警和整改关闭必须留痕并可追溯</a:t>
            </a:r>
          </a:p>
        </p:txBody>
      </p:sp>
    </p:spTree>
    <p:extLst>
      <p:ext uri="{BB962C8B-B14F-4D97-AF65-F5344CB8AC3E}">
        <p14:creationId xmlns:p14="http://schemas.microsoft.com/office/powerpoint/2010/main" val="15294851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7ECC5F-111A-4A67-B24A-0E9B64AB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E0FCF-D723-4903-AC2D-95EE0FB6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验收与问题闭环决定工序能否继续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209FE-D70D-4ACA-BE68-CF284503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先验收、后转序；不合格必须整改、复查、关闭。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5C713-6F18-44B4-A916-BE5744AB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桩基施工管理专题汇报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9D5DA-BA61-488B-8B84-8576A6CB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4B28A0-25B4-4D54-BBDD-C7BD1F83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88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41171-E301-4532-AFC5-8BF6FBA6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分包自检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78D96-D800-4D06-ABFD-F779813A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5740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A5B6D-4A60-485C-A807-A8C7CFAF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188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7CB419-0C48-4C9B-8F05-C0DA6ECC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总包复核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D21F88-2F72-4931-BAE3-D4186600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5740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90A9E9-AEE9-497C-A77B-43F416F7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52600"/>
            <a:ext cx="188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C654C9-9A06-4BD2-84FA-552ABF56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812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监理验收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9E8457-70F9-471D-A5C6-815D0943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5740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B4914A-3662-450E-81E0-B19B0A55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52600"/>
            <a:ext cx="188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36F64-1D32-4C1D-BF76-66B4731E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检测确认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8BFB7D-0A78-4413-A02D-748C3E6A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5740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FC9648-0FC2-49C7-89F3-7BFA2F4F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52600"/>
            <a:ext cx="188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F5F5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DE0D6B-78F5-4039-BB9D-1CB482DB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812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资料归档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0BB732-CAA9-4FA2-A12F-6E7904E3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正常验收流程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BE7D93-98F3-49BD-BD41-E665C44F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88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4CE689-193E-4438-B9ED-0FBBF64A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不合格/预警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3B2589-9AC1-43B9-AD86-637655F8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56235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FA3699-B2F8-43D6-A03C-4EFB3AD7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57550"/>
            <a:ext cx="188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C58683-53FF-417B-9F30-64A49591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861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整改通知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44D8D3-2A67-4DA8-B299-D3E6D250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6235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DE4C4A-C414-4C66-8BAE-954F05A1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57550"/>
            <a:ext cx="188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1B1D76-8A1A-4963-BE6E-88E40F64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861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责任单位整改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3A8665-D640-40B1-B2D5-6BE821CE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6235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A11FBE-6F90-4EF2-A4AE-0EEE4497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57550"/>
            <a:ext cx="188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FE08A5-7A2E-4016-9A1D-3BB0D3E9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监理复查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36964E-3561-48B7-A2F0-C3407D8D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6235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301EC8-A202-4B3E-A060-5E78C28C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57550"/>
            <a:ext cx="188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1828F0-0E90-4054-8D37-C9A4CF65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861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关闭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ADDB03-BBAB-4241-B943-B76F3DB4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问题闭环流程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750230-E247-4AAA-B3C6-11CFDAD0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D315BD-50F8-4AF9-8141-299999D8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未验收不得进入下一道工序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340DE6-5C9E-43BF-8048-563D20B3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149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1800" b="1">
                <a:solidFill>
                  <a:srgbClr val="FFD5D8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800" b="1">
                <a:solidFill>
                  <a:srgbClr val="FFD5D8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800" b="1">
                <a:solidFill>
                  <a:srgbClr val="FFD5D8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800" b="1">
                <a:solidFill>
                  <a:srgbClr val="FFD5D8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800" b="1">
                <a:solidFill>
                  <a:srgbClr val="FFD5D8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800" b="1">
                <a:solidFill>
                  <a:srgbClr val="FFD5D8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800" b="1">
                <a:solidFill>
                  <a:srgbClr val="FFD5D8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800" b="1">
                <a:solidFill>
                  <a:srgbClr val="FFD5D8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800" b="1">
                <a:solidFill>
                  <a:srgbClr val="FFD5D8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800" b="1">
                <a:solidFill>
                  <a:srgbClr val="FFD5D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800" b="1">
                <a:solidFill>
                  <a:srgbClr val="FFD5D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FD5D8"/>
                </a:solidFill>
                <a:latin typeface="Hiragino Sans GB"/>
                <a:ea typeface="Hiragino Sans GB"/>
                <a:cs typeface="Hiragino Sans GB"/>
              </a:rPr>
              <a:t>未关闭不得进入阶段验收</a:t>
            </a:r>
          </a:p>
        </p:txBody>
      </p:sp>
    </p:spTree>
    <p:extLst>
      <p:ext uri="{BB962C8B-B14F-4D97-AF65-F5344CB8AC3E}">
        <p14:creationId xmlns:p14="http://schemas.microsoft.com/office/powerpoint/2010/main" val="14001448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9AD45A-5CAB-4823-B079-F2132CC8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58479-2518-4556-98D4-B4963CB5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施工资料按一桩一档和资料包双线管理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E68F9-DC5D-44C2-BAE4-39A90082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32类施工资料形成资料包，单桩形成一桩一档。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1CF9C-B8DB-4E44-A786-76306325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桩基施工管理专题汇报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3BC7B-BD01-4520-82DD-D41C86D9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DB023-2286-47D9-9926-AEA3DEB2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848100" cy="37719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2ED50-8268-4EA8-B8FF-7B4134D4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施工资料包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8B132-7FF5-4A2A-A726-5D863B38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514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85725" tIns="0" rIns="85725" bIns="0" anchor="ctr"/>
          <a:lstStyle xmlns:a="http://schemas.openxmlformats.org/drawingml/2006/main">
            <a:def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5.1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023D00-C3EC-4DD0-9021-4624A8C5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05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总包统筹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6462B2-C649-4050-A68E-295E472B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05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6类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26A79-A1AE-4ECE-8D98-F870BB13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514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85725" tIns="0" rIns="85725" bIns="0" anchor="ctr"/>
          <a:lstStyle xmlns:a="http://schemas.openxmlformats.org/drawingml/2006/main">
            <a:def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5.2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3EC1C-E0E5-4186-BEA2-5D72A7E5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90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分包执行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E0B9F7-D561-454C-9F19-6E326E23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8类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0F11F4-63DA-4EED-83EA-010B9A5E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514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85725" tIns="0" rIns="85725" bIns="0" anchor="ctr"/>
          <a:lstStyle xmlns:a="http://schemas.openxmlformats.org/drawingml/2006/main">
            <a:def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5.3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98E6F0-124D-4459-A223-962D80D5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76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监理控制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5BE84-3F45-4811-9770-F55F74CB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76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9类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60F317-4DC9-4301-9080-C948B1EE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514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85725" tIns="0" rIns="85725" bIns="0" anchor="ctr"/>
          <a:lstStyle xmlns:a="http://schemas.openxmlformats.org/drawingml/2006/main">
            <a:def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5.4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08D20A-DA45-472B-9836-2019319E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62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检测监测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795FF9-0C5A-43DF-9853-866B4831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624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9类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1B085E-60CB-4D27-87FF-96590D21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57350"/>
            <a:ext cx="6858000" cy="37719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4551AC-7790-4CE8-B250-18379031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47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一桩一档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0E7D69-5748-4618-B08B-05AA0E1D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05050"/>
            <a:ext cx="590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桩位基本信息与设计参数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施工记录（成孔/钢筋笼/浇筑/沉桩/注浆）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隐蔽验收、检验批与旁站记录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检测报告与复检记录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现场照片/视频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问题、整改与设计变更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375439-FDBA-47C1-9B53-87DBA245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8630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85725" tIns="0" rIns="85725" bIns="0" anchor="ctr"/>
          <a:lstStyle xmlns:a="http://schemas.openxmlformats.org/drawingml/2006/main">
            <a:def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未上传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8B54F3-42E7-43B9-A8A0-9F20EC5C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8630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85725" tIns="0" rIns="85725" bIns="0" anchor="ctr"/>
          <a:lstStyle xmlns:a="http://schemas.openxmlformats.org/drawingml/2006/main">
            <a:def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草稿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7BA28E-9E39-406B-B35A-3BFE66C9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8630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85725" tIns="0" rIns="85725" bIns="0" anchor="ctr"/>
          <a:lstStyle xmlns:a="http://schemas.openxmlformats.org/drawingml/2006/main">
            <a:def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审核中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FA5E21-45AD-4551-A688-E28D7C79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85725" tIns="0" rIns="85725" bIns="0" anchor="ctr"/>
          <a:lstStyle xmlns:a="http://schemas.openxmlformats.org/drawingml/2006/main">
            <a:def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已批准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7B8B23-252E-44A0-B1F5-813432C3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8630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F5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  <p:txBody>
          <a:bodyPr xmlns:a="http://schemas.openxmlformats.org/drawingml/2006/main" lIns="85725" tIns="0" rIns="85725" bIns="0" anchor="ctr"/>
          <a:lstStyle xmlns:a="http://schemas.openxmlformats.org/drawingml/2006/main">
            <a:def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已发布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9841D8-0887-4E38-9782-6D2A05CF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68630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8C98D"/>
            </a:solidFill>
            <a:prstDash val="solid"/>
          </a:ln>
        </p:spPr>
        <p:txBody>
          <a:bodyPr xmlns:a="http://schemas.openxmlformats.org/drawingml/2006/main" lIns="85725" tIns="0" rIns="85725" bIns="0" anchor="ctr"/>
          <a:lstStyle xmlns:a="http://schemas.openxmlformats.org/drawingml/2006/main">
            <a:def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rPr>
              <a:t>过期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0E4FAB-95F5-414E-90F0-D3B20FA4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054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资料状态随流程自动更新，归档后只读留痕</a:t>
            </a:r>
          </a:p>
        </p:txBody>
      </p:sp>
    </p:spTree>
    <p:extLst>
      <p:ext uri="{BB962C8B-B14F-4D97-AF65-F5344CB8AC3E}">
        <p14:creationId xmlns:p14="http://schemas.microsoft.com/office/powerpoint/2010/main" val="21211652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5A0AB-93AD-458B-9380-A8E75F8C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BAE25-AFCF-4E70-AAD5-2B489E83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进度、资源与风险需要同步管理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07CB3-2ACB-420F-A14C-E53CDDD8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桩机、人员、材料和检测资源不匹配，会直接造成停窝工和质量风险。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B05C5-CE26-4A1B-ACC5-474676D3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桩基施工管理专题汇报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3E42E-0644-4B1D-87CC-6BCEBB07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12785-0937-4C24-9C25-0B9727E7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486150" cy="340995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527CF-A888-409F-80BA-42463943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进度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69553A-94F6-44D8-B503-E6C1A2BF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11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日计划 / 周计划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11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桩机台班与完成桩数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11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计划与实际对比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11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延误原因与纠偏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A163A-CBD0-4A88-8B48-DD9A4184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57350"/>
            <a:ext cx="3486150" cy="340995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E7F5F5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7716C-E25D-49CC-8F32-04044CE7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47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资源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5D06D-BAD1-44BB-B638-833D75F0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81250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11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桩机、吊车、人员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11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钢筋、混凝土供应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11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检测与监测资源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11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材料批次与进场计划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EFE15-E9C7-4EF2-AC7C-CB80CD81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57350"/>
            <a:ext cx="3486150" cy="340995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8B8D2E-5078-4C02-8840-727154F5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47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风险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DAA018-1E3E-4619-80A3-9A06CF24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11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塌孔、缩径、断桩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11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桩位偏差、垂直度超标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11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混凝土超灌、桩头缺陷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11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监测预警、周边建筑变形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8F58B3-F392-4105-B61A-D0BEB5D3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D6202C-CC9D-4604-8B4B-D1E4C613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风险应对：发现异常 → 停工序 → 分析原因 → 制定措施 → 复验后恢复</a:t>
            </a:r>
          </a:p>
        </p:txBody>
      </p:sp>
    </p:spTree>
    <p:extLst>
      <p:ext uri="{BB962C8B-B14F-4D97-AF65-F5344CB8AC3E}">
        <p14:creationId xmlns:p14="http://schemas.microsoft.com/office/powerpoint/2010/main" val="16926444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DEE469-963D-442E-AC6D-2D37D0E4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5584C-2832-43B9-A97F-520A9D98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施工管理最终落到三个闭环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2E3AD-852A-4149-BCF6-754DD13D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流程闭环、质量闭环、资料闭环缺一不可。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7F5DC-0709-49F8-916E-82BFD862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桩基施工管理专题汇报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1EFE8-5F8D-41CE-8BE6-A49750AD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ACB43-5636-4168-BD29-1B4E1D59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4861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D0A08-A449-42D0-B9A8-E6DD482E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流程闭环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3EFD3-F0DD-49CE-A8CC-4744DB3F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准备 → 施工 → 验收 → 移交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081AE-BB36-4A40-87C5-AB1EAE29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52600"/>
            <a:ext cx="34861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7F5F5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85AF1-CD5A-46E7-B4FD-B7D3DA8E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002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质量闭环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187EBC-DD0B-4895-937D-0648EF24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自检 → 复核 → 监理 → 检测 → 整改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633DB-1BBC-41B6-83D4-A9E68128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52600"/>
            <a:ext cx="34861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B04B0A-A9DA-4D3B-8CA7-F418394A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8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资料闭环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3270EF-FB4C-410B-9F23-FA7151D0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一桩一档 → 资料包 → 归档 → 移交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8B5F7E-B867-4172-8EF4-D406B5B4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D3484C-0855-4AEB-AB5E-3AAB83B0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1051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以桩为主线  ·  以记录为证据  ·  以验收为节点  ·  以资料包为交付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351DA5-3CDB-4DC7-A904-7F00F066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1051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00">
                <a:solidFill>
                  <a:srgbClr val="C9D9E7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00">
                <a:solidFill>
                  <a:srgbClr val="C9D9E7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00">
                <a:solidFill>
                  <a:srgbClr val="C9D9E7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00">
                <a:solidFill>
                  <a:srgbClr val="C9D9E7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00">
                <a:solidFill>
                  <a:srgbClr val="C9D9E7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00">
                <a:solidFill>
                  <a:srgbClr val="C9D9E7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00">
                <a:solidFill>
                  <a:srgbClr val="C9D9E7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00">
                <a:solidFill>
                  <a:srgbClr val="C9D9E7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00">
                <a:solidFill>
                  <a:srgbClr val="C9D9E7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00">
                <a:solidFill>
                  <a:srgbClr val="C9D9E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C9D9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>
                <a:solidFill>
                  <a:srgbClr val="C9D9E7"/>
                </a:solidFill>
                <a:latin typeface="Hiragino Sans GB"/>
                <a:ea typeface="Hiragino Sans GB"/>
                <a:cs typeface="Hiragino Sans GB"/>
              </a:rPr>
              <a:t>所有操作留痕，所有问题闭环，所有资料可追溯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94C995-5194-4CBC-A6D4-A47353DC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8674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6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6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6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6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6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6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6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6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6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6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21137079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2026-10-22T14:07:41.1730000Z</dcterms:created>
  <dcterms:modified xsi:type="dcterms:W3CDTF">2026-10-22T14:07:41.1730000Z</dcterms:modified>
</coreProperties>
</file>