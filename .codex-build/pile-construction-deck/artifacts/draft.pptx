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cb0d76bd7f4d1b" /><Relationship Type="http://schemas.openxmlformats.org/officeDocument/2006/relationships/extended-properties" Target="/docProps/app.xml" Id="R8a7331760df6471b" /><Relationship Type="http://schemas.openxmlformats.org/officeDocument/2006/relationships/officeDocument" Target="/ppt/presentation.xml" Id="R0fc0045073c24f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424f97ab24a73"/>
  </p:sldMasterIdLst>
  <p:notesMasterIdLst>
    <p:notesMasterId xmlns:r="http://schemas.openxmlformats.org/officeDocument/2006/relationships" r:id="R6322cda285194192"/>
  </p:notesMasterIdLst>
  <p:sldIdLst>
    <p:sldId xmlns:r="http://schemas.openxmlformats.org/officeDocument/2006/relationships" id="256" r:id="R9fa0578f0ea94d57"/>
    <p:sldId xmlns:r="http://schemas.openxmlformats.org/officeDocument/2006/relationships" id="257" r:id="Rcc94811f418f44cf"/>
    <p:sldId xmlns:r="http://schemas.openxmlformats.org/officeDocument/2006/relationships" id="258" r:id="R9222011f9b724fe6"/>
    <p:sldId xmlns:r="http://schemas.openxmlformats.org/officeDocument/2006/relationships" id="259" r:id="Rd5838b05592a4b3c"/>
    <p:sldId xmlns:r="http://schemas.openxmlformats.org/officeDocument/2006/relationships" id="260" r:id="R942fa52e2b4948fc"/>
    <p:sldId xmlns:r="http://schemas.openxmlformats.org/officeDocument/2006/relationships" id="261" r:id="R7e04b6c5a2c74fca"/>
    <p:sldId xmlns:r="http://schemas.openxmlformats.org/officeDocument/2006/relationships" id="262" r:id="R8176b0c444f7474b"/>
    <p:sldId xmlns:r="http://schemas.openxmlformats.org/officeDocument/2006/relationships" id="263" r:id="R3d2d8d6656164187"/>
    <p:sldId xmlns:r="http://schemas.openxmlformats.org/officeDocument/2006/relationships" id="264" r:id="R75880f9f034e47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52690a8ea74408" /><Relationship Type="http://schemas.openxmlformats.org/officeDocument/2006/relationships/slideMaster" Target="/ppt/slideMasters/slideMaster1.xml" Id="R3f1424f97ab24a73" /><Relationship Type="http://schemas.openxmlformats.org/officeDocument/2006/relationships/notesMaster" Target="/ppt/notesMasters/notesMaster1.xml" Id="R6322cda285194192" /><Relationship Type="http://schemas.openxmlformats.org/officeDocument/2006/relationships/presProps" Target="/ppt/presProps.xml" Id="Re6dcbd17e1984cd8" /><Relationship Type="http://schemas.openxmlformats.org/officeDocument/2006/relationships/tableStyles" Target="/ppt/tableStyles.xml" Id="R393a856533ec4514" /><Relationship Type="http://schemas.openxmlformats.org/officeDocument/2006/relationships/slide" Target="/ppt/slides/slide1.xml" Id="R9fa0578f0ea94d57" /><Relationship Type="http://schemas.openxmlformats.org/officeDocument/2006/relationships/slide" Target="/ppt/slides/slide2.xml" Id="Rcc94811f418f44cf" /><Relationship Type="http://schemas.openxmlformats.org/officeDocument/2006/relationships/slide" Target="/ppt/slides/slide3.xml" Id="R9222011f9b724fe6" /><Relationship Type="http://schemas.openxmlformats.org/officeDocument/2006/relationships/slide" Target="/ppt/slides/slide4.xml" Id="Rd5838b05592a4b3c" /><Relationship Type="http://schemas.openxmlformats.org/officeDocument/2006/relationships/slide" Target="/ppt/slides/slide5.xml" Id="R942fa52e2b4948fc" /><Relationship Type="http://schemas.openxmlformats.org/officeDocument/2006/relationships/slide" Target="/ppt/slides/slide6.xml" Id="R7e04b6c5a2c74fca" /><Relationship Type="http://schemas.openxmlformats.org/officeDocument/2006/relationships/slide" Target="/ppt/slides/slide7.xml" Id="R8176b0c444f7474b" /><Relationship Type="http://schemas.openxmlformats.org/officeDocument/2006/relationships/slide" Target="/ppt/slides/slide8.xml" Id="R3d2d8d6656164187" /><Relationship Type="http://schemas.openxmlformats.org/officeDocument/2006/relationships/slide" Target="/ppt/slides/slide9.xml" Id="R75880f9f034e47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8a99ba506c49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c621b335194732" /><Relationship Type="http://schemas.openxmlformats.org/officeDocument/2006/relationships/notesMaster" Target="/ppt/notesMasters/notesMaster1.xml" Id="R1bfe053b8f5e45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80374a723a4d07" /><Relationship Type="http://schemas.openxmlformats.org/officeDocument/2006/relationships/notesMaster" Target="/ppt/notesMasters/notesMaster1.xml" Id="Re28d78631f7240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7e2d92a9aa4b10" /><Relationship Type="http://schemas.openxmlformats.org/officeDocument/2006/relationships/notesMaster" Target="/ppt/notesMasters/notesMaster1.xml" Id="Rf364db4bb95241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1caf4b2d654086" /><Relationship Type="http://schemas.openxmlformats.org/officeDocument/2006/relationships/notesMaster" Target="/ppt/notesMasters/notesMaster1.xml" Id="Re5db2b1098fc4e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442175bd764894" /><Relationship Type="http://schemas.openxmlformats.org/officeDocument/2006/relationships/notesMaster" Target="/ppt/notesMasters/notesMaster1.xml" Id="Rf5a796504d8f41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2d937394bc44ad" /><Relationship Type="http://schemas.openxmlformats.org/officeDocument/2006/relationships/notesMaster" Target="/ppt/notesMasters/notesMaster1.xml" Id="R64d7ac65a9fb41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737967dd674e84" /><Relationship Type="http://schemas.openxmlformats.org/officeDocument/2006/relationships/notesMaster" Target="/ppt/notesMasters/notesMaster1.xml" Id="R70b6c5beece8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d51b9021b94f07" /><Relationship Type="http://schemas.openxmlformats.org/officeDocument/2006/relationships/notesMaster" Target="/ppt/notesMasters/notesMaster1.xml" Id="R764a8e3426124c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778faac141408f" /><Relationship Type="http://schemas.openxmlformats.org/officeDocument/2006/relationships/notesMaster" Target="/ppt/notesMasters/notesMaster1.xml" Id="R2afe3bfbaea747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封面。设计依据：桩基工程文档管理智能体工作计划.pdf；桩基工程全过程管理文档清单.xlsx。施工阶段共32类文档。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依据：桩基工程全过程管理文档清单.xlsx。施工阶段共32类文档，其中总包6类、分包8类、监理9类、检测监测9类。清单5.1.1-5.1.6与地质勘察阶段条目高度重复，建议确认为模板复制还是施工阶段特有要求。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平台阶段矩阵中，总包为施工阶段主办，分包和监理为相关，检测为参与；但清单要求分包、监理、检测分别编制大量资料。因此建议增加文档责任单位、编制单位、审核单位、签认单位字段，不能只用阶段责任等级控制上传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功能架构建议：施工总览、施工准备、桩位台账、施工记录、报验验收、检测监测、问题与变更、资料包、AI助手。施工总览应直接展示阶段完成门槛，而不是只展示文档数量。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主流程8个节点：施工准备、开工条件、开工审批、试桩/首件、批量施工、报验验收、检测监测、完工移交。阶段完成门槛由资料、桩完成、检测、问题、变更和签认共同决定。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单桩闭环：设计桩位→施工记录→分包自检→总包复核→监理验收→检测→归档。质量控制点采用H/W/S分类，未验收不得进入下一道工序。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检测不合格必须自动触发问题单；监测预警必须触发会商、处置和复测；设计变更必须做已施工桩、图纸、成本、工期影响分析。所有关闭必须有监理确认和审计留痕。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包按清单5.1-5.4组织：总包6类、分包8类、监理9类、检测监测9类。施工阶段完成必须具备32类资料有效版本、桩完成、检测监测问题变更闭环、竣工资料齐全、总包监理建设签认。清单5.1六项与勘察阶段重复，需业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实施节奏参考桩基工程文档管理智能体工作计划.pdf：第5-6周基础功能，第7周完善施工功能，第8周接入AI模型，第9-10周AI检查与报告，第11-12周UI、移动端和整合验收。AI只做辅助，发布、签认、验收仍由人完成。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e00ff0ebd4c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d1d26cabf48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f1e1a186b48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e2484841845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15b49b7e14a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0d7f316d744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B67699-12F2-40B1-AD1C-6A36E225F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4B11CB-E08B-4B27-9BAD-5938E2E7BC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4B1B81-92E9-4C78-91CF-46AE727F0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2A191C-BF86-4929-86EB-E04C8C480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E3107F-2474-4DB5-899B-72D87E5E00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CD81C0-713B-4D35-BAA7-056017413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8C4685-8F9C-4AE2-91E5-3205BBAC6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DDD48C-E80D-4DD7-B75A-4FAF57001D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74F139-CBCF-4033-99F3-BF95940ED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DA15F1-5E3A-4117-AF3F-3E4A8357F5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3d86259c4a474d" /><Relationship Type="http://schemas.openxmlformats.org/officeDocument/2006/relationships/slideLayout" Target="/ppt/slideLayouts/slideLayout1.xml" Id="R065fc6d0e7624d0f" /><Relationship Type="http://schemas.openxmlformats.org/officeDocument/2006/relationships/slideLayout" Target="/ppt/slideLayouts/slideLayout2.xml" Id="Rb1395cd8ab4043b7" /><Relationship Type="http://schemas.openxmlformats.org/officeDocument/2006/relationships/slideLayout" Target="/ppt/slideLayouts/slideLayout3.xml" Id="R10c967bdecc64ead" /><Relationship Type="http://schemas.openxmlformats.org/officeDocument/2006/relationships/slideLayout" Target="/ppt/slideLayouts/slideLayout4.xml" Id="R99a2f7f9ceae48a7" /><Relationship Type="http://schemas.openxmlformats.org/officeDocument/2006/relationships/slideLayout" Target="/ppt/slideLayouts/slideLayout5.xml" Id="R26c71f63cb8641b0" /><Relationship Type="http://schemas.openxmlformats.org/officeDocument/2006/relationships/slideLayout" Target="/ppt/slideLayouts/slideLayout6.xml" Id="R996ff4b55b9f4a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5fc6d0e7624d0f"/>
    <p:sldLayoutId xmlns:r="http://schemas.openxmlformats.org/officeDocument/2006/relationships" id="2147483650" r:id="Rb1395cd8ab4043b7"/>
    <p:sldLayoutId xmlns:r="http://schemas.openxmlformats.org/officeDocument/2006/relationships" id="2147483651" r:id="R10c967bdecc64ead"/>
    <p:sldLayoutId xmlns:r="http://schemas.openxmlformats.org/officeDocument/2006/relationships" id="2147483652" r:id="R99a2f7f9ceae48a7"/>
    <p:sldLayoutId xmlns:r="http://schemas.openxmlformats.org/officeDocument/2006/relationships" id="2147483653" r:id="R26c71f63cb8641b0"/>
    <p:sldLayoutId xmlns:r="http://schemas.openxmlformats.org/officeDocument/2006/relationships" id="2147483654" r:id="R996ff4b55b9f4a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3c7d9e689416b" /><Relationship Type="http://schemas.openxmlformats.org/officeDocument/2006/relationships/notesSlide" Target="/ppt/notesSlides/notesSlide1.xml" Id="Ra53bab0718734b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92f536d1745e9" /><Relationship Type="http://schemas.openxmlformats.org/officeDocument/2006/relationships/notesSlide" Target="/ppt/notesSlides/notesSlide2.xml" Id="R9593a5807b5f48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22af896744522" /><Relationship Type="http://schemas.openxmlformats.org/officeDocument/2006/relationships/notesSlide" Target="/ppt/notesSlides/notesSlide3.xml" Id="R27a5a1ae116649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f53c90cf94517" /><Relationship Type="http://schemas.openxmlformats.org/officeDocument/2006/relationships/notesSlide" Target="/ppt/notesSlides/notesSlide4.xml" Id="R5a4a38b62fc847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9886f38a0402e" /><Relationship Type="http://schemas.openxmlformats.org/officeDocument/2006/relationships/notesSlide" Target="/ppt/notesSlides/notesSlide5.xml" Id="R712a4ba8fe3641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85634d2304b62" /><Relationship Type="http://schemas.openxmlformats.org/officeDocument/2006/relationships/notesSlide" Target="/ppt/notesSlides/notesSlide6.xml" Id="R1e7da32ae0fa4a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88ffc637f4eb3" /><Relationship Type="http://schemas.openxmlformats.org/officeDocument/2006/relationships/notesSlide" Target="/ppt/notesSlides/notesSlide7.xml" Id="R9d9751da4c8d4b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17d9abd8ac4e4f" /><Relationship Type="http://schemas.openxmlformats.org/officeDocument/2006/relationships/notesSlide" Target="/ppt/notesSlides/notesSlide8.xml" Id="Rb84d248ba79643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3dfad85a742e0" /><Relationship Type="http://schemas.openxmlformats.org/officeDocument/2006/relationships/notesSlide" Target="/ppt/notesSlides/notesSlide9.xml" Id="R3e5b6276e04740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8F65C-89B5-45C1-B460-3DD461D8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A5BE6-3FA2-4168-8355-619A91F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rPr>
              <a:t>桩基工程全过程管理平台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2EEFB-9209-4C0D-A99D-DDFA0770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桩基施工阶段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功能与流程设计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9A4CE-B75D-4F21-8AB9-92592460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rPr>
              <a:t>从开工准备到资料移交，建立一桩一档、验收闭环和资料包闭环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ABD71-9FFB-45B1-A446-63817012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32 类施工资料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5713E-F023-44EC-BE99-37C165F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 类责任单位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CF894-6688-450B-AFD4-A92582F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9 个功能模块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04A83-4417-46C5-853A-C5F53B51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8 个流程节点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A4B1C-E29F-4835-BDB4-F6E90AF6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9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A405B-F462-46D2-AB81-3867EB4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746F9-59C7-4F3C-9B86-73DD65AA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288D2-EA3A-4EA5-B6A7-D9A1C124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A4717-A94C-4194-A1A9-2D0F2042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8EFCA-29F0-45C8-84D6-57627343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06730-5D8F-4C13-B19E-AA6B23C6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D2DCD-5EB4-438C-9FC6-832E3ED3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421F2-7763-4976-B026-FAF2D357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5BF2C-F022-4367-94EA-A3ACCE40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13A8B-E8FD-4FFD-B59E-ADC4E6BB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90DE7-D3E9-4157-8423-394F62BA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E8EFB-5888-47D8-AA6D-E409261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5BC74-4693-4E48-AD46-12839018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D89C8-DA43-4D7F-AF5B-E656AA0B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640FE-3DB1-4E65-93B4-731DFAF9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1AEB6-B72A-473B-9C65-15F04BBA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CE4C56-6589-4BEE-B667-A793D358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rPr>
              <a:t>PILE FOUNDATION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B6FA9-D3E2-4BF9-8AAF-FF17138D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rPr>
              <a:t>依据：《桩基工程文档管理智能体工作计划》《桩基工程全过程管理文档清单》</a:t>
            </a:r>
          </a:p>
        </p:txBody>
      </p:sp>
    </p:spTree>
    <p:extLst>
      <p:ext uri="{BB962C8B-B14F-4D97-AF65-F5344CB8AC3E}">
        <p14:creationId xmlns:p14="http://schemas.microsoft.com/office/powerpoint/2010/main" val="549971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B42423-7273-409C-99FA-85CB8EAD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B2887-EF1E-4EFD-AEB1-5FAB388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施工阶段应围绕“桩、资料、验收”形成闭环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5A53A-8560-4750-B70C-4966E859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施工阶段既是现场执行过程，也是资料形成和移交过程。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51AD4-A29B-417F-AA4E-BEB2F5E9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CE615-B444-424C-B7B2-E53BDD2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A61D8-3DF5-49F4-BE04-527790A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2A89D-27C4-4706-A75A-DA9091BF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AE35C-75C0-4614-9AC2-4CF9DFDC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4206A-A19E-4339-A0AE-FC9DF6A1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方案审批、开工条件、测量交接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F2425-9061-40F3-B0EF-7C15E937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D44F2-D807-4B27-913A-71A55BF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B5426-A766-4599-BFE3-D6EED978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桩位施工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AA290-EFA4-43E8-B8AE-D83D6B9C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一桩一档、过程记录、进度统计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5B72D-3780-49FB-BDD9-AA91EEBF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E2B74-2A06-47A2-836F-3F93BC8C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EF995-30EF-420E-AA4A-936E90B5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质量闭环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FC4C3-6F30-48B2-AA32-65E8B30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报验、隐蔽验收、检测监测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57986-1783-430B-8C6C-A4D6E43B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86CF2-8E7E-4BD2-B9CB-7BA2D31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3B764-86AA-4242-8599-1AB6226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资料移交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7A27D-4CF7-4BD3-BF20-1F9D400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32 类资料包、阶段完成门槛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E5F67-0061-4415-8F9C-DC01F4A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28C6E-0D2A-4885-894B-23024626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1DF43-4592-4895-8C42-57B1134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类施工资料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C4774-631C-47A2-8234-79841295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19FDF-2FDA-4730-8F75-D54223C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类责任单位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1CAED-9316-42F6-BD78-04E62F50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1 :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DB366-CF8E-4B08-A056-24595626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344739-7F00-4BAE-90A6-67A7C2F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5A49CA-B36B-4F58-8C9D-0EB7BCEF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类完成门槛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1BDFA3-8384-4D8B-AD89-D639EF8C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14800"/>
            <a:ext cx="19431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0D39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8B5EAE-AC49-46E4-9AF6-F018443E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待确认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0D48D6-BE5E-4533-A2A9-595E433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148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5.1 六项与勘察阶段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条目重复，建议核对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B278B4-C7E2-45F9-9848-21F5810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建议采用“阶段责任 + 文档责任”两层权限，避免分包、监理、检测无法上传自己负责的资料。</a:t>
            </a:r>
          </a:p>
        </p:txBody>
      </p:sp>
    </p:spTree>
    <p:extLst>
      <p:ext uri="{BB962C8B-B14F-4D97-AF65-F5344CB8AC3E}">
        <p14:creationId xmlns:p14="http://schemas.microsoft.com/office/powerpoint/2010/main" val="389425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326ED-A1A4-48AA-9EBA-1D045EF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AA60E-ECAE-4131-8B52-A610803E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四类单位共同参与，但职责必须分开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865EB-D284-4C3B-A902-04C8DE85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阶段责任决定能否进入；文档责任决定谁编制、谁审核、谁签认。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4616A-51CD-49F6-A189-20CF69E2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824F9-7E05-45CB-9A26-86E8A889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C7DB5-F431-4599-B2F6-B5343942B023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4866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857500"/>
                <a:gridCol w="3371850"/>
              </a:tblGrid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关键控制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建设单位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阶段统筹、重大审批、验收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开工令、重大方案、阶段移交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工程总包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施工牵头、分包管理、总包复核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施工组织、进度、资料汇总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桩基分包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施工执行、过程记录、自检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专项方案、成孔/浇筑/沉桩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监理单位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旁站、见证、报验审核、复查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旁站记录、检验批、整改复查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检测监测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检测方案、检测报告、监测预警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静载、低应变、声波、钻芯、高应变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技术澄清、设计变更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异常桩处理、变更影响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勘察单位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地质异常、补孔、持力层确认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补孔通知、地质确认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BB83C-E10F-4A6D-9BAE-30F13B97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200400" cy="4114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34D65-6E5A-4A11-9A0B-F2F7966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双层权限模型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9EFE0-82B8-4FA7-99FF-F2363FB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274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8D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BE38B-5D6D-4E1B-B2F0-AFE7B4A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阶段访问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5B283-E63A-4666-9EC4-1CEC0626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按《管理流程》责任矩阵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决定能否进入施工阶段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CD289-1B6E-4B5E-BD57-F2439E5E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E0DB7-331E-4014-B09F-9947666C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274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C2534-15FB-41CA-B05E-7685581C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文档责任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F8FF6-AF76-4B9D-8BD8-209A37E8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编制 / 审核 / 签认 / 只读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按清单责任单位配置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D75BF-0F8F-4EC0-A6E9-2921C54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339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分包、监理、检测应能上传各自资料</a:t>
            </a:r>
          </a:p>
        </p:txBody>
      </p:sp>
    </p:spTree>
    <p:extLst>
      <p:ext uri="{BB962C8B-B14F-4D97-AF65-F5344CB8AC3E}">
        <p14:creationId xmlns:p14="http://schemas.microsoft.com/office/powerpoint/2010/main" val="2048730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179E88-6CA9-40A2-8C38-7E346B4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339E1-8016-47AB-895A-4614418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一个施工工作台承载九类核心功能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DD1ED-1B56-4E1E-99E5-CA203628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从现场记录到资料归档，所有功能围绕“桩”和“资料包”组织。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3B04D-C957-4FCA-A15E-EE5E6567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EE9E9-6C99-4F2F-8BE1-0E154AC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76406-A818-4838-8767-0B26CFD3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9E826-FDD9-46A2-ABF2-7C9B4A1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9DCA7-E90F-458E-AEC8-78CF8E4D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E96AA-D4EC-4AA6-A70B-BAB83ED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进度、质量、风险、资料齐全率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247B0-3E3A-423B-82D0-789937F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0BBDE-4C49-4737-906B-E657429A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D2725-1B7C-4381-BCC8-D0119968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486DC-CCCD-4534-A150-9BCA8ACD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方案审批、开工条件、测量交接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D63DC-C33C-4B54-B5DA-65C7CE28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333FA-4E89-44F1-BB42-CE7E4BC7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3DCC4-3C45-4E45-AAA5-20AA1B83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桩位台账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0EF3C-36CA-4A4A-A5DB-471CAB27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一桩一档、状态、平面图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C7A70-9ACB-47A8-A869-8120D3D4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A0273-FB12-4D65-A839-A500AD4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F82F7-01F3-4B07-B900-47009C1A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3CE07-9D16-48B9-AEF6-5D04B5E3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成孔/钢筋笼/浇筑/沉桩/影像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61A92-7CB9-40F9-9A16-B978D6F0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A9B8A-9E42-47BB-B2CF-C19DE39B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46DD6-1F9A-4B2C-8535-2D58A18A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006F4-231F-440C-8C2C-3D9B3A3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自检、总包复核、监理验收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A6B3B-CB7E-40DF-8B4D-6B848AD5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0C4D4F-E4E6-446A-9850-4F189D2E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D7E4A-BD32-4A06-B0DA-39DB2994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5EF17-7991-44D9-B26E-71C5BA0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检测报告、监测预警、复测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707CA-A249-49CA-922C-476BF04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B9001-2671-4B7F-9224-CBDDAFDC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6144F-0F48-4032-B6E0-6F4B92CF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问题与变更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543376-124B-40C3-9C46-22BA388E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整改闭环、变更影响分析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E60E1F-8AF5-40B9-9C66-0031359C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18D958-8FCD-4D94-9432-C62190E6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6F2857-B608-4909-9C00-0892D115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388690-82C0-4FA9-BD44-976BD67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5.1-5.4、完整性、移交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BF5437-5FCE-4BBF-B57D-66FDFBA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A9B069-2682-4A03-BF67-51885B7F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362C73-229A-43C5-ACAA-42CEAFAF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AI 助手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2AFCCB-9112-47AF-B9D6-06509E1D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分类、抽取、检查、日报</a:t>
            </a:r>
          </a:p>
        </p:txBody>
      </p:sp>
    </p:spTree>
    <p:extLst>
      <p:ext uri="{BB962C8B-B14F-4D97-AF65-F5344CB8AC3E}">
        <p14:creationId xmlns:p14="http://schemas.microsoft.com/office/powerpoint/2010/main" val="1977674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B7EE37-4A7C-4BEB-A516-60A57AC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C2852-3D7D-4477-8DBE-105CD7F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从开工到移交，施工阶段分为八个节点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0841E-FE90-4065-AED8-EEBEF7F5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流程按“准备—施工—验收—移交”推进，每个节点都有明确输出。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6FB9F-4023-4F37-B9D5-E7BD7D4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81AC4-A43B-415E-957C-688A85C9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9CABB-F8DD-4FEB-AB8E-61F4D8C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AC525-64F1-4B5E-A884-C4113EC5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E8F88-ED86-4733-9592-6B380D86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15BE7-F90B-41C6-AF98-AA8AC13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 / 人员 / 机械 / 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5907A-3AD2-43B1-85EB-C177E5A1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755E6-3555-463F-B846-BC34262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70AC4-B094-45F6-8BB9-856E544D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5621A-A9B0-4263-B23E-3655B5C6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开工条件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59D47-4320-4846-9D88-B0E17DE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测量 / 试桩 / 报审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023AF-9B26-4F20-A761-55464812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A3649-0895-4089-A9FD-1F5A683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4778E-3995-4A30-9BA0-1B426864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6CD70-7D76-491D-981C-F85283C5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开工审批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2280E-4040-492C-9F26-E451A482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监理核查 / 开工令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3E45F-707A-4061-9AD7-C5AF5A7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F425C-63A2-4D76-9211-BF08118E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042AF-EA93-414F-8EF8-AFEC2B6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8C902-2F68-44C9-9D0C-8F02400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试桩首件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D58F3-0607-4951-9AB9-081F3668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工艺验证 / 首件验收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96C30-4C51-4BCF-96FF-38B2330E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55A1B-BA9B-4ACA-8237-582B60EC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62DAC-97F8-4432-B567-33FA8F8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批量施工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F514E-BB5D-4B47-9764-6B453DFB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单桩记录 / 进度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147273-9341-417E-ABD9-E30A88CB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904AF-0BFB-421A-B35D-6E17B167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6A4414-CE39-4C82-8C3C-3906B648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0DB4B2-DFAC-437F-8E8A-2545BC32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2E85E-4560-4CD0-B7D0-F0A3139E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隐蔽 / 检验批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3DF0ED-DF08-4E9B-9D22-4569326F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B55DF8-2A7F-44F5-9B12-BC076A2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084EFF-6D23-489F-BA22-E2AA3B5C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EAFA4-F61D-4CEA-ABC8-C0755CA7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DF2665-1C10-4E76-A27E-6DB2D77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报告 / 预警 / 整改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E1953-983F-45ED-B315-746ECC51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F7996-2376-46D6-ADCC-43E5207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72377B-E71B-4599-BDFC-D9EE877F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6A3465-2A75-449E-B0A1-50A81343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完工移交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3657DC-8B01-4B90-869B-90EBCAE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分部验收 / 资料包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25609A-4384-4091-9D07-A253E91B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24150"/>
            <a:ext cx="1905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A1B9A0-FA86-46AF-85BE-3FEA11D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FFA06D-3BDC-47AC-84BF-2172A8D5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阶段完成门槛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5D6F17-9405-40A8-BE86-FCBF0D87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387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资料齐  ·  桩完成  ·  检测闭  ·  问题清  ·  变更闭  ·  签认全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EC77E5-5770-43C4-AC34-4976AB41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43550"/>
            <a:ext cx="339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未达到门槛不得进入验收试桩阶段</a:t>
            </a:r>
          </a:p>
        </p:txBody>
      </p:sp>
    </p:spTree>
    <p:extLst>
      <p:ext uri="{BB962C8B-B14F-4D97-AF65-F5344CB8AC3E}">
        <p14:creationId xmlns:p14="http://schemas.microsoft.com/office/powerpoint/2010/main" val="763028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769BD8-1CAB-4435-8E67-3698712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4D0DD-CC04-49FC-B2E8-22924DB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单桩施工记录与验收构成最小质量闭环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2A791-EFF8-4448-A036-C1475D3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每一根桩都应形成“记录—复核—验收—检测—归档”的完整链条。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62408-6343-4E40-ABE7-F95BCBC9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6F81-8ACC-4C16-A5B7-352D04F2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9C973-99CC-43AB-AE6F-0099F86C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43E71-0EE0-4842-95A9-2F88207F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设计桩位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BE3EA-D83F-4E93-9C10-1BADF399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83192-9B55-42BB-B7C5-DF1C99F9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F959C-8DDD-4C4A-95A7-5FBA58B7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1CB00-FF40-4595-9499-A4FB2C4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A1AD6-40B1-42B5-981A-D5751E78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C15D2-EC84-4DE2-95E2-E50DD9A4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711C5-BD2F-4A1A-A474-C9315921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CCBC6-06EA-4F12-8A9D-234B96C3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分包自检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23B74-2169-4C15-A27B-D178537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44DE6-395E-4FED-AA61-9C8080AD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96849-0AB7-4F11-A37A-3693C8B8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FF039-4749-4206-B0DA-4F9E26E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总包复核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9F37B-5B92-4702-88E8-CD37BE6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D1DA7-7508-4EAE-A8E3-2E1AED7C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143BD-1E68-4981-B4E8-C24EF20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BD595-3780-45ED-ABD2-E8540E3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8A7A6-9300-45C3-B6B0-3B9574D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D569D-2A5A-4CF8-BC4A-14A8D0EA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2C567-047C-4D4D-95E9-5B89AF8F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9C4E4E-DB64-444A-880F-651987C4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E931C-2DFF-4F2B-B9A4-971A9ABB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CDCDE-1F81-4CAD-9883-4844DAD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466AD-05AC-4B49-9F39-F0FE2E43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5F915-4A89-4E15-8359-2FF4572B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归档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56F90-1DB6-4AAE-9DA3-C8542E19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45185-0F58-4CDE-A175-D69333E4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619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9FB9A8-93A9-4010-99B4-43D0E777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一桩一档：记录内容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5CE138-BDB7-4673-B77C-E7CB55BA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成孔记录 / 沉桩记录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钢筋笼制作与安装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混凝土浇筑 / 后注浆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接桩、桩头凿除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班组技术交底、施工日志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现场照片 / 视频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2446B7-352B-4941-9EF1-0BB74531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记录完成 → 自动更新桩台账状态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A9874F-EE0F-47C4-81B1-0F36D24D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51244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44214A-F90E-49E2-AF22-A1A42A71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质量控制点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193796-FE1E-41B4-ACD1-F5EFC29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A79841-943C-460C-B272-1B34BB3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停工待检点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ECCFE8-35FA-407B-B67F-E1CA0923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未经监理放行不得进入下一道工序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B5BDF4-F064-4C6D-8683-6DCC5A56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C1BD4-61B8-4571-AFC7-D5377B54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81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见证点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5FB81C-7AFD-4544-BB67-E26050C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见证取样、见证送检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86DD5A-E189-48F2-8DF8-5C90F836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2AE77E-4429-463C-8C5D-059C44D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旁站点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050376-F53D-47D0-A67F-CC049A9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关键工序监理现场旁站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0BE200-CAC1-49EF-BD32-A69488CD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14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未验收不得进入下一道工序</a:t>
            </a:r>
          </a:p>
        </p:txBody>
      </p:sp>
    </p:spTree>
    <p:extLst>
      <p:ext uri="{BB962C8B-B14F-4D97-AF65-F5344CB8AC3E}">
        <p14:creationId xmlns:p14="http://schemas.microsoft.com/office/powerpoint/2010/main" val="1788644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D715D-0670-42C9-BF29-E1304FAC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9BF6C-4CF5-45CA-AF7A-E83103E4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检测、监测、问题与变更必须互相触发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8CF4F-D5E3-415B-96B0-9599A3EA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不合格报告和监测预警不能停留在文件层面，必须进入闭环。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FC169-492A-458A-81D6-0506FA0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127EB-6BDC-40B3-B3D7-36A088FF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B02FD-89D0-412B-BCA8-79C6F176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841B8-5240-4648-A05D-C23FC44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A3073-9A89-477E-84B6-F7A90465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检测方案与资质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低应变 / 声波 / 钻芯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静载 / 高应变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检测报告与复检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36872-AC02-4468-89DF-899409F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B1766-6842-420D-93DF-7DD5CB1E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不合格 → 问题单 → 整改 → 复检 → 关闭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11BC3-CA77-49F1-B999-90173490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63975-C179-4189-97CA-BF9C9A82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监测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CE34B-A63A-4410-B9C7-B1F56F4D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沉降 / 位移 / 水位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监测点与频率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阈值与预警等级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日报 / 周报 / 月报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9B0E8-A565-4836-AF63-DBF3B7D8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81B74-3FE9-4CB3-81D0-C03E3BE4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预警 → 会商 → 处置 → 复测 → 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3A770-72E0-4775-AB14-D041B9EF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35AF5-AD70-4F58-A934-07AEA595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问题与变更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B057D-94EF-4B81-BBB8-5D2E9673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质量问题 / 监测预警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技术澄清 / 设计变更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已施工桩影响分析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成本与工期影响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78C5D-9AC9-4601-9EA3-8FA9536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52CAB-EBF7-46A7-A306-4E001599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未闭环不得进入阶段验收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DFF3E-E033-4AFE-887E-60597421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48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所有关闭必须有监理确认和审计留痕</a:t>
            </a:r>
          </a:p>
        </p:txBody>
      </p:sp>
    </p:spTree>
    <p:extLst>
      <p:ext uri="{BB962C8B-B14F-4D97-AF65-F5344CB8AC3E}">
        <p14:creationId xmlns:p14="http://schemas.microsoft.com/office/powerpoint/2010/main" val="1488816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B1C6A0-552F-4DB7-806B-F8CFA0D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DE1B4-0B94-48B0-BC45-69CBF0B9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资料包完整性决定施工阶段能否完成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EE57B-945A-4031-A4CD-97D80005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32 类资料按四类责任单位组织，未齐不得进入验收试桩阶段。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F2123-36CD-4FA4-B18B-FEAE7EE3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AB835-C0EF-4FE5-91E6-6B9DD1B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A7A9E-D684-4FC0-AA50-A9B5E5E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580BE-F95C-4D4F-9033-76AEBA49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7D9CE-53B3-4751-AA2D-EF6A291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总包统筹包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08E37-BFAE-4611-BE25-8DE6507A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6 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D3FA3-5673-49FB-8BF6-413F7B9D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施工准备、分包管理、测量交接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FBD57-C789-4F0A-AA17-35F537A2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E00EE-343F-44E6-B7A6-C898CC0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73215-4D90-405B-95D3-6685143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分包执行包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6507B-7B3E-4D4D-BDF0-6E367670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8 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3832E-8D41-425A-AB44-47454949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专项方案、施工记录、隐蔽验收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EED14-D6D8-46EC-A1D6-FFCDF478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33BF4-70E0-4CAE-BBF3-655ECE7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6DBE6-B131-49C9-A428-990A4F02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监理控制包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DB90B-3261-4E7A-949F-2BD16622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 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EAA45-1807-4D46-815C-360B56E2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旁站、见证、报验、检验批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024B0-DFDD-4EEF-B23B-580E0FEE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647EC-AC9B-424C-B5CE-86A886C0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E145D-A095-428B-B4A3-B997E8A5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35559-7ED6-4596-80C4-BBA6E0E5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 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EBCB9-60FD-4266-9C22-9A5A4631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资质、方案、检测报告、预警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6D5B1-C346-41E4-BDFF-AB9EB2DD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1435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192A0F-2A54-42A1-9037-28BE367F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66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阶段完成门槛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D99B36-BE00-492A-B580-9C9E93D0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514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32 类必填资料均有有效版本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需审批资料全部批准 / 发布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全部桩完成施工记录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检测、监测、问题、变更闭环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竣工图、桩位台账、施工总结齐全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总包、监理、建设单位完成签认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5D03A-DD56-4BC2-B395-1DFF189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资料包未齐 → 不允许提交阶段验收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AFC88-4982-41B8-842E-8CB6A695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未上传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A405D-5B2B-422F-B2FA-66B47EA1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草稿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107A8-7DD0-4A41-AE32-6DAA5DBA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审核中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76F56-DC9C-4A90-A984-FA99F1D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已批准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600B1F-5706-4E2F-A8DC-08920C78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已发布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355E7C-A777-42FA-9294-1E36A7A7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8C98D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过期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9D6E51-0B74-4120-AA27-7F685A25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57850"/>
            <a:ext cx="762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不适用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B4DB32-116E-4A23-8F9C-1EC6467A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5785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30 类需审批  ·  2 类影像资料</a:t>
            </a:r>
          </a:p>
        </p:txBody>
      </p:sp>
    </p:spTree>
    <p:extLst>
      <p:ext uri="{BB962C8B-B14F-4D97-AF65-F5344CB8AC3E}">
        <p14:creationId xmlns:p14="http://schemas.microsoft.com/office/powerpoint/2010/main" val="1827911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1FA28-12BE-4F6F-A264-B7453EE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5BF58-F2DC-485B-98E3-AE0A05F8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先建基础闭环，再叠加 AI 与移动端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B793-713A-4F05-A2BA-7C6E4F3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优先保证现场可用和数据闭环，再逐步增加智能检查与报告生成。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C1492-79CE-4388-AE42-D7FAE559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9911-E397-45C6-8369-5658B597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45CCF-1942-432B-A64F-38E7AEF9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257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B3A9-9AC6-41FE-910C-747D35A0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页面入口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4CCE7-7D60-4D01-8ABA-290F08D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施工总览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D06A5-43EA-4542-A15E-659A42F1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桩位台账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BBCF7-CB52-44D1-9F6B-50CF3549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0CA8-542D-44EC-A909-A6C3A89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E4ACA-3476-45B8-A9C6-275EA0A7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ED4B5-8C4A-4C88-AB60-3AFAB00C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资料包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E6502-8B42-477A-8317-69255DE9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AI 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ADB1A-E176-46C5-B209-D56B442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4812-65B7-452D-9781-7F3A185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AI 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C05DF-BF6E-454D-893F-2BC50E13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施工资料自动分类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桩号、日期、方量、检测结论抽取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资料完整性与一致性检查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施工日报 / 周报自动生成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带版本引用的施工知识问答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CC1EF-DE97-4063-891D-D7D7850E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596D7-DDB8-47BB-801B-9E01A6AB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12 周实施节奏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1F235-E22B-4736-BBD4-9EF6BB03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第 5-6 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C7BB6-A9BC-4299-A668-9198EFE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基础闭环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F7257-CD9F-4374-9C00-3047B094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97FBB-8413-4AF5-9AEA-BC53F736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第 7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EF8BA-939C-4D4D-B089-E430164E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验收 / 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F9911-7CBE-49F8-A15A-17783B71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1F062-88ED-44A7-8EF7-503399B7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第 8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69C39-C999-4ED5-8100-C50EE00D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 +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7D224-C3DA-4DC2-818D-913B6E81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2716A8-9E40-4BA0-BF71-171A9FCA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第 9-10 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C36C0-020B-4E9A-8E52-C1E15009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AI 检查 / 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7F1E0A-69D9-494C-962F-286B27DF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F1DA0F-F5D6-4E91-B77D-8A9B80D8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第 11-12 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3BCA74-396A-46BB-9006-A3EB7D2C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移动端 / 优化 / 验收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E833AC-20B4-4781-9AC9-8D20EA6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245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AI 只做辅助：发布、签认、验收仍由人完成</a:t>
            </a:r>
          </a:p>
        </p:txBody>
      </p:sp>
    </p:spTree>
    <p:extLst>
      <p:ext uri="{BB962C8B-B14F-4D97-AF65-F5344CB8AC3E}">
        <p14:creationId xmlns:p14="http://schemas.microsoft.com/office/powerpoint/2010/main" val="2087850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2026-10-22T13:50:00.8650000Z</dcterms:created>
  <dcterms:modified xsi:type="dcterms:W3CDTF">2026-10-22T13:50:00.8650000Z</dcterms:modified>
</coreProperties>
</file>